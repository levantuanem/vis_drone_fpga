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Drone bị giới hạn pin, khối lượng, tản nhiệt. Suy luận trên máy giảm độ trễ và không phụ thuộc đường truyền.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Nhận xét của người trình bày. Tính từ Bảng 16: 81,85/11,96=6,8; /7,97=10,3; /4,54=18,0; /3,43=23,9.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2025, 14, 3993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tối ưu YOLOv3-Tiny cho nhận dạng ảnh và video thời gian thực trên FPGA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FPS · 2,55 W · Zynq-7020 giá khoảng 150 €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Calì, Laura Falaschetti, Giorgio Biagetti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Politecnica delle Marche, Ancona, 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cần suy luận ngay trên drone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thấp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tại chỗ, không chờ máy chủ phản hồi.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mạng vẫn chạy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03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cứu nạn, nông nghiệp, vùng không có sóng.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suất, pin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103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quá nặng, nóng và tốn pin cho drone nhỏ.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giá rẻ + mạng lượng tử hóa: hiệu năng trên mỗi watt tốt, linh hoạt hơn ASIC.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TRỐNG VÀ ĐÓNG GÓP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khoảng trống, ba câu trả lời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Khoảng trống trong tài liệu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Đóng góp của bài báo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 lớn công trình nhắm FPGA cao cấp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Chạy trọn YOLOv3-Tiny trên Zynq-7020 giá thấp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Thiếu chuỗi công cụ từ huấn luyện đến triển khai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 trình đầu-cuối: Brevitas, FINN, driver tùy biến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 so sánh FPS/W có hệ thống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Đo công suất thật, so với Coral TPU và các FPGA khác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tâm là tối ưu cài đặt số (tài nguyên, tránh nghẽn pipeline), không phải kiến trúc mạng.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HIỆN CÓ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chọn FINN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cụ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 của tác giả cho Zynq-7000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Trưởng thành, có RTL tối ưu, dataflow streaming. Được chọn (v0.10)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Vitis 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Đã ngừng hỗ trợ Zynq-7000; thiết bị đích trên 10 W, từ 300 $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NVDLA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vài FPS với AlexNet ngay cả trên Kintex-7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NN2FPGA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dùng HLS, chưa có minh chứng trên board nhỏ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fpgaConvNet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Tốn tài nguyên; tái cấu hình từng phần quá chậm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PHẦN CỨNG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Z-Turn Board V2 với Zynq XC7Z020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840230" cy="1645920"/>
          </a:xfrm>
          <a:prstGeom prst="roundRect">
            <a:avLst>
              <a:gd name="adj" fmla="val 4444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15659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53,2K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17470" y="1645920"/>
            <a:ext cx="1840230" cy="1645920"/>
          </a:xfrm>
          <a:prstGeom prst="roundRect">
            <a:avLst>
              <a:gd name="adj" fmla="val 4444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4630" y="1783080"/>
            <a:ext cx="15659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754630" y="260604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(chứa trọng số)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6300" y="1645920"/>
            <a:ext cx="1840230" cy="1645920"/>
          </a:xfrm>
          <a:prstGeom prst="roundRect">
            <a:avLst>
              <a:gd name="adj" fmla="val 4444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3460" y="1783080"/>
            <a:ext cx="15659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823460" y="260604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 slice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55130" y="1645920"/>
            <a:ext cx="1840230" cy="1645920"/>
          </a:xfrm>
          <a:prstGeom prst="roundRect">
            <a:avLst>
              <a:gd name="adj" fmla="val 4444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92290" y="1783080"/>
            <a:ext cx="15659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2×A9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892290" y="260604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750 MHz (PS)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GiB DDR3, Gigabit Ethernet, micro-SD, HDMI. Giá board khoảng 150 €, công suất vài watt.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THIẾT KẾ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PyTorch đến bitstream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252728" cy="2011680"/>
          </a:xfrm>
          <a:prstGeom prst="roundRect">
            <a:avLst>
              <a:gd name="adj" fmla="val 5839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7568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95728"/>
            <a:ext cx="9784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Brevitas trên YOLOv5, VisDrone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92808" y="1554480"/>
            <a:ext cx="1252728" cy="2011680"/>
          </a:xfrm>
          <a:prstGeom prst="roundRect">
            <a:avLst>
              <a:gd name="adj" fmla="val 5839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29968" y="16916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029968" y="207568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QONNX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29968" y="2395728"/>
            <a:ext cx="9784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ONNX, tách lớp detect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36976" y="1554480"/>
            <a:ext cx="1252728" cy="2011680"/>
          </a:xfrm>
          <a:prstGeom prst="roundRect">
            <a:avLst>
              <a:gd name="adj" fmla="val 5839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74136" y="16916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374136" y="207568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74136" y="2395728"/>
            <a:ext cx="9784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float, Conv thành Im2Col + MatMul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81144" y="1554480"/>
            <a:ext cx="1252728" cy="2011680"/>
          </a:xfrm>
          <a:prstGeom prst="roundRect">
            <a:avLst>
              <a:gd name="adj" fmla="val 5839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18304" y="16916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718304" y="207568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xạ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18304" y="2395728"/>
            <a:ext cx="9784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MVU + SWG, một dataflow partition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25312" y="1554480"/>
            <a:ext cx="1252728" cy="2011680"/>
          </a:xfrm>
          <a:prstGeom prst="roundRect">
            <a:avLst>
              <a:gd name="adj" fmla="val 5839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62472" y="16916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062472" y="207568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062472" y="2395728"/>
            <a:ext cx="9784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RTL/HLS, folding, FIFO, BRAM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69480" y="1554480"/>
            <a:ext cx="1252728" cy="2011680"/>
          </a:xfrm>
          <a:prstGeom prst="roundRect">
            <a:avLst>
              <a:gd name="adj" fmla="val 5839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06640" y="16916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075688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2395728"/>
            <a:ext cx="9784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HLS, ghép IP, bitstream, PYNQ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Hoán vị trục và nhân tỉ lệ khử lượng tử giao cho CPU ARM trong driver.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gọn YOLOv3-Tiny cho FINN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389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 đổi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Lý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upsample và concat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FINN chưa hỗ trợ rẽ nhánh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kênh giảm 5 lần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Vừa bộ nhớ trong FPGA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Tách lớp detect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là phép tỉ lệ, hợp với float trên 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nhánh phát hiện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quả của bỏ nhánh rẽ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212080" y="155448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492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 tử hóa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2057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đầu và cuối: INT8. Các lớp còn lại: INT4 cho trọng số và kích hoạt.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12080" y="292608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492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3429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VisDrone, lớp car. Ảnh 416×416, 300 epoch, batch 64.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PHẦN CỨNG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hay HLS cho từng lớp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DSP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4b×4b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8b×8b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MAC/DSP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MAC/DSP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RTL DSP48E1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MAC/DSP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MAC/DSP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937760" y="155448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749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RTL: đóng gói DSP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074920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MAC trong một chu kỳ DSP48E1; SWG RTL có parallel window.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37760" y="278892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7492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HLS: dùng khi hết DSP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3291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Kiểu LUT cho phép unfold thêm mà không vượt 220 DSP.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Trộn RTL và HLS theo từng lớp để dùng hết cả DSP lẫn LUT.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PHẦN CỨNG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Folding, FIFO và lớp MaxPool nghẽn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Folding lặp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SIMD = PE = 1, mở rộng lớp chậm nhất đến khi cân bằng chu kỳ.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giữa các lớp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sâu tìm bằng mô phỏng RTL. Quá ngắn thì stall, quá dài thì phí BRAM.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0F1F2B"/>
          </a:solidFill>
          <a:ln w="12700">
            <a:solidFill>
              <a:srgbClr val="0F1F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StreamingMaxPool (HLS)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2,6×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926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570 000 chu kỳ thực tế so với 216 320 dự đoán. Làm thông lượng giảm 3,43 lần.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TÀI NGUYÊN PL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gần hết mọi thứ trên chip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29840" cy="1463040"/>
          </a:xfrm>
          <a:prstGeom prst="roundRect">
            <a:avLst>
              <a:gd name="adj" fmla="val 5000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225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98,6%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BRAM: 138 / 140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07080" y="1645920"/>
            <a:ext cx="2529840" cy="1463040"/>
          </a:xfrm>
          <a:prstGeom prst="roundRect">
            <a:avLst>
              <a:gd name="adj" fmla="val 5000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4240" y="1783080"/>
            <a:ext cx="225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92,7%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444240" y="260604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DSP: 204 / 220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65520" y="1645920"/>
            <a:ext cx="2529840" cy="1463040"/>
          </a:xfrm>
          <a:prstGeom prst="roundRect">
            <a:avLst>
              <a:gd name="adj" fmla="val 5000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2680" y="1783080"/>
            <a:ext cx="225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78,2%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202680" y="260604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LUT: 41 605 / 53 200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thực tế cao hơn ước tính 26 694 vì Vivado chuyển bớt BRAM sang LUT-RAM và các khối HLS dùng nhiều LUT hơn dự kiến.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KIỂU TPU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như bộ tăng tốc qua Ethernet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InferClient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hình, tiền xử lý, gửi khung, hậu xử lý, hiển thị: bốn luồng song song.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44368" y="2286000"/>
            <a:ext cx="365760" cy="274320"/>
          </a:xfrm>
          <a:prstGeom prst="rightArrow">
            <a:avLst/>
          </a:prstGeom>
          <a:solidFill>
            <a:srgbClr val="1E7F78"/>
          </a:solidFill>
          <a:ln w="12700">
            <a:solidFill>
              <a:srgbClr val="1E7F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5544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0574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cho lệnh load_model, status. Nhị phân cho khung ảnh.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79008" y="2286000"/>
            <a:ext cx="365760" cy="274320"/>
          </a:xfrm>
          <a:prstGeom prst="rightArrow">
            <a:avLst/>
          </a:prstGeom>
          <a:solidFill>
            <a:srgbClr val="1E7F78"/>
          </a:solidFill>
          <a:ln w="12700">
            <a:solidFill>
              <a:srgbClr val="1E7F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544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InferServer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0574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trên ARM, gom lô đến 100 khung, đẩy qua DMA vào IP YOLOv3-Tiny.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mô hình động bằng tệp .fnn (bitstream, hwh, pkl, info json) và kiểm tra MD5.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ĐỘ CHÍNH XÁC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giảm mạnh do thu gọn mạng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389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Gốc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Đã thu gọn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48,16%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38,44%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41,76%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120640" y="15544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57800" y="1691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một nhánh phát hiện làm recall giảm một nửa.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20640" y="27889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257800" y="292608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drone thực tế cho tỉ lệ phát hiện cao hơn nhiều (độ cao bay cố định thì kích thước xe ổn định).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bài báo là tài nguyên và tốc độ, không phải độ chính xác.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HIỆU NĂNG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lượng tăng tuyến tính theo clock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572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MHz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43,9 FPS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52,2 FPS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MHz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86,5 FPS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104,4 FPS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MHz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164,8 FPS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208,7 FPS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55448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068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tính và thực đo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194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100 MHz: ước tính 462 FPS, mô phỏng RTL 135 FPS, đo thực 104 FPS.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03520" y="301752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4068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batch 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6,07 ms ở 200 MHz.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100 lấp đầy pipeline, hơn batch 1 khoảng 17%. Driver Python làm FPS thực giảm 21–50%.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CÔNG SUẤT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thực trên cả board: 2,55 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4630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suất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 (b=100)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FPS/W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Rảnh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MHz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MHz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MHz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5544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80760" y="16916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 W nằm ở PS và DDR; phần PL chỉ thêm 0,22–0,65 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0" y="30632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80760" y="3200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 die đo 53,1 °C, không tản nhiệt.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 số cao hiệu quả hơn vì công suất tĩnh của PS được chia cho nhiều khung hơn.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Google Coral Edge TPU (batch 1)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554480"/>
                <a:gridCol w="155448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Coral 250 MHz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Coral 500 MHz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100 MHz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200 MHz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trễ (ms)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148,7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suất (W)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 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 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FPS/W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Công suất Coral lấy từ datasheet, không đo. Coral dùng mô hình FP32 rồi PTQ int8, không cùng mạng với FPGA.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các triển khai FPGA khác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280160"/>
                <a:gridCol w="1188720"/>
                <a:gridCol w="10058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trình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FPS/W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FINN-R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PYNQ-Z1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1W3A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VCU110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8W16A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VCU118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8W16A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LPYOLO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Z7020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4W4A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Bài báo này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Z7020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4W4A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với LPYOLO (cùng mạng, cùng chip): FPS gấp gần 10 lần nhờ folding cân bằng và dùng song song cả DSP lẫn LUT.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ĐẦU-CUỐI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camera đến hộp bao: 30 FPS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29840" cy="1645920"/>
          </a:xfrm>
          <a:prstGeom prst="roundRect">
            <a:avLst>
              <a:gd name="adj" fmla="val 4444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225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qua Ethernet có dây (LPYOLO: 18)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07080" y="1645920"/>
            <a:ext cx="2529840" cy="1645920"/>
          </a:xfrm>
          <a:prstGeom prst="roundRect">
            <a:avLst>
              <a:gd name="adj" fmla="val 4444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4240" y="1783080"/>
            <a:ext cx="225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444240" y="260604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luồng tối đa, so với 130 ms qua WiFi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65520" y="1645920"/>
            <a:ext cx="2529840" cy="1645920"/>
          </a:xfrm>
          <a:prstGeom prst="roundRect">
            <a:avLst>
              <a:gd name="adj" fmla="val 4444"/>
            </a:avLst>
          </a:prstGeom>
          <a:solidFill>
            <a:srgbClr val="1A3140"/>
          </a:solidFill>
          <a:ln w="12700">
            <a:solidFill>
              <a:srgbClr val="1A31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2680" y="1783080"/>
            <a:ext cx="225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202680" y="260604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mỗi khung, driver FINN chuẩn, 200 MHz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20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thắt nằm ở sao chép dữ liệu trong Python, không phải ở mạng trên FPGA. Video drone thực: hầu hết ô tô được phát hiện.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mạnh và điểm cần thận trọng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mạnh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đầu-cuối, mã nguồn công khai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công suất thật, giải thích vì sao ước tính lệch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thật về nút thắt MaxPool HLS và driver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thận trọng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5740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17,7% một lớp, mạng bị cắt nhiều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suất Coral lấy từ datasheet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cải thiện nêu không nhất quán: 3–7×, 7–24×, 7,3×; Bảng 16 cho 6,8–24×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giá rẻ chạy được thời gian thực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Falaschetti, Biagetti · Electronics 2025, 14, 3993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đạt được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FPS ở 200 MHz với 2,55 W trên Zynq-7020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ngang Coral Edge TPU, linh hoạt hơn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các FPGA khác về FPS/W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FBFBF8"/>
          </a:solidFill>
          <a:ln w="9525">
            <a:solidFill>
              <a:srgbClr val="D9DD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tiếp theo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5740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 bare-metal: tiết kiệm trên 20% công suất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lớn hơn, dùng bộ nhớ hiệu quả hơn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F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sang UAV và IoT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cảm ơn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và đáp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Calì, R.; Falaschetti, L.; Biagetti, G. Electronics 2025, 14, 3993. doi:10.3390/electronics14203993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YOLOv3-Tiny trên FPGA</dc:title>
  <dc:subject>PptxGenJS Presentation</dc:subject>
  <dc:creator>PptxGenJS</dc:creator>
  <cp:lastModifiedBy>PptxGenJS</cp:lastModifiedBy>
  <cp:revision>1</cp:revision>
  <dcterms:created xsi:type="dcterms:W3CDTF">2026-10-20T12:36:24Z</dcterms:created>
  <dcterms:modified xsi:type="dcterms:W3CDTF">2026-10-20T12:36:24Z</dcterms:modified>
</cp:coreProperties>
</file>