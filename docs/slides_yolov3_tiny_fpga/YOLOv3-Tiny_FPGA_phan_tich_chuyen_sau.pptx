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2.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3.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4.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5.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6.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7.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8.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Gốc</c:v>
                </c:pt>
              </c:strCache>
            </c:strRef>
          </c:tx>
          <c:spPr>
            <a:solidFill>
              <a:srgbClr val="1E7F78"/>
            </a:solidFill>
            <a:effectLst/>
          </c:spPr>
          <c:invertIfNegative val="0"/>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Precision</c:v>
                  </c:pt>
                  <c:pt idx="1">
                    <c:v>Recall</c:v>
                  </c:pt>
                  <c:pt idx="2">
                    <c:v>mAP@0.5</c:v>
                  </c:pt>
                </c:lvl>
              </c:multiLvlStrCache>
            </c:multiLvlStrRef>
          </c:cat>
          <c:val>
            <c:numRef>
              <c:f>Sheet1!$B$2:$B$4</c:f>
              <c:numCache>
                <c:formatCode>General</c:formatCode>
                <c:ptCount val="3"/>
                <c:pt idx="0">
                  <c:v>67.06</c:v>
                </c:pt>
                <c:pt idx="1">
                  <c:v>38.44</c:v>
                </c:pt>
                <c:pt idx="2">
                  <c:v>41.76</c:v>
                </c:pt>
              </c:numCache>
            </c:numRef>
          </c:val>
        </c:ser>
        <c:ser>
          <c:idx val="1"/>
          <c:order val="1"/>
          <c:tx>
            <c:strRef>
              <c:f>Sheet1!$C$1</c:f>
              <c:strCache>
                <c:ptCount val="1"/>
                <c:pt idx="0">
                  <c:v>Thu gọn</c:v>
                </c:pt>
              </c:strCache>
            </c:strRef>
          </c:tx>
          <c:spPr>
            <a:solidFill>
              <a:srgbClr val="F2A33A"/>
            </a:solidFill>
            <a:effectLst/>
          </c:spPr>
          <c:invertIfNegative val="0"/>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Precision</c:v>
                  </c:pt>
                  <c:pt idx="1">
                    <c:v>Recall</c:v>
                  </c:pt>
                  <c:pt idx="2">
                    <c:v>mAP@0.5</c:v>
                  </c:pt>
                </c:lvl>
              </c:multiLvlStrCache>
            </c:multiLvlStrRef>
          </c:cat>
          <c:val>
            <c:numRef>
              <c:f>Sheet1!$C$2:$C$4</c:f>
              <c:numCache>
                <c:formatCode>General</c:formatCode>
                <c:ptCount val="3"/>
                <c:pt idx="0">
                  <c:v>48.16</c:v>
                </c:pt>
                <c:pt idx="1">
                  <c:v>17.16</c:v>
                </c:pt>
                <c:pt idx="2">
                  <c:v>17.68</c:v>
                </c:pt>
              </c:numCache>
            </c:numRef>
          </c:val>
        </c:ser>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F4F5A"/>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9DD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F4F5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F4F5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32E"/>
                </a:solidFill>
                <a:latin typeface="Calibri"/>
              </a:defRPr>
            </a:pPr>
            <a:r>
              <a:rPr sz="1200" b="0" i="0" u="none" strike="noStrike">
                <a:solidFill>
                  <a:srgbClr val="14232E"/>
                </a:solidFill>
                <a:latin typeface="Calibri"/>
              </a:rPr>
              <a:t>Triệu MAC mỗi MVU</a:t>
            </a:r>
          </a:p>
        </c:rich>
      </c:tx>
      <c:layout/>
      <c:overlay val="0"/>
    </c:title>
    <c:autoTitleDeleted val="0"/>
    <c:plotArea>
      <c:layout/>
      <c:barChart>
        <c:barDir val="col"/>
        <c:grouping val="clustered"/>
        <c:varyColors val="0"/>
        <c:ser>
          <c:idx val="0"/>
          <c:order val="0"/>
          <c:tx>
            <c:strRef>
              <c:f>Sheet1!$B$1</c:f>
              <c:strCache>
                <c:ptCount val="1"/>
                <c:pt idx="0">
                  <c:v>Triệu MAC</c:v>
                </c:pt>
              </c:strCache>
            </c:strRef>
          </c:tx>
          <c:spPr>
            <a:solidFill>
              <a:srgbClr val="1E7F78"/>
            </a:solidFill>
            <a:effectLst/>
          </c:spPr>
          <c:invertIfNegative val="0"/>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rtl_0</c:v>
                  </c:pt>
                  <c:pt idx="1">
                    <c:v>rtl_1</c:v>
                  </c:pt>
                  <c:pt idx="2">
                    <c:v>hls_0</c:v>
                  </c:pt>
                  <c:pt idx="3">
                    <c:v>rtl_2</c:v>
                  </c:pt>
                  <c:pt idx="4">
                    <c:v>hls_1</c:v>
                  </c:pt>
                  <c:pt idx="5">
                    <c:v>hls_2</c:v>
                  </c:pt>
                  <c:pt idx="6">
                    <c:v>hls_3</c:v>
                  </c:pt>
                  <c:pt idx="7">
                    <c:v>hls_4</c:v>
                  </c:pt>
                  <c:pt idx="8">
                    <c:v>rtl_3</c:v>
                  </c:pt>
                  <c:pt idx="9">
                    <c:v>rtl_4</c:v>
                  </c:pt>
                </c:lvl>
              </c:multiLvlStrCache>
            </c:multiLvlStrRef>
          </c:cat>
          <c:val>
            <c:numRef>
              <c:f>Sheet1!$B$2:$B$11</c:f>
              <c:numCache>
                <c:formatCode>General</c:formatCode>
                <c:ptCount val="10"/>
                <c:pt idx="0">
                  <c:v>37.38</c:v>
                </c:pt>
                <c:pt idx="1">
                  <c:v>24.92</c:v>
                </c:pt>
                <c:pt idx="2">
                  <c:v>12.46</c:v>
                </c:pt>
                <c:pt idx="3">
                  <c:v>12.46</c:v>
                </c:pt>
                <c:pt idx="4">
                  <c:v>10.9</c:v>
                </c:pt>
                <c:pt idx="5">
                  <c:v>8.86</c:v>
                </c:pt>
                <c:pt idx="6">
                  <c:v>32.9</c:v>
                </c:pt>
                <c:pt idx="7">
                  <c:v>1.97</c:v>
                </c:pt>
                <c:pt idx="8">
                  <c:v>8.86</c:v>
                </c:pt>
                <c:pt idx="9">
                  <c:v>2.85</c:v>
                </c:pt>
              </c:numCache>
            </c:numRef>
          </c:val>
        </c:ser>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F4F5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D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F4F5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32E"/>
                </a:solidFill>
                <a:latin typeface="Calibri"/>
              </a:defRPr>
            </a:pPr>
            <a:r>
              <a:rPr sz="1200" b="0" i="0" u="none" strike="noStrike">
                <a:solidFill>
                  <a:srgbClr val="14232E"/>
                </a:solidFill>
                <a:latin typeface="Calibri"/>
              </a:rPr>
              <a:t>Thông lượng (FPS)</a:t>
            </a:r>
          </a:p>
        </c:rich>
      </c:tx>
      <c:layout/>
      <c:overlay val="0"/>
    </c:title>
    <c:autoTitleDeleted val="0"/>
    <c:plotArea>
      <c:layout/>
      <c:barChart>
        <c:barDir val="col"/>
        <c:grouping val="clustered"/>
        <c:varyColors val="0"/>
        <c:ser>
          <c:idx val="0"/>
          <c:order val="0"/>
          <c:tx>
            <c:strRef>
              <c:f>Sheet1!$B$1</c:f>
              <c:strCache>
                <c:ptCount val="1"/>
                <c:pt idx="0">
                  <c:v>FPS</c:v>
                </c:pt>
              </c:strCache>
            </c:strRef>
          </c:tx>
          <c:spPr>
            <a:solidFill>
              <a:srgbClr val="1E7F78"/>
            </a:solidFill>
            <a:effectLst/>
          </c:spPr>
          <c:invertIfNegative val="0"/>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cat>
            <c:multiLvlStrRef>
              <c:f>Sheet1!$A$2:$A$4</c:f>
              <c:multiLvlStrCache>
                <c:ptCount val="3"/>
                <c:lvl>
                  <c:pt idx="0">
                    <c:v>Ước tính</c:v>
                  </c:pt>
                  <c:pt idx="1">
                    <c:v>RTLSim</c:v>
                  </c:pt>
                  <c:pt idx="2">
                    <c:v>Thực đo (FINN)</c:v>
                  </c:pt>
                </c:lvl>
              </c:multiLvlStrCache>
            </c:multiLvlStrRef>
          </c:cat>
          <c:val>
            <c:numRef>
              <c:f>Sheet1!$B$2:$B$4</c:f>
              <c:numCache>
                <c:formatCode>General</c:formatCode>
                <c:ptCount val="3"/>
                <c:pt idx="0">
                  <c:v>462.28</c:v>
                </c:pt>
                <c:pt idx="1">
                  <c:v>134.83</c:v>
                </c:pt>
                <c:pt idx="2">
                  <c:v>104.39</c:v>
                </c:pt>
              </c:numCache>
            </c:numRef>
          </c:val>
        </c:ser>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F4F5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D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F4F5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32E"/>
                </a:solidFill>
                <a:latin typeface="Calibri"/>
              </a:defRPr>
            </a:pPr>
            <a:r>
              <a:rPr sz="1200" b="0" i="0" u="none" strike="noStrike">
                <a:solidFill>
                  <a:srgbClr val="14232E"/>
                </a:solidFill>
                <a:latin typeface="Calibri"/>
              </a:rPr>
              <a:t>FPS</a:t>
            </a:r>
          </a:p>
        </c:rich>
      </c:tx>
      <c:layout/>
      <c:overlay val="0"/>
    </c:title>
    <c:autoTitleDeleted val="0"/>
    <c:plotArea>
      <c:layout/>
      <c:barChart>
        <c:barDir val="col"/>
        <c:grouping val="clustered"/>
        <c:varyColors val="0"/>
        <c:ser>
          <c:idx val="0"/>
          <c:order val="0"/>
          <c:tx>
            <c:strRef>
              <c:f>Sheet1!$B$1</c:f>
              <c:strCache>
                <c:ptCount val="1"/>
                <c:pt idx="0">
                  <c:v>Batch 1</c:v>
                </c:pt>
              </c:strCache>
            </c:strRef>
          </c:tx>
          <c:spPr>
            <a:solidFill>
              <a:srgbClr val="1E7F78"/>
            </a:solidFill>
            <a:effectLst/>
          </c:spPr>
          <c:invertIfNegative val="0"/>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cat>
            <c:multiLvlStrRef>
              <c:f>Sheet1!$A$2:$A$4</c:f>
              <c:multiLvlStrCache>
                <c:ptCount val="3"/>
                <c:lvl>
                  <c:pt idx="0">
                    <c:v>50 MHz</c:v>
                  </c:pt>
                  <c:pt idx="1">
                    <c:v>100 MHz</c:v>
                  </c:pt>
                  <c:pt idx="2">
                    <c:v>200 MHz</c:v>
                  </c:pt>
                </c:lvl>
              </c:multiLvlStrCache>
            </c:multiLvlStrRef>
          </c:cat>
          <c:val>
            <c:numRef>
              <c:f>Sheet1!$B$2:$B$4</c:f>
              <c:numCache>
                <c:formatCode>General</c:formatCode>
                <c:ptCount val="3"/>
                <c:pt idx="0">
                  <c:v>43.91</c:v>
                </c:pt>
                <c:pt idx="1">
                  <c:v>86.47</c:v>
                </c:pt>
                <c:pt idx="2">
                  <c:v>164.79</c:v>
                </c:pt>
              </c:numCache>
            </c:numRef>
          </c:val>
        </c:ser>
        <c:ser>
          <c:idx val="1"/>
          <c:order val="1"/>
          <c:tx>
            <c:strRef>
              <c:f>Sheet1!$C$1</c:f>
              <c:strCache>
                <c:ptCount val="1"/>
                <c:pt idx="0">
                  <c:v>Batch 100</c:v>
                </c:pt>
              </c:strCache>
            </c:strRef>
          </c:tx>
          <c:spPr>
            <a:solidFill>
              <a:srgbClr val="F2A33A"/>
            </a:solidFill>
            <a:effectLst/>
          </c:spPr>
          <c:invertIfNegative val="0"/>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cat>
            <c:multiLvlStrRef>
              <c:f>Sheet1!$A$2:$A$4</c:f>
              <c:multiLvlStrCache>
                <c:ptCount val="3"/>
                <c:lvl>
                  <c:pt idx="0">
                    <c:v>50 MHz</c:v>
                  </c:pt>
                  <c:pt idx="1">
                    <c:v>100 MHz</c:v>
                  </c:pt>
                  <c:pt idx="2">
                    <c:v>200 MHz</c:v>
                  </c:pt>
                </c:lvl>
              </c:multiLvlStrCache>
            </c:multiLvlStrRef>
          </c:cat>
          <c:val>
            <c:numRef>
              <c:f>Sheet1!$C$2:$C$4</c:f>
              <c:numCache>
                <c:formatCode>General</c:formatCode>
                <c:ptCount val="3"/>
                <c:pt idx="0">
                  <c:v>52.21</c:v>
                </c:pt>
                <c:pt idx="1">
                  <c:v>104.39</c:v>
                </c:pt>
                <c:pt idx="2">
                  <c:v>208.69</c:v>
                </c:pt>
              </c:numCache>
            </c:numRef>
          </c:val>
        </c:ser>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F4F5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D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F4F5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F4F5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32E"/>
                </a:solidFill>
                <a:latin typeface="Calibri"/>
              </a:defRPr>
            </a:pPr>
            <a:r>
              <a:rPr sz="1200" b="0" i="0" u="none" strike="noStrike">
                <a:solidFill>
                  <a:srgbClr val="14232E"/>
                </a:solidFill>
                <a:latin typeface="Calibri"/>
              </a:rPr>
              <a:t>Công suất theo thành phần (W)</a:t>
            </a:r>
          </a:p>
        </c:rich>
      </c:tx>
      <c:layout/>
      <c:overlay val="0"/>
    </c:title>
    <c:autoTitleDeleted val="0"/>
    <c:plotArea>
      <c:layout/>
      <c:barChart>
        <c:barDir val="col"/>
        <c:grouping val="clustered"/>
        <c:varyColors val="0"/>
        <c:ser>
          <c:idx val="0"/>
          <c:order val="0"/>
          <c:tx>
            <c:strRef>
              <c:f>Sheet1!$B$1</c:f>
              <c:strCache>
                <c:ptCount val="1"/>
                <c:pt idx="0">
                  <c:v>W</c:v>
                </c:pt>
              </c:strCache>
            </c:strRef>
          </c:tx>
          <c:spPr>
            <a:solidFill>
              <a:srgbClr val="F2A33A"/>
            </a:solidFill>
            <a:effectLst/>
          </c:spPr>
          <c:invertIfNegative val="0"/>
          <c:dLbls>
            <c:numFmt formatCode="0.0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cat>
            <c:multiLvlStrRef>
              <c:f>Sheet1!$A$2:$A$8</c:f>
              <c:multiLvlStrCache>
                <c:ptCount val="7"/>
                <c:lvl>
                  <c:pt idx="0">
                    <c:v>PS7</c:v>
                  </c:pt>
                  <c:pt idx="1">
                    <c:v>Tín hiệu</c:v>
                  </c:pt>
                  <c:pt idx="2">
                    <c:v>Slice logic</c:v>
                  </c:pt>
                  <c:pt idx="3">
                    <c:v>BRAM</c:v>
                  </c:pt>
                  <c:pt idx="4">
                    <c:v>DSP</c:v>
                  </c:pt>
                  <c:pt idx="5">
                    <c:v>Tĩnh</c:v>
                  </c:pt>
                  <c:pt idx="6">
                    <c:v>Clock</c:v>
                  </c:pt>
                </c:lvl>
              </c:multiLvlStrCache>
            </c:multiLvlStrRef>
          </c:cat>
          <c:val>
            <c:numRef>
              <c:f>Sheet1!$B$2:$B$8</c:f>
              <c:numCache>
                <c:formatCode>General</c:formatCode>
                <c:ptCount val="7"/>
                <c:pt idx="0">
                  <c:v>1.496</c:v>
                </c:pt>
                <c:pt idx="1">
                  <c:v>0.612</c:v>
                </c:pt>
                <c:pt idx="2">
                  <c:v>0.428</c:v>
                </c:pt>
                <c:pt idx="3">
                  <c:v>0.262</c:v>
                </c:pt>
                <c:pt idx="4">
                  <c:v>0.207</c:v>
                </c:pt>
                <c:pt idx="5">
                  <c:v>0.229</c:v>
                </c:pt>
                <c:pt idx="6">
                  <c:v>0.124</c:v>
                </c:pt>
              </c:numCache>
            </c:numRef>
          </c:val>
        </c:ser>
        <c:dLbls>
          <c:numFmt formatCode="0.0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F4F5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D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F4F5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32E"/>
                </a:solidFill>
                <a:latin typeface="Calibri"/>
              </a:defRPr>
            </a:pPr>
            <a:r>
              <a:rPr sz="1200" b="0" i="0" u="none" strike="noStrike">
                <a:solidFill>
                  <a:srgbClr val="14232E"/>
                </a:solidFill>
                <a:latin typeface="Calibri"/>
              </a:rPr>
              <a:t>Hiệu suất FPS/W</a:t>
            </a:r>
          </a:p>
        </c:rich>
      </c:tx>
      <c:layout/>
      <c:overlay val="0"/>
    </c:title>
    <c:autoTitleDeleted val="0"/>
    <c:plotArea>
      <c:layout/>
      <c:barChart>
        <c:barDir val="col"/>
        <c:grouping val="clustered"/>
        <c:varyColors val="0"/>
        <c:ser>
          <c:idx val="0"/>
          <c:order val="0"/>
          <c:tx>
            <c:strRef>
              <c:f>Sheet1!$B$1</c:f>
              <c:strCache>
                <c:ptCount val="1"/>
                <c:pt idx="0">
                  <c:v>Batch 1</c:v>
                </c:pt>
              </c:strCache>
            </c:strRef>
          </c:tx>
          <c:spPr>
            <a:solidFill>
              <a:srgbClr val="1E7F78"/>
            </a:solidFill>
            <a:effectLst/>
          </c:spPr>
          <c:invertIfNegative val="0"/>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cat>
            <c:multiLvlStrRef>
              <c:f>Sheet1!$A$2:$A$4</c:f>
              <c:multiLvlStrCache>
                <c:ptCount val="3"/>
                <c:lvl>
                  <c:pt idx="0">
                    <c:v>50 MHz</c:v>
                  </c:pt>
                  <c:pt idx="1">
                    <c:v>100 MHz</c:v>
                  </c:pt>
                  <c:pt idx="2">
                    <c:v>200 MHz</c:v>
                  </c:pt>
                </c:lvl>
              </c:multiLvlStrCache>
            </c:multiLvlStrRef>
          </c:cat>
          <c:val>
            <c:numRef>
              <c:f>Sheet1!$B$2:$B$4</c:f>
              <c:numCache>
                <c:formatCode>General</c:formatCode>
                <c:ptCount val="3"/>
                <c:pt idx="0">
                  <c:v>20.71</c:v>
                </c:pt>
                <c:pt idx="1">
                  <c:v>36.32</c:v>
                </c:pt>
                <c:pt idx="2">
                  <c:v>64.63</c:v>
                </c:pt>
              </c:numCache>
            </c:numRef>
          </c:val>
        </c:ser>
        <c:ser>
          <c:idx val="1"/>
          <c:order val="1"/>
          <c:tx>
            <c:strRef>
              <c:f>Sheet1!$C$1</c:f>
              <c:strCache>
                <c:ptCount val="1"/>
                <c:pt idx="0">
                  <c:v>Batch 100</c:v>
                </c:pt>
              </c:strCache>
            </c:strRef>
          </c:tx>
          <c:spPr>
            <a:solidFill>
              <a:srgbClr val="F2A33A"/>
            </a:solidFill>
            <a:effectLst/>
          </c:spPr>
          <c:invertIfNegative val="0"/>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cat>
            <c:multiLvlStrRef>
              <c:f>Sheet1!$A$2:$A$4</c:f>
              <c:multiLvlStrCache>
                <c:ptCount val="3"/>
                <c:lvl>
                  <c:pt idx="0">
                    <c:v>50 MHz</c:v>
                  </c:pt>
                  <c:pt idx="1">
                    <c:v>100 MHz</c:v>
                  </c:pt>
                  <c:pt idx="2">
                    <c:v>200 MHz</c:v>
                  </c:pt>
                </c:lvl>
              </c:multiLvlStrCache>
            </c:multiLvlStrRef>
          </c:cat>
          <c:val>
            <c:numRef>
              <c:f>Sheet1!$C$2:$C$4</c:f>
              <c:numCache>
                <c:formatCode>General</c:formatCode>
                <c:ptCount val="3"/>
                <c:pt idx="0">
                  <c:v>24.63</c:v>
                </c:pt>
                <c:pt idx="1">
                  <c:v>43.86</c:v>
                </c:pt>
                <c:pt idx="2">
                  <c:v>81.88</c:v>
                </c:pt>
              </c:numCache>
            </c:numRef>
          </c:val>
        </c:ser>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F4F5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D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F4F5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F4F5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FPS</c:v>
                </c:pt>
              </c:strCache>
            </c:strRef>
          </c:tx>
          <c:spPr>
            <a:solidFill>
              <a:srgbClr val="1E7F78"/>
            </a:solidFill>
            <a:effectLst/>
          </c:spPr>
          <c:invertIfNegative val="0"/>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Coral 250</c:v>
                  </c:pt>
                  <c:pt idx="1">
                    <c:v>Coral 500</c:v>
                  </c:pt>
                  <c:pt idx="2">
                    <c:v>FPGA 100</c:v>
                  </c:pt>
                  <c:pt idx="3">
                    <c:v>FPGA 200</c:v>
                  </c:pt>
                </c:lvl>
              </c:multiLvlStrCache>
            </c:multiLvlStrRef>
          </c:cat>
          <c:val>
            <c:numRef>
              <c:f>Sheet1!$B$2:$B$5</c:f>
              <c:numCache>
                <c:formatCode>General</c:formatCode>
                <c:ptCount val="4"/>
                <c:pt idx="0">
                  <c:v>103.2</c:v>
                </c:pt>
                <c:pt idx="1">
                  <c:v>148.7</c:v>
                </c:pt>
                <c:pt idx="2">
                  <c:v>86.47</c:v>
                </c:pt>
                <c:pt idx="3">
                  <c:v>164.8</c:v>
                </c:pt>
              </c:numCache>
            </c:numRef>
          </c:val>
        </c:ser>
        <c:ser>
          <c:idx val="1"/>
          <c:order val="1"/>
          <c:tx>
            <c:strRef>
              <c:f>Sheet1!$C$1</c:f>
              <c:strCache>
                <c:ptCount val="1"/>
                <c:pt idx="0">
                  <c:v>FPS/W</c:v>
                </c:pt>
              </c:strCache>
            </c:strRef>
          </c:tx>
          <c:spPr>
            <a:solidFill>
              <a:srgbClr val="F2A33A"/>
            </a:solidFill>
            <a:effectLst/>
          </c:spPr>
          <c:invertIfNegative val="0"/>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Coral 250</c:v>
                  </c:pt>
                  <c:pt idx="1">
                    <c:v>Coral 500</c:v>
                  </c:pt>
                  <c:pt idx="2">
                    <c:v>FPGA 100</c:v>
                  </c:pt>
                  <c:pt idx="3">
                    <c:v>FPGA 200</c:v>
                  </c:pt>
                </c:lvl>
              </c:multiLvlStrCache>
            </c:multiLvlStrRef>
          </c:cat>
          <c:val>
            <c:numRef>
              <c:f>Sheet1!$C$2:$C$5</c:f>
              <c:numCache>
                <c:formatCode>General</c:formatCode>
                <c:ptCount val="4"/>
                <c:pt idx="0">
                  <c:v>86</c:v>
                </c:pt>
                <c:pt idx="1">
                  <c:v>62</c:v>
                </c:pt>
                <c:pt idx="2">
                  <c:v>36.3</c:v>
                </c:pt>
                <c:pt idx="3">
                  <c:v>64.5</c:v>
                </c:pt>
              </c:numCache>
            </c:numRef>
          </c:val>
        </c:ser>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F4F5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D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F4F5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F4F5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FPS/W</c:v>
                </c:pt>
              </c:strCache>
            </c:strRef>
          </c:tx>
          <c:spPr>
            <a:solidFill>
              <a:srgbClr val="1E7F78"/>
            </a:solidFill>
            <a:effectLst/>
          </c:spPr>
          <c:invertIfNegative val="0"/>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cat>
            <c:multiLvlStrRef>
              <c:f>Sheet1!$A$2:$A$6</c:f>
              <c:multiLvlStrCache>
                <c:ptCount val="5"/>
                <c:lvl>
                  <c:pt idx="0">
                    <c:v>FINN-R</c:v>
                  </c:pt>
                  <c:pt idx="1">
                    <c:v>SATAY 110</c:v>
                  </c:pt>
                  <c:pt idx="2">
                    <c:v>SATAY 118</c:v>
                  </c:pt>
                  <c:pt idx="3">
                    <c:v>LPYOLO</c:v>
                  </c:pt>
                  <c:pt idx="4">
                    <c:v>Bài này</c:v>
                  </c:pt>
                </c:lvl>
              </c:multiLvlStrCache>
            </c:multiLvlStrRef>
          </c:cat>
          <c:val>
            <c:numRef>
              <c:f>Sheet1!$B$2:$B$6</c:f>
              <c:numCache>
                <c:formatCode>General</c:formatCode>
                <c:ptCount val="5"/>
                <c:pt idx="0">
                  <c:v>11.96</c:v>
                </c:pt>
                <c:pt idx="1">
                  <c:v>4.54</c:v>
                </c:pt>
                <c:pt idx="2">
                  <c:v>3.43</c:v>
                </c:pt>
                <c:pt idx="3">
                  <c:v>7.97</c:v>
                </c:pt>
                <c:pt idx="4">
                  <c:v>81.85</c:v>
                </c:pt>
              </c:numCache>
            </c:numRef>
          </c:val>
        </c:ser>
        <c:dLbls>
          <c:numFmt formatCode="0.0" sourceLinked="0"/>
          <c:txPr>
            <a:bodyPr/>
            <a:lstStyle/>
            <a:p>
              <a:pPr>
                <a:defRPr b="0" i="0" strike="noStrike" sz="1000" u="none">
                  <a:solidFill>
                    <a:srgbClr val="14232E"/>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F4F5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D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F4F5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 phân tích chuyên sâu: ngoài tóm tắt kết quả, bộ slide đi qua từng bước kỹ thuật (QAT, biến đổi FINN, folding, FIFO, driver), các bảng số liệu gốc, và phần phản biện có tính toán lại từ số liệu của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phần: bối cảnh, phương pháp, kết quả, phân tích và phản biện.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hoàn chỉnh trên Zynq-7020: YOLOv3-Tiny lượng tử hóa 4 bit, một lớp (car), chạy 208 FPS ở 200 MHz với 2,55 W đo thực cả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khác biệt của embedded không chỉ là kích thước mà là bộ ràng buộc về công suất, nhiệt, chi phí và độ sẵn sàng cao.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 mục 2.2 của bài. Thông tin chi tiết về từng loại được tóm tắt ở mức định tính.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tham chiếu [11, 14-23] trong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2.5. Tác giả nhấn mạnh trọng tâm là tối ưu cài đặt số (tài nguyên, tránh stall pipeline) hơn là định nghĩa kiến trúc mạng.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2.3. Vitis AI: diễn đàn AMD-Xilinx xác nhận ngừng hỗ trợ Zynq-7000. NVDLA: vài FPS với AlexNet kể cả trên Kintex-7. fpgaConvNet: tái cấu hình Zynq-7000 mất ít nhất vài chục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FINN do Xilinx Research Labs phát triển từ 2017. Đầu vào là QONNX; đầu ra là IP tích hợp Vivado.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nhớ: PS có 256 MiB SRAM trên chip theo lời bài; PL có 140 khối BRAM dùng cho trọng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Hình 1 của bài. Ba nhóm công cụ: Brevitas, FINN compiler, Vivado.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3.1. Theo LPYOLO [63], các đơn giản hóa cấu trúc này chỉ gây tổn thất độ chính xác hạn chế (bài báo khẳng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Mười lớp tích chập: 6 khối conv 3×3 + maxpool, rồi chuỗi conv 3×3 / 1×1 / 3×3 / 3×3. Lớp cuối 18 kênh = 3 anchor × (4 hộp + 1 objectness + 1 lớp). Phép tính 18 kênh là diễn giải của người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Brevitas 0.9.0 trên PyTorch 1.13.1. Cơ sở: repo YOLOv5 của Ultralytics, sửa common.py, train.py, thêm quant_common.py.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VisDrone: 10 209 ảnh, 2,6 triệu hộp, 10 lớp. Chỉ dùng task 1 (phát hiện trong ảnh) và lớp car. Đổi chú thích sang XYWH của YOLO.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Lệnh export: python export.py --weights best.pt --img 416 --include finn_onnx.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ConvertQONNXtoFINN gộp nút Quant vào Conv/MaxPool, ReLU thành MultiThreshold. Streamlining loại bỏ float, lowering Conv thành Im2Col + MatMul.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NCWH vs NWHC: YOLO dùng NCHW, FINN dùng NHWC. Hai Transpose còn lại được xử lý trong driver. Mul cuối cùng khử lượng tử, chạy trên 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SpecializeLayers chọn RTL mặc định, rơi về HLS nếu không có RTL. ApplyConfig áp cấu hình JSON tay. RTL MVU chưa hỗ trợ kiểu LUT.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Z-Turn có DSP48E1. Lớp giữa 4b×4b đạt 4 MAC/DSP, lớp đầu/cuối 8b×(4b) đạt 2 MAC/DSP.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3.6.1. Mạng chạy dạng pipeline liên tục nên tốc độ bị giới hạn bởi lớp chậm nhất; không lợi gì khi tăng tốc lớp đã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Hình 8: mạng fold hoàn toàn, chuyên biệt mặc định. Hình 11: cấu hình tối ưu: nhiều MVU chuyển sang HLS-LUT để tránh quá tải DSP.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3.7. Việc tìm độ sâu FIFO đầu tiên thất bại do sai số ước lượng chu kỳ, dẫn tới phát hiện vấn đề StreamingMaxPool.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nội bộ vs ngoại bộ quyết định ở bước folding. Toàn bộ trọng số lưu trên chip để giảm độ trễ và công suất.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Hình 14. Client chạy trên máy ngoài (macOS trong thử nghiệm). Server (InferServer) chạy trên PS của Zynq.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Header 16 byte: frame_id (4), width (4), height (4), channels (2), dtype_code (2). Lô tối đa 100 khung.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gốc có hai nhánh phát hiện. Recall giảm một nửa là hệ quả trực tiếp. Ảnh drone thực tế bài báo thu thập cho tỉ lệ phát hiện cao hơn nhiều so với con số trên tập kiểm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MAC mỗi ảnh ≈ 153,6 triệu (tính từ bảng: 113 330 048 + 37 380 096 + 2 847 312).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Báo cáo Vivado cho LUT 41 810 (78,59%); Bảng 7 ghi 41 605. Vivado chuyển BRAM sang LUT-RAM khi hết BRAM, và các khối HLS thường dùng nhiều LUT hơn RTL.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Ước tính 462,28 FPS = 100 MHz / 216 320 chu kỳ. RTLSim 134,83 FPS = 100e6/741 670. Thay driver Python bằng bare-metal đưa FPS thực lên đủ 134 FPS.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throughput_test() của FINN nạp dữ liệu ngẫu nhiên trực tiếp qua DRAM, tránh reshape và đóng gói. Chênh lệch batch 1 và 100 ≈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1 trên luồng video, driver FINN chuẩn. Tiền xử lý gần như cố định (~33 ms), driver exec giảm theo tần số, hậu xử lý ~26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ước tính 3,358 W gồm PS7 1,496 W, tĩnh 0,229 W. Đo thực thấp hơn vì Vivado ước tính trường hợp xấu.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 bằng nguồn bench 5 V, đọc dòng; camera nhiệt cho die 53,1 °C so với ước tính Vivado 46,3 °C (nhiệt độ môi trường lớn nhất ước tính).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4.4. Kết quả phụ thuộc mạnh vào điều kiện mạng và hệ điều hành client. Tăng kích thước hàng đợi WebSocket phía server để có kết quả lặp lại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Footage do chính nhóm quay trên đường và bãi đỗ xe. Hộp màu cam là phát hiện của mạng chạy trên FPGA. Không có số liệu mAP trên tập này; đây chỉ là đánh giá định tính.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Coral chạy libedgetpu chuẩn (250 MHz hiệu dụng) và bản max (500 MHz). Công suất Coral là ước tính từ datasheet: 2,4 W ở 500 MHz, giả định 1,2 W ở 250 MHz.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Tất cả là YOLOv3-Tiny 416×416 ngoại trừ FINN-R (Tincy-YOLO). mAP không so sánh vì dữ liệu huấn luyện khác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con số này do người trình bày tính lại, không có trong bài. Ước lượng thô, dùng để đặt kết quả vào bối cảnh.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Đánh giá của người trình bày, không phải của tác giả. Các số tỉ lệ nêu trong abstract (3-7×), mục 5.2 (7-24×) và mục 5.2 khi so LPYOLO (7,3×) khác nhau và khác với tính từ 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điệp chính: chi tiết cài đặt số (folding, DSP packing, FIFO, chọn RTL/HLS) quan trọng không kém kiến trúc mạng.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dự kiến và câu trả lời ngắn, dựa trên nội dung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jp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image" Target="../media/image-36-2.jpg"/><Relationship Id="rId3" Type="http://schemas.openxmlformats.org/officeDocument/2006/relationships/image" Target="../media/image-36-3.jp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2B"/>
        </a:solidFill>
      </p:bgPr>
    </p:bg>
    <p:spTree>
      <p:nvGrpSpPr>
        <p:cNvPr id="1" name=""/>
        <p:cNvGrpSpPr/>
        <p:nvPr/>
      </p:nvGrpSpPr>
      <p:grpSpPr>
        <a:xfrm>
          <a:off x="0" y="0"/>
          <a:ext cx="0" cy="0"/>
          <a:chOff x="0" y="0"/>
          <a:chExt cx="0" cy="0"/>
        </a:xfrm>
      </p:grpSpPr>
      <p:sp>
        <p:nvSpPr>
          <p:cNvPr id="2" name="Text 0"/>
          <p:cNvSpPr txBox="1"/>
          <p:nvPr/>
        </p:nvSpPr>
        <p:spPr>
          <a:xfrm>
            <a:off x="548640" y="457200"/>
            <a:ext cx="8046720" cy="274320"/>
          </a:xfrm>
          <a:prstGeom prst="rect">
            <a:avLst/>
          </a:prstGeom>
          <a:noFill/>
          <a:ln/>
        </p:spPr>
        <p:txBody>
          <a:bodyPr wrap="square" lIns="0" tIns="0" rIns="0" bIns="0" rtlCol="0" anchor="ctr"/>
          <a:lstStyle/>
          <a:p>
            <a:pPr indent="0" marL="0">
              <a:buNone/>
            </a:pPr>
            <a:r>
              <a:rPr lang="en-US" sz="1300" b="1" spc="300" kern="0" dirty="0">
                <a:solidFill>
                  <a:srgbClr val="F2A33A"/>
                </a:solidFill>
                <a:latin typeface="Calibri" pitchFamily="34" charset="0"/>
                <a:ea typeface="Calibri" pitchFamily="34" charset="-122"/>
                <a:cs typeface="Calibri" pitchFamily="34" charset="-120"/>
              </a:rPr>
              <a:t>PHÂN TÍCH CHUYÊN SÂU · ELECTRONICS 2025, 14, 3993</a:t>
            </a:r>
            <a:endParaRPr lang="en-US" sz="1300" dirty="0"/>
          </a:p>
        </p:txBody>
      </p:sp>
      <p:sp>
        <p:nvSpPr>
          <p:cNvPr id="3" name="Text 1"/>
          <p:cNvSpPr txBox="1"/>
          <p:nvPr/>
        </p:nvSpPr>
        <p:spPr>
          <a:xfrm>
            <a:off x="548640" y="1005840"/>
            <a:ext cx="8046720" cy="1645920"/>
          </a:xfrm>
          <a:prstGeom prst="rect">
            <a:avLst/>
          </a:prstGeom>
          <a:noFill/>
          <a:ln/>
        </p:spPr>
        <p:txBody>
          <a:bodyPr wrap="square" lIns="0" tIns="0" rIns="0" bIns="0" rtlCol="0" anchor="t"/>
          <a:lstStyle/>
          <a:p>
            <a:pPr indent="0" marL="0">
              <a:buNone/>
            </a:pPr>
            <a:r>
              <a:rPr lang="en-US" sz="3600" b="1" dirty="0">
                <a:solidFill>
                  <a:srgbClr val="F4F5F1"/>
                </a:solidFill>
                <a:latin typeface="Calibri" pitchFamily="34" charset="0"/>
                <a:ea typeface="Calibri" pitchFamily="34" charset="-122"/>
                <a:cs typeface="Calibri" pitchFamily="34" charset="-120"/>
              </a:rPr>
              <a:t>Triển khai tối ưu YOLOv3-Tiny cho nhận dạng ảnh và video thời gian thực trên FPGA</a:t>
            </a:r>
            <a:endParaRPr lang="en-US" sz="3600" dirty="0"/>
          </a:p>
        </p:txBody>
      </p:sp>
      <p:sp>
        <p:nvSpPr>
          <p:cNvPr id="4" name="Text 2"/>
          <p:cNvSpPr txBox="1"/>
          <p:nvPr/>
        </p:nvSpPr>
        <p:spPr>
          <a:xfrm>
            <a:off x="548640" y="2834640"/>
            <a:ext cx="8046720" cy="457200"/>
          </a:xfrm>
          <a:prstGeom prst="rect">
            <a:avLst/>
          </a:prstGeom>
          <a:noFill/>
          <a:ln/>
        </p:spPr>
        <p:txBody>
          <a:bodyPr wrap="square" lIns="0" tIns="0" rIns="0" bIns="0" rtlCol="0" anchor="ctr"/>
          <a:lstStyle/>
          <a:p>
            <a:pPr indent="0" marL="0">
              <a:buNone/>
            </a:pPr>
            <a:r>
              <a:rPr lang="en-US" sz="1800" dirty="0">
                <a:solidFill>
                  <a:srgbClr val="B7C4CC"/>
                </a:solidFill>
                <a:latin typeface="Calibri" pitchFamily="34" charset="0"/>
                <a:ea typeface="Calibri" pitchFamily="34" charset="-122"/>
                <a:cs typeface="Calibri" pitchFamily="34" charset="-120"/>
              </a:rPr>
              <a:t>Từ huấn luyện lượng tử hóa đến bitstream, tối ưu folding, công suất và so sánh</a:t>
            </a:r>
            <a:endParaRPr lang="en-US" sz="1800" dirty="0"/>
          </a:p>
        </p:txBody>
      </p:sp>
      <p:sp>
        <p:nvSpPr>
          <p:cNvPr id="5" name="Text 3"/>
          <p:cNvSpPr txBox="1"/>
          <p:nvPr/>
        </p:nvSpPr>
        <p:spPr>
          <a:xfrm>
            <a:off x="548640" y="4023360"/>
            <a:ext cx="8046720" cy="320040"/>
          </a:xfrm>
          <a:prstGeom prst="rect">
            <a:avLst/>
          </a:prstGeom>
          <a:noFill/>
          <a:ln/>
        </p:spPr>
        <p:txBody>
          <a:bodyPr wrap="square" lIns="0" tIns="0" rIns="0" bIns="0" rtlCol="0" anchor="ctr"/>
          <a:lstStyle/>
          <a:p>
            <a:pPr indent="0" marL="0">
              <a:buNone/>
            </a:pPr>
            <a:r>
              <a:rPr lang="en-US" sz="1600" b="1" dirty="0">
                <a:solidFill>
                  <a:srgbClr val="F4F5F1"/>
                </a:solidFill>
                <a:latin typeface="Calibri" pitchFamily="34" charset="0"/>
                <a:ea typeface="Calibri" pitchFamily="34" charset="-122"/>
                <a:cs typeface="Calibri" pitchFamily="34" charset="-120"/>
              </a:rPr>
              <a:t>Riccardo Calì, Laura Falaschetti, Giorgio Biagetti</a:t>
            </a:r>
            <a:endParaRPr lang="en-US" sz="1600" dirty="0"/>
          </a:p>
        </p:txBody>
      </p:sp>
      <p:sp>
        <p:nvSpPr>
          <p:cNvPr id="6" name="Text 4"/>
          <p:cNvSpPr txBox="1"/>
          <p:nvPr/>
        </p:nvSpPr>
        <p:spPr>
          <a:xfrm>
            <a:off x="548640" y="4389120"/>
            <a:ext cx="8046720" cy="274320"/>
          </a:xfrm>
          <a:prstGeom prst="rect">
            <a:avLst/>
          </a:prstGeom>
          <a:noFill/>
          <a:ln/>
        </p:spPr>
        <p:txBody>
          <a:bodyPr wrap="square" lIns="0" tIns="0" rIns="0" bIns="0" rtlCol="0" anchor="ctr"/>
          <a:lstStyle/>
          <a:p>
            <a:pPr indent="0" marL="0">
              <a:buNone/>
            </a:pPr>
            <a:r>
              <a:rPr lang="en-US" sz="1300" dirty="0">
                <a:solidFill>
                  <a:srgbClr val="B7C4CC"/>
                </a:solidFill>
                <a:latin typeface="Calibri" pitchFamily="34" charset="0"/>
                <a:ea typeface="Calibri" pitchFamily="34" charset="-122"/>
                <a:cs typeface="Calibri" pitchFamily="34" charset="-120"/>
              </a:rPr>
              <a:t>Università Politecnica delle Marche, Ancona, Ý · doi:10.3390/electronics14203993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NỘI DUNG</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Lộ trình bài trình bày</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2 / 42</a:t>
            </a:r>
            <a:endParaRPr lang="en-US" sz="900" dirty="0"/>
          </a:p>
        </p:txBody>
      </p:sp>
      <p:sp>
        <p:nvSpPr>
          <p:cNvPr id="7" name="Shape 4"/>
          <p:cNvSpPr/>
          <p:nvPr/>
        </p:nvSpPr>
        <p:spPr>
          <a:xfrm>
            <a:off x="457200" y="1234440"/>
            <a:ext cx="8229600" cy="749808"/>
          </a:xfrm>
          <a:prstGeom prst="roundRect">
            <a:avLst>
              <a:gd name="adj" fmla="val 9756"/>
            </a:avLst>
          </a:prstGeom>
          <a:solidFill>
            <a:srgbClr val="FBFBF8"/>
          </a:solidFill>
          <a:ln w="9525">
            <a:solidFill>
              <a:srgbClr val="D9DDD8"/>
            </a:solidFill>
            <a:prstDash val="solid"/>
          </a:ln>
        </p:spPr>
      </p:sp>
      <p:sp>
        <p:nvSpPr>
          <p:cNvPr id="8" name="Text 5"/>
          <p:cNvSpPr txBox="1"/>
          <p:nvPr/>
        </p:nvSpPr>
        <p:spPr>
          <a:xfrm>
            <a:off x="585216" y="1344168"/>
            <a:ext cx="7973568" cy="292608"/>
          </a:xfrm>
          <a:prstGeom prst="rect">
            <a:avLst/>
          </a:prstGeom>
          <a:noFill/>
          <a:ln/>
        </p:spPr>
        <p:txBody>
          <a:bodyPr wrap="square" lIns="0" tIns="0" rIns="0" bIns="0" rtlCol="0" anchor="t"/>
          <a:lstStyle/>
          <a:p>
            <a:pPr indent="0" marL="0">
              <a:buNone/>
            </a:pPr>
            <a:r>
              <a:rPr lang="en-US" sz="1700" b="1" dirty="0">
                <a:solidFill>
                  <a:srgbClr val="14232E"/>
                </a:solidFill>
                <a:latin typeface="Calibri" pitchFamily="34" charset="0"/>
                <a:ea typeface="Calibri" pitchFamily="34" charset="-122"/>
                <a:cs typeface="Calibri" pitchFamily="34" charset="-120"/>
              </a:rPr>
              <a:t>Bối cảnh và công cụ</a:t>
            </a:r>
            <a:endParaRPr lang="en-US" sz="1700" dirty="0"/>
          </a:p>
        </p:txBody>
      </p:sp>
      <p:sp>
        <p:nvSpPr>
          <p:cNvPr id="9" name="Text 6"/>
          <p:cNvSpPr txBox="1"/>
          <p:nvPr/>
        </p:nvSpPr>
        <p:spPr>
          <a:xfrm>
            <a:off x="585216" y="1673352"/>
            <a:ext cx="7973568" cy="237744"/>
          </a:xfrm>
          <a:prstGeom prst="rect">
            <a:avLst/>
          </a:prstGeom>
          <a:noFill/>
          <a:ln/>
        </p:spPr>
        <p:txBody>
          <a:bodyPr wrap="square" lIns="0" tIns="0" rIns="0" bIns="0" rtlCol="0" anchor="t"/>
          <a:lstStyle/>
          <a:p>
            <a:pPr indent="0" marL="0">
              <a:buNone/>
            </a:pPr>
            <a:r>
              <a:rPr lang="en-US" sz="1300" dirty="0">
                <a:solidFill>
                  <a:srgbClr val="3F4F5A"/>
                </a:solidFill>
                <a:latin typeface="Calibri" pitchFamily="34" charset="0"/>
                <a:ea typeface="Calibri" pitchFamily="34" charset="-122"/>
                <a:cs typeface="Calibri" pitchFamily="34" charset="-120"/>
              </a:rPr>
              <a:t>Slide 3–10: động lực, nền tảng suy luận, khoảng trống, so sánh toolflow, FINN</a:t>
            </a:r>
            <a:endParaRPr lang="en-US" sz="1300" dirty="0"/>
          </a:p>
        </p:txBody>
      </p:sp>
      <p:sp>
        <p:nvSpPr>
          <p:cNvPr id="10" name="Shape 7"/>
          <p:cNvSpPr/>
          <p:nvPr/>
        </p:nvSpPr>
        <p:spPr>
          <a:xfrm>
            <a:off x="457200" y="2103120"/>
            <a:ext cx="8229600" cy="749808"/>
          </a:xfrm>
          <a:prstGeom prst="roundRect">
            <a:avLst>
              <a:gd name="adj" fmla="val 9756"/>
            </a:avLst>
          </a:prstGeom>
          <a:solidFill>
            <a:srgbClr val="FBFBF8"/>
          </a:solidFill>
          <a:ln w="9525">
            <a:solidFill>
              <a:srgbClr val="D9DDD8"/>
            </a:solidFill>
            <a:prstDash val="solid"/>
          </a:ln>
        </p:spPr>
      </p:sp>
      <p:sp>
        <p:nvSpPr>
          <p:cNvPr id="11" name="Text 8"/>
          <p:cNvSpPr txBox="1"/>
          <p:nvPr/>
        </p:nvSpPr>
        <p:spPr>
          <a:xfrm>
            <a:off x="585216" y="2212848"/>
            <a:ext cx="7973568" cy="292608"/>
          </a:xfrm>
          <a:prstGeom prst="rect">
            <a:avLst/>
          </a:prstGeom>
          <a:noFill/>
          <a:ln/>
        </p:spPr>
        <p:txBody>
          <a:bodyPr wrap="square" lIns="0" tIns="0" rIns="0" bIns="0" rtlCol="0" anchor="t"/>
          <a:lstStyle/>
          <a:p>
            <a:pPr indent="0" marL="0">
              <a:buNone/>
            </a:pPr>
            <a:r>
              <a:rPr lang="en-US" sz="1700" b="1" dirty="0">
                <a:solidFill>
                  <a:srgbClr val="14232E"/>
                </a:solidFill>
                <a:latin typeface="Calibri" pitchFamily="34" charset="0"/>
                <a:ea typeface="Calibri" pitchFamily="34" charset="-122"/>
                <a:cs typeface="Calibri" pitchFamily="34" charset="-120"/>
              </a:rPr>
              <a:t>Phương pháp</a:t>
            </a:r>
            <a:endParaRPr lang="en-US" sz="1700" dirty="0"/>
          </a:p>
        </p:txBody>
      </p:sp>
      <p:sp>
        <p:nvSpPr>
          <p:cNvPr id="12" name="Text 9"/>
          <p:cNvSpPr txBox="1"/>
          <p:nvPr/>
        </p:nvSpPr>
        <p:spPr>
          <a:xfrm>
            <a:off x="585216" y="2542032"/>
            <a:ext cx="7973568" cy="237744"/>
          </a:xfrm>
          <a:prstGeom prst="rect">
            <a:avLst/>
          </a:prstGeom>
          <a:noFill/>
          <a:ln/>
        </p:spPr>
        <p:txBody>
          <a:bodyPr wrap="square" lIns="0" tIns="0" rIns="0" bIns="0" rtlCol="0" anchor="t"/>
          <a:lstStyle/>
          <a:p>
            <a:pPr indent="0" marL="0">
              <a:buNone/>
            </a:pPr>
            <a:r>
              <a:rPr lang="en-US" sz="1300" dirty="0">
                <a:solidFill>
                  <a:srgbClr val="3F4F5A"/>
                </a:solidFill>
                <a:latin typeface="Calibri" pitchFamily="34" charset="0"/>
                <a:ea typeface="Calibri" pitchFamily="34" charset="-122"/>
                <a:cs typeface="Calibri" pitchFamily="34" charset="-120"/>
              </a:rPr>
              <a:t>Slide 11–26: nền tảng, mô hình, QAT, biến đổi FINN, RTL/HLS, folding, FIFO, driver</a:t>
            </a:r>
            <a:endParaRPr lang="en-US" sz="1300" dirty="0"/>
          </a:p>
        </p:txBody>
      </p:sp>
      <p:sp>
        <p:nvSpPr>
          <p:cNvPr id="13" name="Shape 10"/>
          <p:cNvSpPr/>
          <p:nvPr/>
        </p:nvSpPr>
        <p:spPr>
          <a:xfrm>
            <a:off x="457200" y="2971800"/>
            <a:ext cx="8229600" cy="749808"/>
          </a:xfrm>
          <a:prstGeom prst="roundRect">
            <a:avLst>
              <a:gd name="adj" fmla="val 9756"/>
            </a:avLst>
          </a:prstGeom>
          <a:solidFill>
            <a:srgbClr val="FBFBF8"/>
          </a:solidFill>
          <a:ln w="9525">
            <a:solidFill>
              <a:srgbClr val="D9DDD8"/>
            </a:solidFill>
            <a:prstDash val="solid"/>
          </a:ln>
        </p:spPr>
      </p:sp>
      <p:sp>
        <p:nvSpPr>
          <p:cNvPr id="14" name="Text 11"/>
          <p:cNvSpPr txBox="1"/>
          <p:nvPr/>
        </p:nvSpPr>
        <p:spPr>
          <a:xfrm>
            <a:off x="585216" y="3081528"/>
            <a:ext cx="7973568" cy="292608"/>
          </a:xfrm>
          <a:prstGeom prst="rect">
            <a:avLst/>
          </a:prstGeom>
          <a:noFill/>
          <a:ln/>
        </p:spPr>
        <p:txBody>
          <a:bodyPr wrap="square" lIns="0" tIns="0" rIns="0" bIns="0" rtlCol="0" anchor="t"/>
          <a:lstStyle/>
          <a:p>
            <a:pPr indent="0" marL="0">
              <a:buNone/>
            </a:pPr>
            <a:r>
              <a:rPr lang="en-US" sz="1700" b="1" dirty="0">
                <a:solidFill>
                  <a:srgbClr val="14232E"/>
                </a:solidFill>
                <a:latin typeface="Calibri" pitchFamily="34" charset="0"/>
                <a:ea typeface="Calibri" pitchFamily="34" charset="-122"/>
                <a:cs typeface="Calibri" pitchFamily="34" charset="-120"/>
              </a:rPr>
              <a:t>Kết quả</a:t>
            </a:r>
            <a:endParaRPr lang="en-US" sz="1700" dirty="0"/>
          </a:p>
        </p:txBody>
      </p:sp>
      <p:sp>
        <p:nvSpPr>
          <p:cNvPr id="15" name="Text 12"/>
          <p:cNvSpPr txBox="1"/>
          <p:nvPr/>
        </p:nvSpPr>
        <p:spPr>
          <a:xfrm>
            <a:off x="585216" y="3410712"/>
            <a:ext cx="7973568" cy="237744"/>
          </a:xfrm>
          <a:prstGeom prst="rect">
            <a:avLst/>
          </a:prstGeom>
          <a:noFill/>
          <a:ln/>
        </p:spPr>
        <p:txBody>
          <a:bodyPr wrap="square" lIns="0" tIns="0" rIns="0" bIns="0" rtlCol="0" anchor="t"/>
          <a:lstStyle/>
          <a:p>
            <a:pPr indent="0" marL="0">
              <a:buNone/>
            </a:pPr>
            <a:r>
              <a:rPr lang="en-US" sz="1300" dirty="0">
                <a:solidFill>
                  <a:srgbClr val="3F4F5A"/>
                </a:solidFill>
                <a:latin typeface="Calibri" pitchFamily="34" charset="0"/>
                <a:ea typeface="Calibri" pitchFamily="34" charset="-122"/>
                <a:cs typeface="Calibri" pitchFamily="34" charset="-120"/>
              </a:rPr>
              <a:t>Slide 27–38: độ chính xác, MAC, tài nguyên, hiệu năng, công suất, so sánh</a:t>
            </a:r>
            <a:endParaRPr lang="en-US" sz="1300" dirty="0"/>
          </a:p>
        </p:txBody>
      </p:sp>
      <p:sp>
        <p:nvSpPr>
          <p:cNvPr id="16" name="Shape 13"/>
          <p:cNvSpPr/>
          <p:nvPr/>
        </p:nvSpPr>
        <p:spPr>
          <a:xfrm>
            <a:off x="457200" y="3840480"/>
            <a:ext cx="8229600" cy="749808"/>
          </a:xfrm>
          <a:prstGeom prst="roundRect">
            <a:avLst>
              <a:gd name="adj" fmla="val 9756"/>
            </a:avLst>
          </a:prstGeom>
          <a:solidFill>
            <a:srgbClr val="FBFBF8"/>
          </a:solidFill>
          <a:ln w="9525">
            <a:solidFill>
              <a:srgbClr val="D9DDD8"/>
            </a:solidFill>
            <a:prstDash val="solid"/>
          </a:ln>
        </p:spPr>
      </p:sp>
      <p:sp>
        <p:nvSpPr>
          <p:cNvPr id="17" name="Text 14"/>
          <p:cNvSpPr txBox="1"/>
          <p:nvPr/>
        </p:nvSpPr>
        <p:spPr>
          <a:xfrm>
            <a:off x="585216" y="3950208"/>
            <a:ext cx="7973568" cy="292608"/>
          </a:xfrm>
          <a:prstGeom prst="rect">
            <a:avLst/>
          </a:prstGeom>
          <a:noFill/>
          <a:ln/>
        </p:spPr>
        <p:txBody>
          <a:bodyPr wrap="square" lIns="0" tIns="0" rIns="0" bIns="0" rtlCol="0" anchor="t"/>
          <a:lstStyle/>
          <a:p>
            <a:pPr indent="0" marL="0">
              <a:buNone/>
            </a:pPr>
            <a:r>
              <a:rPr lang="en-US" sz="1700" b="1" dirty="0">
                <a:solidFill>
                  <a:srgbClr val="14232E"/>
                </a:solidFill>
                <a:latin typeface="Calibri" pitchFamily="34" charset="0"/>
                <a:ea typeface="Calibri" pitchFamily="34" charset="-122"/>
                <a:cs typeface="Calibri" pitchFamily="34" charset="-120"/>
              </a:rPr>
              <a:t>Phân tích và kết luận</a:t>
            </a:r>
            <a:endParaRPr lang="en-US" sz="1700" dirty="0"/>
          </a:p>
        </p:txBody>
      </p:sp>
      <p:sp>
        <p:nvSpPr>
          <p:cNvPr id="18" name="Text 15"/>
          <p:cNvSpPr txBox="1"/>
          <p:nvPr/>
        </p:nvSpPr>
        <p:spPr>
          <a:xfrm>
            <a:off x="585216" y="4279392"/>
            <a:ext cx="7973568" cy="237744"/>
          </a:xfrm>
          <a:prstGeom prst="rect">
            <a:avLst/>
          </a:prstGeom>
          <a:noFill/>
          <a:ln/>
        </p:spPr>
        <p:txBody>
          <a:bodyPr wrap="square" lIns="0" tIns="0" rIns="0" bIns="0" rtlCol="0" anchor="t"/>
          <a:lstStyle/>
          <a:p>
            <a:pPr indent="0" marL="0">
              <a:buNone/>
            </a:pPr>
            <a:r>
              <a:rPr lang="en-US" sz="1300" dirty="0">
                <a:solidFill>
                  <a:srgbClr val="3F4F5A"/>
                </a:solidFill>
                <a:latin typeface="Calibri" pitchFamily="34" charset="0"/>
                <a:ea typeface="Calibri" pitchFamily="34" charset="-122"/>
                <a:cs typeface="Calibri" pitchFamily="34" charset="-120"/>
              </a:rPr>
              <a:t>Slide 39–42: số liệu tự tính, phản biện, kết luận, câu hỏi dự kiến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F2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F2A33A"/>
                </a:solidFill>
                <a:latin typeface="Calibri" pitchFamily="34" charset="0"/>
                <a:ea typeface="Calibri" pitchFamily="34" charset="-122"/>
                <a:cs typeface="Calibri" pitchFamily="34" charset="-120"/>
              </a:rPr>
              <a:t>TÓM TẮT</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F4F5F1"/>
                </a:solidFill>
                <a:latin typeface="Calibri" pitchFamily="34" charset="0"/>
                <a:ea typeface="Calibri" pitchFamily="34" charset="-122"/>
                <a:cs typeface="Calibri" pitchFamily="34" charset="-120"/>
              </a:rPr>
              <a:t>Một slide cho cả bài báo</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9FB0BA"/>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9FB0BA"/>
                </a:solidFill>
                <a:latin typeface="Calibri" pitchFamily="34" charset="0"/>
                <a:ea typeface="Calibri" pitchFamily="34" charset="-122"/>
                <a:cs typeface="Calibri" pitchFamily="34" charset="-120"/>
              </a:rPr>
              <a:t>3 / 42</a:t>
            </a:r>
            <a:endParaRPr lang="en-US" sz="900" dirty="0"/>
          </a:p>
        </p:txBody>
      </p:sp>
      <p:sp>
        <p:nvSpPr>
          <p:cNvPr id="7" name="Shape 4"/>
          <p:cNvSpPr/>
          <p:nvPr/>
        </p:nvSpPr>
        <p:spPr>
          <a:xfrm>
            <a:off x="457200" y="1234440"/>
            <a:ext cx="1920240" cy="1234440"/>
          </a:xfrm>
          <a:prstGeom prst="roundRect">
            <a:avLst>
              <a:gd name="adj" fmla="val 5926"/>
            </a:avLst>
          </a:prstGeom>
          <a:solidFill>
            <a:srgbClr val="1A3140"/>
          </a:solidFill>
          <a:ln w="12700">
            <a:solidFill>
              <a:srgbClr val="1A3140"/>
            </a:solidFill>
            <a:prstDash val="solid"/>
          </a:ln>
        </p:spPr>
      </p:sp>
      <p:sp>
        <p:nvSpPr>
          <p:cNvPr id="8" name="Text 5"/>
          <p:cNvSpPr txBox="1"/>
          <p:nvPr/>
        </p:nvSpPr>
        <p:spPr>
          <a:xfrm>
            <a:off x="566928" y="1325880"/>
            <a:ext cx="1700784" cy="640080"/>
          </a:xfrm>
          <a:prstGeom prst="rect">
            <a:avLst/>
          </a:prstGeom>
          <a:noFill/>
          <a:ln/>
        </p:spPr>
        <p:txBody>
          <a:bodyPr wrap="square" lIns="0" tIns="0" rIns="0" bIns="0" rtlCol="0" anchor="ctr"/>
          <a:lstStyle/>
          <a:p>
            <a:pPr indent="0" marL="0">
              <a:buNone/>
            </a:pPr>
            <a:r>
              <a:rPr lang="en-US" sz="3000" b="1" dirty="0">
                <a:solidFill>
                  <a:srgbClr val="F2A33A"/>
                </a:solidFill>
                <a:latin typeface="Calibri" pitchFamily="34" charset="0"/>
                <a:ea typeface="Calibri" pitchFamily="34" charset="-122"/>
                <a:cs typeface="Calibri" pitchFamily="34" charset="-120"/>
              </a:rPr>
              <a:t>208</a:t>
            </a:r>
            <a:endParaRPr lang="en-US" sz="3000" dirty="0"/>
          </a:p>
        </p:txBody>
      </p:sp>
      <p:sp>
        <p:nvSpPr>
          <p:cNvPr id="9" name="Text 6"/>
          <p:cNvSpPr txBox="1"/>
          <p:nvPr/>
        </p:nvSpPr>
        <p:spPr>
          <a:xfrm>
            <a:off x="566928" y="1984248"/>
            <a:ext cx="1700784" cy="411480"/>
          </a:xfrm>
          <a:prstGeom prst="rect">
            <a:avLst/>
          </a:prstGeom>
          <a:noFill/>
          <a:ln/>
        </p:spPr>
        <p:txBody>
          <a:bodyPr wrap="square" lIns="0" tIns="0" rIns="0" bIns="0" rtlCol="0" anchor="t"/>
          <a:lstStyle/>
          <a:p>
            <a:pPr indent="0" marL="0">
              <a:buNone/>
            </a:pPr>
            <a:r>
              <a:rPr lang="en-US" sz="1300" dirty="0">
                <a:solidFill>
                  <a:srgbClr val="C9D5DB"/>
                </a:solidFill>
                <a:latin typeface="Calibri" pitchFamily="34" charset="0"/>
                <a:ea typeface="Calibri" pitchFamily="34" charset="-122"/>
                <a:cs typeface="Calibri" pitchFamily="34" charset="-120"/>
              </a:rPr>
              <a:t>FPS ở 200 MHz, batch 100</a:t>
            </a:r>
            <a:endParaRPr lang="en-US" sz="1300" dirty="0"/>
          </a:p>
        </p:txBody>
      </p:sp>
      <p:sp>
        <p:nvSpPr>
          <p:cNvPr id="10" name="Shape 7"/>
          <p:cNvSpPr/>
          <p:nvPr/>
        </p:nvSpPr>
        <p:spPr>
          <a:xfrm>
            <a:off x="2560320" y="1234440"/>
            <a:ext cx="1920240" cy="1234440"/>
          </a:xfrm>
          <a:prstGeom prst="roundRect">
            <a:avLst>
              <a:gd name="adj" fmla="val 5926"/>
            </a:avLst>
          </a:prstGeom>
          <a:solidFill>
            <a:srgbClr val="1A3140"/>
          </a:solidFill>
          <a:ln w="12700">
            <a:solidFill>
              <a:srgbClr val="1A3140"/>
            </a:solidFill>
            <a:prstDash val="solid"/>
          </a:ln>
        </p:spPr>
      </p:sp>
      <p:sp>
        <p:nvSpPr>
          <p:cNvPr id="11" name="Text 8"/>
          <p:cNvSpPr txBox="1"/>
          <p:nvPr/>
        </p:nvSpPr>
        <p:spPr>
          <a:xfrm>
            <a:off x="2670048" y="1325880"/>
            <a:ext cx="1700784" cy="640080"/>
          </a:xfrm>
          <a:prstGeom prst="rect">
            <a:avLst/>
          </a:prstGeom>
          <a:noFill/>
          <a:ln/>
        </p:spPr>
        <p:txBody>
          <a:bodyPr wrap="square" lIns="0" tIns="0" rIns="0" bIns="0" rtlCol="0" anchor="ctr"/>
          <a:lstStyle/>
          <a:p>
            <a:pPr indent="0" marL="0">
              <a:buNone/>
            </a:pPr>
            <a:r>
              <a:rPr lang="en-US" sz="3000" b="1" dirty="0">
                <a:solidFill>
                  <a:srgbClr val="F2A33A"/>
                </a:solidFill>
                <a:latin typeface="Calibri" pitchFamily="34" charset="0"/>
                <a:ea typeface="Calibri" pitchFamily="34" charset="-122"/>
                <a:cs typeface="Calibri" pitchFamily="34" charset="-120"/>
              </a:rPr>
              <a:t>2,55 W</a:t>
            </a:r>
            <a:endParaRPr lang="en-US" sz="3000" dirty="0"/>
          </a:p>
        </p:txBody>
      </p:sp>
      <p:sp>
        <p:nvSpPr>
          <p:cNvPr id="12" name="Text 9"/>
          <p:cNvSpPr txBox="1"/>
          <p:nvPr/>
        </p:nvSpPr>
        <p:spPr>
          <a:xfrm>
            <a:off x="2670048" y="1984248"/>
            <a:ext cx="1700784" cy="411480"/>
          </a:xfrm>
          <a:prstGeom prst="rect">
            <a:avLst/>
          </a:prstGeom>
          <a:noFill/>
          <a:ln/>
        </p:spPr>
        <p:txBody>
          <a:bodyPr wrap="square" lIns="0" tIns="0" rIns="0" bIns="0" rtlCol="0" anchor="t"/>
          <a:lstStyle/>
          <a:p>
            <a:pPr indent="0" marL="0">
              <a:buNone/>
            </a:pPr>
            <a:r>
              <a:rPr lang="en-US" sz="1300" dirty="0">
                <a:solidFill>
                  <a:srgbClr val="C9D5DB"/>
                </a:solidFill>
                <a:latin typeface="Calibri" pitchFamily="34" charset="0"/>
                <a:ea typeface="Calibri" pitchFamily="34" charset="-122"/>
                <a:cs typeface="Calibri" pitchFamily="34" charset="-120"/>
              </a:rPr>
              <a:t>đo cả board, bench 5 V</a:t>
            </a:r>
            <a:endParaRPr lang="en-US" sz="1300" dirty="0"/>
          </a:p>
        </p:txBody>
      </p:sp>
      <p:sp>
        <p:nvSpPr>
          <p:cNvPr id="13" name="Shape 10"/>
          <p:cNvSpPr/>
          <p:nvPr/>
        </p:nvSpPr>
        <p:spPr>
          <a:xfrm>
            <a:off x="4663440" y="1234440"/>
            <a:ext cx="1920240" cy="1234440"/>
          </a:xfrm>
          <a:prstGeom prst="roundRect">
            <a:avLst>
              <a:gd name="adj" fmla="val 5926"/>
            </a:avLst>
          </a:prstGeom>
          <a:solidFill>
            <a:srgbClr val="1A3140"/>
          </a:solidFill>
          <a:ln w="12700">
            <a:solidFill>
              <a:srgbClr val="1A3140"/>
            </a:solidFill>
            <a:prstDash val="solid"/>
          </a:ln>
        </p:spPr>
      </p:sp>
      <p:sp>
        <p:nvSpPr>
          <p:cNvPr id="14" name="Text 11"/>
          <p:cNvSpPr txBox="1"/>
          <p:nvPr/>
        </p:nvSpPr>
        <p:spPr>
          <a:xfrm>
            <a:off x="4773168" y="1325880"/>
            <a:ext cx="1700784" cy="640080"/>
          </a:xfrm>
          <a:prstGeom prst="rect">
            <a:avLst/>
          </a:prstGeom>
          <a:noFill/>
          <a:ln/>
        </p:spPr>
        <p:txBody>
          <a:bodyPr wrap="square" lIns="0" tIns="0" rIns="0" bIns="0" rtlCol="0" anchor="ctr"/>
          <a:lstStyle/>
          <a:p>
            <a:pPr indent="0" marL="0">
              <a:buNone/>
            </a:pPr>
            <a:r>
              <a:rPr lang="en-US" sz="3000" b="1" dirty="0">
                <a:solidFill>
                  <a:srgbClr val="F2A33A"/>
                </a:solidFill>
                <a:latin typeface="Calibri" pitchFamily="34" charset="0"/>
                <a:ea typeface="Calibri" pitchFamily="34" charset="-122"/>
                <a:cs typeface="Calibri" pitchFamily="34" charset="-120"/>
              </a:rPr>
              <a:t>81,9</a:t>
            </a:r>
            <a:endParaRPr lang="en-US" sz="3000" dirty="0"/>
          </a:p>
        </p:txBody>
      </p:sp>
      <p:sp>
        <p:nvSpPr>
          <p:cNvPr id="15" name="Text 12"/>
          <p:cNvSpPr txBox="1"/>
          <p:nvPr/>
        </p:nvSpPr>
        <p:spPr>
          <a:xfrm>
            <a:off x="4773168" y="1984248"/>
            <a:ext cx="1700784" cy="411480"/>
          </a:xfrm>
          <a:prstGeom prst="rect">
            <a:avLst/>
          </a:prstGeom>
          <a:noFill/>
          <a:ln/>
        </p:spPr>
        <p:txBody>
          <a:bodyPr wrap="square" lIns="0" tIns="0" rIns="0" bIns="0" rtlCol="0" anchor="t"/>
          <a:lstStyle/>
          <a:p>
            <a:pPr indent="0" marL="0">
              <a:buNone/>
            </a:pPr>
            <a:r>
              <a:rPr lang="en-US" sz="1300" dirty="0">
                <a:solidFill>
                  <a:srgbClr val="C9D5DB"/>
                </a:solidFill>
                <a:latin typeface="Calibri" pitchFamily="34" charset="0"/>
                <a:ea typeface="Calibri" pitchFamily="34" charset="-122"/>
                <a:cs typeface="Calibri" pitchFamily="34" charset="-120"/>
              </a:rPr>
              <a:t>FPS/W (cả board)</a:t>
            </a:r>
            <a:endParaRPr lang="en-US" sz="1300" dirty="0"/>
          </a:p>
        </p:txBody>
      </p:sp>
      <p:sp>
        <p:nvSpPr>
          <p:cNvPr id="16" name="Shape 13"/>
          <p:cNvSpPr/>
          <p:nvPr/>
        </p:nvSpPr>
        <p:spPr>
          <a:xfrm>
            <a:off x="6766560" y="1234440"/>
            <a:ext cx="1920240" cy="1234440"/>
          </a:xfrm>
          <a:prstGeom prst="roundRect">
            <a:avLst>
              <a:gd name="adj" fmla="val 5926"/>
            </a:avLst>
          </a:prstGeom>
          <a:solidFill>
            <a:srgbClr val="1A3140"/>
          </a:solidFill>
          <a:ln w="12700">
            <a:solidFill>
              <a:srgbClr val="1A3140"/>
            </a:solidFill>
            <a:prstDash val="solid"/>
          </a:ln>
        </p:spPr>
      </p:sp>
      <p:sp>
        <p:nvSpPr>
          <p:cNvPr id="17" name="Text 14"/>
          <p:cNvSpPr txBox="1"/>
          <p:nvPr/>
        </p:nvSpPr>
        <p:spPr>
          <a:xfrm>
            <a:off x="6876288" y="1325880"/>
            <a:ext cx="1700784" cy="640080"/>
          </a:xfrm>
          <a:prstGeom prst="rect">
            <a:avLst/>
          </a:prstGeom>
          <a:noFill/>
          <a:ln/>
        </p:spPr>
        <p:txBody>
          <a:bodyPr wrap="square" lIns="0" tIns="0" rIns="0" bIns="0" rtlCol="0" anchor="ctr"/>
          <a:lstStyle/>
          <a:p>
            <a:pPr indent="0" marL="0">
              <a:buNone/>
            </a:pPr>
            <a:r>
              <a:rPr lang="en-US" sz="3000" b="1" dirty="0">
                <a:solidFill>
                  <a:srgbClr val="F2A33A"/>
                </a:solidFill>
                <a:latin typeface="Calibri" pitchFamily="34" charset="0"/>
                <a:ea typeface="Calibri" pitchFamily="34" charset="-122"/>
                <a:cs typeface="Calibri" pitchFamily="34" charset="-120"/>
              </a:rPr>
              <a:t>~150 €</a:t>
            </a:r>
            <a:endParaRPr lang="en-US" sz="3000" dirty="0"/>
          </a:p>
        </p:txBody>
      </p:sp>
      <p:sp>
        <p:nvSpPr>
          <p:cNvPr id="18" name="Text 15"/>
          <p:cNvSpPr txBox="1"/>
          <p:nvPr/>
        </p:nvSpPr>
        <p:spPr>
          <a:xfrm>
            <a:off x="6876288" y="1984248"/>
            <a:ext cx="1700784" cy="411480"/>
          </a:xfrm>
          <a:prstGeom prst="rect">
            <a:avLst/>
          </a:prstGeom>
          <a:noFill/>
          <a:ln/>
        </p:spPr>
        <p:txBody>
          <a:bodyPr wrap="square" lIns="0" tIns="0" rIns="0" bIns="0" rtlCol="0" anchor="t"/>
          <a:lstStyle/>
          <a:p>
            <a:pPr indent="0" marL="0">
              <a:buNone/>
            </a:pPr>
            <a:r>
              <a:rPr lang="en-US" sz="1300" dirty="0">
                <a:solidFill>
                  <a:srgbClr val="C9D5DB"/>
                </a:solidFill>
                <a:latin typeface="Calibri" pitchFamily="34" charset="0"/>
                <a:ea typeface="Calibri" pitchFamily="34" charset="-122"/>
                <a:cs typeface="Calibri" pitchFamily="34" charset="-120"/>
              </a:rPr>
              <a:t>giá board Z-Turn</a:t>
            </a:r>
            <a:endParaRPr lang="en-US" sz="1300" dirty="0"/>
          </a:p>
        </p:txBody>
      </p:sp>
      <p:sp>
        <p:nvSpPr>
          <p:cNvPr id="19" name="Shape 16"/>
          <p:cNvSpPr/>
          <p:nvPr/>
        </p:nvSpPr>
        <p:spPr>
          <a:xfrm>
            <a:off x="457200" y="2697480"/>
            <a:ext cx="2651760" cy="1920240"/>
          </a:xfrm>
          <a:prstGeom prst="roundRect">
            <a:avLst>
              <a:gd name="adj" fmla="val 3810"/>
            </a:avLst>
          </a:prstGeom>
          <a:solidFill>
            <a:srgbClr val="1A3140"/>
          </a:solidFill>
          <a:ln w="9525">
            <a:solidFill>
              <a:srgbClr val="D9DDD8"/>
            </a:solidFill>
            <a:prstDash val="solid"/>
          </a:ln>
        </p:spPr>
      </p:sp>
      <p:sp>
        <p:nvSpPr>
          <p:cNvPr id="20" name="Text 17"/>
          <p:cNvSpPr txBox="1"/>
          <p:nvPr/>
        </p:nvSpPr>
        <p:spPr>
          <a:xfrm>
            <a:off x="585216" y="2807208"/>
            <a:ext cx="2395728" cy="274320"/>
          </a:xfrm>
          <a:prstGeom prst="rect">
            <a:avLst/>
          </a:prstGeom>
          <a:noFill/>
          <a:ln/>
        </p:spPr>
        <p:txBody>
          <a:bodyPr wrap="square" lIns="0" tIns="0" rIns="0" bIns="0" rtlCol="0" anchor="t"/>
          <a:lstStyle/>
          <a:p>
            <a:pPr indent="0" marL="0">
              <a:buNone/>
            </a:pPr>
            <a:r>
              <a:rPr lang="en-US" sz="1500" b="1" dirty="0">
                <a:solidFill>
                  <a:srgbClr val="F2A33A"/>
                </a:solidFill>
                <a:latin typeface="Calibri" pitchFamily="34" charset="0"/>
                <a:ea typeface="Calibri" pitchFamily="34" charset="-122"/>
                <a:cs typeface="Calibri" pitchFamily="34" charset="-120"/>
              </a:rPr>
              <a:t>Làm gì</a:t>
            </a:r>
            <a:endParaRPr lang="en-US" sz="1500" dirty="0"/>
          </a:p>
        </p:txBody>
      </p:sp>
      <p:sp>
        <p:nvSpPr>
          <p:cNvPr id="21" name="Text 18"/>
          <p:cNvSpPr txBox="1"/>
          <p:nvPr/>
        </p:nvSpPr>
        <p:spPr>
          <a:xfrm>
            <a:off x="585216" y="3118104"/>
            <a:ext cx="2395728" cy="142646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Huấn luyện QAT INT4/INT8</a:t>
            </a:r>
            <a:endParaRPr lang="en-US" sz="1300" dirty="0"/>
          </a:p>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FINN sinh IP, tối ưu folding</a:t>
            </a:r>
            <a:endParaRPr lang="en-US" sz="1300" dirty="0"/>
          </a:p>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Driver kiểu TPU qua Ethernet</a:t>
            </a:r>
            <a:endParaRPr lang="en-US" sz="1300" dirty="0"/>
          </a:p>
        </p:txBody>
      </p:sp>
      <p:sp>
        <p:nvSpPr>
          <p:cNvPr id="22" name="Shape 19"/>
          <p:cNvSpPr/>
          <p:nvPr/>
        </p:nvSpPr>
        <p:spPr>
          <a:xfrm>
            <a:off x="3246120" y="2697480"/>
            <a:ext cx="2651760" cy="1920240"/>
          </a:xfrm>
          <a:prstGeom prst="roundRect">
            <a:avLst>
              <a:gd name="adj" fmla="val 3810"/>
            </a:avLst>
          </a:prstGeom>
          <a:solidFill>
            <a:srgbClr val="1A3140"/>
          </a:solidFill>
          <a:ln w="9525">
            <a:solidFill>
              <a:srgbClr val="D9DDD8"/>
            </a:solidFill>
            <a:prstDash val="solid"/>
          </a:ln>
        </p:spPr>
      </p:sp>
      <p:sp>
        <p:nvSpPr>
          <p:cNvPr id="23" name="Text 20"/>
          <p:cNvSpPr txBox="1"/>
          <p:nvPr/>
        </p:nvSpPr>
        <p:spPr>
          <a:xfrm>
            <a:off x="3374136" y="2807208"/>
            <a:ext cx="2395728" cy="274320"/>
          </a:xfrm>
          <a:prstGeom prst="rect">
            <a:avLst/>
          </a:prstGeom>
          <a:noFill/>
          <a:ln/>
        </p:spPr>
        <p:txBody>
          <a:bodyPr wrap="square" lIns="0" tIns="0" rIns="0" bIns="0" rtlCol="0" anchor="t"/>
          <a:lstStyle/>
          <a:p>
            <a:pPr indent="0" marL="0">
              <a:buNone/>
            </a:pPr>
            <a:r>
              <a:rPr lang="en-US" sz="1500" b="1" dirty="0">
                <a:solidFill>
                  <a:srgbClr val="F2A33A"/>
                </a:solidFill>
                <a:latin typeface="Calibri" pitchFamily="34" charset="0"/>
                <a:ea typeface="Calibri" pitchFamily="34" charset="-122"/>
                <a:cs typeface="Calibri" pitchFamily="34" charset="-120"/>
              </a:rPr>
              <a:t>So với ai</a:t>
            </a:r>
            <a:endParaRPr lang="en-US" sz="1500" dirty="0"/>
          </a:p>
        </p:txBody>
      </p:sp>
      <p:sp>
        <p:nvSpPr>
          <p:cNvPr id="24" name="Text 21"/>
          <p:cNvSpPr txBox="1"/>
          <p:nvPr/>
        </p:nvSpPr>
        <p:spPr>
          <a:xfrm>
            <a:off x="3374136" y="3118104"/>
            <a:ext cx="2395728" cy="142646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Coral Edge TPU: tốc độ tương đương</a:t>
            </a:r>
            <a:endParaRPr lang="en-US" sz="1300" dirty="0"/>
          </a:p>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FPGA khác: FPS/W cao hơn</a:t>
            </a:r>
            <a:endParaRPr lang="en-US" sz="1300" dirty="0"/>
          </a:p>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LPYOLO cùng mạng: ~10× FPS</a:t>
            </a:r>
            <a:endParaRPr lang="en-US" sz="1300" dirty="0"/>
          </a:p>
        </p:txBody>
      </p:sp>
      <p:sp>
        <p:nvSpPr>
          <p:cNvPr id="25" name="Shape 22"/>
          <p:cNvSpPr/>
          <p:nvPr/>
        </p:nvSpPr>
        <p:spPr>
          <a:xfrm>
            <a:off x="6035040" y="2697480"/>
            <a:ext cx="2651760" cy="1920240"/>
          </a:xfrm>
          <a:prstGeom prst="roundRect">
            <a:avLst>
              <a:gd name="adj" fmla="val 3810"/>
            </a:avLst>
          </a:prstGeom>
          <a:solidFill>
            <a:srgbClr val="1A3140"/>
          </a:solidFill>
          <a:ln w="9525">
            <a:solidFill>
              <a:srgbClr val="D9DDD8"/>
            </a:solidFill>
            <a:prstDash val="solid"/>
          </a:ln>
        </p:spPr>
      </p:sp>
      <p:sp>
        <p:nvSpPr>
          <p:cNvPr id="26" name="Text 23"/>
          <p:cNvSpPr txBox="1"/>
          <p:nvPr/>
        </p:nvSpPr>
        <p:spPr>
          <a:xfrm>
            <a:off x="6163056" y="2807208"/>
            <a:ext cx="2395728" cy="274320"/>
          </a:xfrm>
          <a:prstGeom prst="rect">
            <a:avLst/>
          </a:prstGeom>
          <a:noFill/>
          <a:ln/>
        </p:spPr>
        <p:txBody>
          <a:bodyPr wrap="square" lIns="0" tIns="0" rIns="0" bIns="0" rtlCol="0" anchor="t"/>
          <a:lstStyle/>
          <a:p>
            <a:pPr indent="0" marL="0">
              <a:buNone/>
            </a:pPr>
            <a:r>
              <a:rPr lang="en-US" sz="1500" b="1" dirty="0">
                <a:solidFill>
                  <a:srgbClr val="F2A33A"/>
                </a:solidFill>
                <a:latin typeface="Calibri" pitchFamily="34" charset="0"/>
                <a:ea typeface="Calibri" pitchFamily="34" charset="-122"/>
                <a:cs typeface="Calibri" pitchFamily="34" charset="-120"/>
              </a:rPr>
              <a:t>Đánh đổi</a:t>
            </a:r>
            <a:endParaRPr lang="en-US" sz="1500" dirty="0"/>
          </a:p>
        </p:txBody>
      </p:sp>
      <p:sp>
        <p:nvSpPr>
          <p:cNvPr id="27" name="Text 24"/>
          <p:cNvSpPr txBox="1"/>
          <p:nvPr/>
        </p:nvSpPr>
        <p:spPr>
          <a:xfrm>
            <a:off x="6163056" y="3118104"/>
            <a:ext cx="2395728" cy="142646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mAP@0.5 chỉ 17,7% (gốc 41,8%)</a:t>
            </a:r>
            <a:endParaRPr lang="en-US" sz="1300" dirty="0"/>
          </a:p>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Driver Python mất 21–50% FPS</a:t>
            </a:r>
            <a:endParaRPr lang="en-US" sz="1300" dirty="0"/>
          </a:p>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Dùng 98,6% BRAM, 92,7% DSP</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BỐI CẢNH</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Ràng buộc của hệ nhúng và drone</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4 / 42</a:t>
            </a:r>
            <a:endParaRPr lang="en-US" sz="900" dirty="0"/>
          </a:p>
        </p:txBody>
      </p:sp>
      <p:sp>
        <p:nvSpPr>
          <p:cNvPr id="7" name="Shape 4"/>
          <p:cNvSpPr/>
          <p:nvPr/>
        </p:nvSpPr>
        <p:spPr>
          <a:xfrm>
            <a:off x="457200" y="1188720"/>
            <a:ext cx="4023360" cy="1600200"/>
          </a:xfrm>
          <a:prstGeom prst="roundRect">
            <a:avLst>
              <a:gd name="adj" fmla="val 4571"/>
            </a:avLst>
          </a:prstGeom>
          <a:solidFill>
            <a:srgbClr val="FBFBF8"/>
          </a:solidFill>
          <a:ln w="9525">
            <a:solidFill>
              <a:srgbClr val="D9DDD8"/>
            </a:solidFill>
            <a:prstDash val="solid"/>
          </a:ln>
        </p:spPr>
      </p:sp>
      <p:sp>
        <p:nvSpPr>
          <p:cNvPr id="8" name="Text 5"/>
          <p:cNvSpPr txBox="1"/>
          <p:nvPr/>
        </p:nvSpPr>
        <p:spPr>
          <a:xfrm>
            <a:off x="585216" y="1298448"/>
            <a:ext cx="3767328" cy="274320"/>
          </a:xfrm>
          <a:prstGeom prst="rect">
            <a:avLst/>
          </a:prstGeom>
          <a:noFill/>
          <a:ln/>
        </p:spPr>
        <p:txBody>
          <a:bodyPr wrap="square" lIns="0" tIns="0" rIns="0" bIns="0" rtlCol="0" anchor="t"/>
          <a:lstStyle/>
          <a:p>
            <a:pPr indent="0" marL="0">
              <a:buNone/>
            </a:pPr>
            <a:r>
              <a:rPr lang="en-US" sz="1600" b="1" dirty="0">
                <a:solidFill>
                  <a:srgbClr val="14232E"/>
                </a:solidFill>
                <a:latin typeface="Calibri" pitchFamily="34" charset="0"/>
                <a:ea typeface="Calibri" pitchFamily="34" charset="-122"/>
                <a:cs typeface="Calibri" pitchFamily="34" charset="-120"/>
              </a:rPr>
              <a:t>Ràng buộc</a:t>
            </a:r>
            <a:endParaRPr lang="en-US" sz="1600" dirty="0"/>
          </a:p>
        </p:txBody>
      </p:sp>
      <p:sp>
        <p:nvSpPr>
          <p:cNvPr id="9" name="Text 6"/>
          <p:cNvSpPr txBox="1"/>
          <p:nvPr/>
        </p:nvSpPr>
        <p:spPr>
          <a:xfrm>
            <a:off x="585216" y="1609344"/>
            <a:ext cx="3767328" cy="1106424"/>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F4F5A"/>
                </a:solidFill>
                <a:latin typeface="Calibri" pitchFamily="34" charset="0"/>
                <a:ea typeface="Calibri" pitchFamily="34" charset="-122"/>
                <a:cs typeface="Calibri" pitchFamily="34" charset="-120"/>
              </a:rPr>
              <a:t>Công suất, tản nhiệt, chi phí</a:t>
            </a:r>
            <a:endParaRPr lang="en-US" sz="1400" dirty="0"/>
          </a:p>
          <a:p>
            <a:pPr marL="342900" indent="-342900">
              <a:spcAft>
                <a:spcPts val="300"/>
              </a:spcAft>
              <a:buSzPct val="100000"/>
              <a:buChar char="•"/>
            </a:pPr>
            <a:r>
              <a:rPr lang="en-US" sz="1400" dirty="0">
                <a:solidFill>
                  <a:srgbClr val="3F4F5A"/>
                </a:solidFill>
                <a:latin typeface="Calibri" pitchFamily="34" charset="0"/>
                <a:ea typeface="Calibri" pitchFamily="34" charset="-122"/>
                <a:cs typeface="Calibri" pitchFamily="34" charset="-120"/>
              </a:rPr>
              <a:t>Pin nhỏ, khối lượng tải (payload) hạn chế</a:t>
            </a:r>
            <a:endParaRPr lang="en-US" sz="1400" dirty="0"/>
          </a:p>
          <a:p>
            <a:pPr marL="342900" indent="-342900">
              <a:spcAft>
                <a:spcPts val="300"/>
              </a:spcAft>
              <a:buSzPct val="100000"/>
              <a:buChar char="•"/>
            </a:pPr>
            <a:r>
              <a:rPr lang="en-US" sz="1400" dirty="0">
                <a:solidFill>
                  <a:srgbClr val="3F4F5A"/>
                </a:solidFill>
                <a:latin typeface="Calibri" pitchFamily="34" charset="0"/>
                <a:ea typeface="Calibri" pitchFamily="34" charset="-122"/>
                <a:cs typeface="Calibri" pitchFamily="34" charset="-120"/>
              </a:rPr>
              <a:t>Hoạt động ngoài môi trường được kiểm soát</a:t>
            </a:r>
            <a:endParaRPr lang="en-US" sz="1400" dirty="0"/>
          </a:p>
        </p:txBody>
      </p:sp>
      <p:sp>
        <p:nvSpPr>
          <p:cNvPr id="10" name="Shape 7"/>
          <p:cNvSpPr/>
          <p:nvPr/>
        </p:nvSpPr>
        <p:spPr>
          <a:xfrm>
            <a:off x="4663440" y="1188720"/>
            <a:ext cx="4023360" cy="1600200"/>
          </a:xfrm>
          <a:prstGeom prst="roundRect">
            <a:avLst>
              <a:gd name="adj" fmla="val 4571"/>
            </a:avLst>
          </a:prstGeom>
          <a:solidFill>
            <a:srgbClr val="FBFBF8"/>
          </a:solidFill>
          <a:ln w="9525">
            <a:solidFill>
              <a:srgbClr val="D9DDD8"/>
            </a:solidFill>
            <a:prstDash val="solid"/>
          </a:ln>
        </p:spPr>
      </p:sp>
      <p:sp>
        <p:nvSpPr>
          <p:cNvPr id="11" name="Text 8"/>
          <p:cNvSpPr txBox="1"/>
          <p:nvPr/>
        </p:nvSpPr>
        <p:spPr>
          <a:xfrm>
            <a:off x="4791456" y="1298448"/>
            <a:ext cx="3767328" cy="274320"/>
          </a:xfrm>
          <a:prstGeom prst="rect">
            <a:avLst/>
          </a:prstGeom>
          <a:noFill/>
          <a:ln/>
        </p:spPr>
        <p:txBody>
          <a:bodyPr wrap="square" lIns="0" tIns="0" rIns="0" bIns="0" rtlCol="0" anchor="t"/>
          <a:lstStyle/>
          <a:p>
            <a:pPr indent="0" marL="0">
              <a:buNone/>
            </a:pPr>
            <a:r>
              <a:rPr lang="en-US" sz="1600" b="1" dirty="0">
                <a:solidFill>
                  <a:srgbClr val="14232E"/>
                </a:solidFill>
                <a:latin typeface="Calibri" pitchFamily="34" charset="0"/>
                <a:ea typeface="Calibri" pitchFamily="34" charset="-122"/>
                <a:cs typeface="Calibri" pitchFamily="34" charset="-120"/>
              </a:rPr>
              <a:t>Lợi ích suy luận tại chỗ</a:t>
            </a:r>
            <a:endParaRPr lang="en-US" sz="1600" dirty="0"/>
          </a:p>
        </p:txBody>
      </p:sp>
      <p:sp>
        <p:nvSpPr>
          <p:cNvPr id="12" name="Text 9"/>
          <p:cNvSpPr txBox="1"/>
          <p:nvPr/>
        </p:nvSpPr>
        <p:spPr>
          <a:xfrm>
            <a:off x="4791456" y="1609344"/>
            <a:ext cx="3767328" cy="1106424"/>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F4F5A"/>
                </a:solidFill>
                <a:latin typeface="Calibri" pitchFamily="34" charset="0"/>
                <a:ea typeface="Calibri" pitchFamily="34" charset="-122"/>
                <a:cs typeface="Calibri" pitchFamily="34" charset="-120"/>
              </a:rPr>
              <a:t>Không phụ thuộc đường truyền băng thông cao</a:t>
            </a:r>
            <a:endParaRPr lang="en-US" sz="1400" dirty="0"/>
          </a:p>
          <a:p>
            <a:pPr marL="342900" indent="-342900">
              <a:spcAft>
                <a:spcPts val="300"/>
              </a:spcAft>
              <a:buSzPct val="100000"/>
              <a:buChar char="•"/>
            </a:pPr>
            <a:r>
              <a:rPr lang="en-US" sz="1400" dirty="0">
                <a:solidFill>
                  <a:srgbClr val="3F4F5A"/>
                </a:solidFill>
                <a:latin typeface="Calibri" pitchFamily="34" charset="0"/>
                <a:ea typeface="Calibri" pitchFamily="34" charset="-122"/>
                <a:cs typeface="Calibri" pitchFamily="34" charset="-120"/>
              </a:rPr>
              <a:t>Độ trễ thấp, quyết định nhanh hơn</a:t>
            </a:r>
            <a:endParaRPr lang="en-US" sz="1400" dirty="0"/>
          </a:p>
          <a:p>
            <a:pPr marL="342900" indent="-342900">
              <a:spcAft>
                <a:spcPts val="300"/>
              </a:spcAft>
              <a:buSzPct val="100000"/>
              <a:buChar char="•"/>
            </a:pPr>
            <a:r>
              <a:rPr lang="en-US" sz="1400" dirty="0">
                <a:solidFill>
                  <a:srgbClr val="3F4F5A"/>
                </a:solidFill>
                <a:latin typeface="Calibri" pitchFamily="34" charset="0"/>
                <a:ea typeface="Calibri" pitchFamily="34" charset="-122"/>
                <a:cs typeface="Calibri" pitchFamily="34" charset="-120"/>
              </a:rPr>
              <a:t>Tự chủ khi mất kết nối</a:t>
            </a:r>
            <a:endParaRPr lang="en-US" sz="1400" dirty="0"/>
          </a:p>
        </p:txBody>
      </p:sp>
      <p:sp>
        <p:nvSpPr>
          <p:cNvPr id="13" name="Shape 10"/>
          <p:cNvSpPr/>
          <p:nvPr/>
        </p:nvSpPr>
        <p:spPr>
          <a:xfrm>
            <a:off x="457200" y="2926080"/>
            <a:ext cx="8229600" cy="1691640"/>
          </a:xfrm>
          <a:prstGeom prst="roundRect">
            <a:avLst>
              <a:gd name="adj" fmla="val 4324"/>
            </a:avLst>
          </a:prstGeom>
          <a:solidFill>
            <a:srgbClr val="FBFBF8"/>
          </a:solidFill>
          <a:ln w="9525">
            <a:solidFill>
              <a:srgbClr val="D9DDD8"/>
            </a:solidFill>
            <a:prstDash val="solid"/>
          </a:ln>
        </p:spPr>
      </p:sp>
      <p:sp>
        <p:nvSpPr>
          <p:cNvPr id="14" name="Text 11"/>
          <p:cNvSpPr txBox="1"/>
          <p:nvPr/>
        </p:nvSpPr>
        <p:spPr>
          <a:xfrm>
            <a:off x="585216" y="3035808"/>
            <a:ext cx="7973568" cy="274320"/>
          </a:xfrm>
          <a:prstGeom prst="rect">
            <a:avLst/>
          </a:prstGeom>
          <a:noFill/>
          <a:ln/>
        </p:spPr>
        <p:txBody>
          <a:bodyPr wrap="square" lIns="0" tIns="0" rIns="0" bIns="0" rtlCol="0" anchor="t"/>
          <a:lstStyle/>
          <a:p>
            <a:pPr indent="0" marL="0">
              <a:buNone/>
            </a:pPr>
            <a:r>
              <a:rPr lang="en-US" sz="1600" b="1" dirty="0">
                <a:solidFill>
                  <a:srgbClr val="14232E"/>
                </a:solidFill>
                <a:latin typeface="Calibri" pitchFamily="34" charset="0"/>
                <a:ea typeface="Calibri" pitchFamily="34" charset="-122"/>
                <a:cs typeface="Calibri" pitchFamily="34" charset="-120"/>
              </a:rPr>
              <a:t>Ứng dụng nêu trong bài</a:t>
            </a:r>
            <a:endParaRPr lang="en-US" sz="1600" dirty="0"/>
          </a:p>
        </p:txBody>
      </p:sp>
      <p:sp>
        <p:nvSpPr>
          <p:cNvPr id="15" name="Text 12"/>
          <p:cNvSpPr txBox="1"/>
          <p:nvPr/>
        </p:nvSpPr>
        <p:spPr>
          <a:xfrm>
            <a:off x="585216" y="3346704"/>
            <a:ext cx="7973568" cy="1197864"/>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F4F5A"/>
                </a:solidFill>
                <a:latin typeface="Calibri" pitchFamily="34" charset="0"/>
                <a:ea typeface="Calibri" pitchFamily="34" charset="-122"/>
                <a:cs typeface="Calibri" pitchFamily="34" charset="-120"/>
              </a:rPr>
              <a:t>Nông nghiệp: bay trên diện tích lớn, phát hiện bệnh cây, chỉ ra vùng cần can thiệp</a:t>
            </a:r>
            <a:endParaRPr lang="en-US" sz="1400" dirty="0"/>
          </a:p>
          <a:p>
            <a:pPr marL="342900" indent="-342900">
              <a:spcAft>
                <a:spcPts val="300"/>
              </a:spcAft>
              <a:buSzPct val="100000"/>
              <a:buChar char="•"/>
            </a:pPr>
            <a:r>
              <a:rPr lang="en-US" sz="1400" dirty="0">
                <a:solidFill>
                  <a:srgbClr val="3F4F5A"/>
                </a:solidFill>
                <a:latin typeface="Calibri" pitchFamily="34" charset="0"/>
                <a:ea typeface="Calibri" pitchFamily="34" charset="-122"/>
                <a:cs typeface="Calibri" pitchFamily="34" charset="-120"/>
              </a:rPr>
              <a:t>Giám sát: nhận diện hành vi bất thường, cảnh báo ngay</a:t>
            </a:r>
            <a:endParaRPr lang="en-US" sz="1400" dirty="0"/>
          </a:p>
          <a:p>
            <a:pPr marL="342900" indent="-342900">
              <a:spcAft>
                <a:spcPts val="300"/>
              </a:spcAft>
              <a:buSzPct val="100000"/>
              <a:buChar char="•"/>
            </a:pPr>
            <a:r>
              <a:rPr lang="en-US" sz="1400" dirty="0">
                <a:solidFill>
                  <a:srgbClr val="3F4F5A"/>
                </a:solidFill>
                <a:latin typeface="Calibri" pitchFamily="34" charset="0"/>
                <a:ea typeface="Calibri" pitchFamily="34" charset="-122"/>
                <a:cs typeface="Calibri" pitchFamily="34" charset="-120"/>
              </a:rPr>
              <a:t>Cứu nạn: phát hiện người dưới đống đổ nát, rút ngắn thời gian phản ứng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NỀN TẢNG SUY LUẬN</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GPU, NPU, TPU và FPGA</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5 / 42</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828800"/>
                <a:gridCol w="3200400"/>
                <a:gridCol w="320040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Nền tảng</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Điểm mạnh</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Hạn chế trong bối cảnh drone</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45720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GPU</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Thông lượng cao, hỗ trợ framework rộng</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Công suất, kích thước, tản nhiệt, giá</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45720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Jetson (GPU nhúng)</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Hiệu năng/W tốt hơn GPU rời</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Vẫn đắt và tốn điện cho thiết bị nhỏ</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45720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NPU / SoC tích hợp</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INT8/INT4, bộ nhớ trên chip, hiệu năng/W tốt</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Chỉ hỗ trợ tập toán tử hẹp</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45720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TPU / Coral Edge TPU</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Mảng MAC cố định, tiết kiệm điện</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Kiến trúc cố định; hỗ trợ chính thức giảm, do cộng đồng duy trì</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45720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FPGA</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Tái cấu hình, song song, pipeline tùy biến, lượng tử hóa tùy ý</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Chuỗi công cụ phức tạp, giới hạn tài nguyên chip</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bl>
          </a:graphicData>
        </a:graphic>
      </p:graphicFrame>
      <p:sp>
        <p:nvSpPr>
          <p:cNvPr id="8" name="Text 4"/>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300" dirty="0">
                <a:solidFill>
                  <a:srgbClr val="3F4F5A"/>
                </a:solidFill>
                <a:latin typeface="Calibri" pitchFamily="34" charset="0"/>
                <a:ea typeface="Calibri" pitchFamily="34" charset="-122"/>
                <a:cs typeface="Calibri" pitchFamily="34" charset="-120"/>
              </a:rPr>
              <a:t>Hailo và các startup khác cũng đưa ra TPU công suất thấp ở mức vài TOPS.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NỀN TẢNG HỌC THUẬT</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Mạng gọn và nén mô hình</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6 / 42</a:t>
            </a:r>
            <a:endParaRPr lang="en-US" sz="900" dirty="0"/>
          </a:p>
        </p:txBody>
      </p:sp>
      <p:sp>
        <p:nvSpPr>
          <p:cNvPr id="7" name="Shape 4"/>
          <p:cNvSpPr/>
          <p:nvPr/>
        </p:nvSpPr>
        <p:spPr>
          <a:xfrm>
            <a:off x="457200" y="1188720"/>
            <a:ext cx="4023360" cy="1554480"/>
          </a:xfrm>
          <a:prstGeom prst="roundRect">
            <a:avLst>
              <a:gd name="adj" fmla="val 4706"/>
            </a:avLst>
          </a:prstGeom>
          <a:solidFill>
            <a:srgbClr val="FBFBF8"/>
          </a:solidFill>
          <a:ln w="9525">
            <a:solidFill>
              <a:srgbClr val="D9DDD8"/>
            </a:solidFill>
            <a:prstDash val="solid"/>
          </a:ln>
        </p:spPr>
      </p:sp>
      <p:sp>
        <p:nvSpPr>
          <p:cNvPr id="8" name="Text 5"/>
          <p:cNvSpPr txBox="1"/>
          <p:nvPr/>
        </p:nvSpPr>
        <p:spPr>
          <a:xfrm>
            <a:off x="585216" y="129844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Kiến trúc nhẹ</a:t>
            </a:r>
            <a:endParaRPr lang="en-US" sz="1500" dirty="0"/>
          </a:p>
        </p:txBody>
      </p:sp>
      <p:sp>
        <p:nvSpPr>
          <p:cNvPr id="9" name="Text 6"/>
          <p:cNvSpPr txBox="1"/>
          <p:nvPr/>
        </p:nvSpPr>
        <p:spPr>
          <a:xfrm>
            <a:off x="585216" y="1609344"/>
            <a:ext cx="3767328" cy="1060704"/>
          </a:xfrm>
          <a:prstGeom prst="rect">
            <a:avLst/>
          </a:prstGeom>
          <a:noFill/>
          <a:ln/>
        </p:spPr>
        <p:txBody>
          <a:bodyPr wrap="square" lIns="0" tIns="0" rIns="0" bIns="0" rtlCol="0" anchor="t"/>
          <a:lstStyle/>
          <a:p>
            <a:pPr indent="0" marL="0">
              <a:buNone/>
            </a:pPr>
            <a:r>
              <a:rPr lang="en-US" sz="1300" dirty="0">
                <a:solidFill>
                  <a:srgbClr val="3F4F5A"/>
                </a:solidFill>
                <a:latin typeface="Calibri" pitchFamily="34" charset="0"/>
                <a:ea typeface="Calibri" pitchFamily="34" charset="-122"/>
                <a:cs typeface="Calibri" pitchFamily="34" charset="-120"/>
              </a:rPr>
              <a:t>SqueezeNet, MobileNet, ShuffleNet/V2, EfficientNet. Với phát hiện đối tượng: YOLOv3 và biến thể YOLOv3-Tiny là mốc tham chiếu cho hệ nhúng.</a:t>
            </a:r>
            <a:endParaRPr lang="en-US" sz="1300" dirty="0"/>
          </a:p>
        </p:txBody>
      </p:sp>
      <p:sp>
        <p:nvSpPr>
          <p:cNvPr id="10" name="Shape 7"/>
          <p:cNvSpPr/>
          <p:nvPr/>
        </p:nvSpPr>
        <p:spPr>
          <a:xfrm>
            <a:off x="4663440" y="1188720"/>
            <a:ext cx="4023360" cy="1554480"/>
          </a:xfrm>
          <a:prstGeom prst="roundRect">
            <a:avLst>
              <a:gd name="adj" fmla="val 4706"/>
            </a:avLst>
          </a:prstGeom>
          <a:solidFill>
            <a:srgbClr val="FBFBF8"/>
          </a:solidFill>
          <a:ln w="9525">
            <a:solidFill>
              <a:srgbClr val="D9DDD8"/>
            </a:solidFill>
            <a:prstDash val="solid"/>
          </a:ln>
        </p:spPr>
      </p:sp>
      <p:sp>
        <p:nvSpPr>
          <p:cNvPr id="11" name="Text 8"/>
          <p:cNvSpPr txBox="1"/>
          <p:nvPr/>
        </p:nvSpPr>
        <p:spPr>
          <a:xfrm>
            <a:off x="4791456" y="129844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Nén mô hình</a:t>
            </a:r>
            <a:endParaRPr lang="en-US" sz="1500" dirty="0"/>
          </a:p>
        </p:txBody>
      </p:sp>
      <p:sp>
        <p:nvSpPr>
          <p:cNvPr id="12" name="Text 9"/>
          <p:cNvSpPr txBox="1"/>
          <p:nvPr/>
        </p:nvSpPr>
        <p:spPr>
          <a:xfrm>
            <a:off x="4791456" y="1609344"/>
            <a:ext cx="3767328" cy="1060704"/>
          </a:xfrm>
          <a:prstGeom prst="rect">
            <a:avLst/>
          </a:prstGeom>
          <a:noFill/>
          <a:ln/>
        </p:spPr>
        <p:txBody>
          <a:bodyPr wrap="square" lIns="0" tIns="0" rIns="0" bIns="0" rtlCol="0" anchor="t"/>
          <a:lstStyle/>
          <a:p>
            <a:pPr indent="0" marL="0">
              <a:buNone/>
            </a:pPr>
            <a:r>
              <a:rPr lang="en-US" sz="1300" dirty="0">
                <a:solidFill>
                  <a:srgbClr val="3F4F5A"/>
                </a:solidFill>
                <a:latin typeface="Calibri" pitchFamily="34" charset="0"/>
                <a:ea typeface="Calibri" pitchFamily="34" charset="-122"/>
                <a:cs typeface="Calibri" pitchFamily="34" charset="-120"/>
              </a:rPr>
              <a:t>Pruning, lượng tử hóa, chia sẻ trọng số. Giảm bộ nhớ và băng thông nhờ tính toán số nguyên thay vì dấu phẩy động.</a:t>
            </a:r>
            <a:endParaRPr lang="en-US" sz="1300" dirty="0"/>
          </a:p>
        </p:txBody>
      </p:sp>
      <p:sp>
        <p:nvSpPr>
          <p:cNvPr id="13" name="Shape 10"/>
          <p:cNvSpPr/>
          <p:nvPr/>
        </p:nvSpPr>
        <p:spPr>
          <a:xfrm>
            <a:off x="457200" y="2880360"/>
            <a:ext cx="4023360" cy="1737360"/>
          </a:xfrm>
          <a:prstGeom prst="roundRect">
            <a:avLst>
              <a:gd name="adj" fmla="val 4211"/>
            </a:avLst>
          </a:prstGeom>
          <a:solidFill>
            <a:srgbClr val="FBFBF8"/>
          </a:solidFill>
          <a:ln w="9525">
            <a:solidFill>
              <a:srgbClr val="D9DDD8"/>
            </a:solidFill>
            <a:prstDash val="solid"/>
          </a:ln>
        </p:spPr>
      </p:sp>
      <p:sp>
        <p:nvSpPr>
          <p:cNvPr id="14" name="Text 11"/>
          <p:cNvSpPr txBox="1"/>
          <p:nvPr/>
        </p:nvSpPr>
        <p:spPr>
          <a:xfrm>
            <a:off x="585216" y="299008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Lượng tử hóa cực đoan</a:t>
            </a:r>
            <a:endParaRPr lang="en-US" sz="1500" dirty="0"/>
          </a:p>
        </p:txBody>
      </p:sp>
      <p:sp>
        <p:nvSpPr>
          <p:cNvPr id="15" name="Text 12"/>
          <p:cNvSpPr txBox="1"/>
          <p:nvPr/>
        </p:nvSpPr>
        <p:spPr>
          <a:xfrm>
            <a:off x="585216" y="3300984"/>
            <a:ext cx="3767328" cy="1243584"/>
          </a:xfrm>
          <a:prstGeom prst="rect">
            <a:avLst/>
          </a:prstGeom>
          <a:noFill/>
          <a:ln/>
        </p:spPr>
        <p:txBody>
          <a:bodyPr wrap="square" lIns="0" tIns="0" rIns="0" bIns="0" rtlCol="0" anchor="t"/>
          <a:lstStyle/>
          <a:p>
            <a:pPr indent="0" marL="0">
              <a:buNone/>
            </a:pPr>
            <a:r>
              <a:rPr lang="en-US" sz="1300" dirty="0">
                <a:solidFill>
                  <a:srgbClr val="3F4F5A"/>
                </a:solidFill>
                <a:latin typeface="Calibri" pitchFamily="34" charset="0"/>
                <a:ea typeface="Calibri" pitchFamily="34" charset="-122"/>
                <a:cs typeface="Calibri" pitchFamily="34" charset="-120"/>
              </a:rPr>
              <a:t>BNN, XNOR-Net, DoReFa-Net: dùng 1-2 bit, suy luận số nguyên cho phần cứng công suất thấp. Bài này chọn mức vừa phải: INT4 (INT8 ở lớp đầu và cuối).</a:t>
            </a:r>
            <a:endParaRPr lang="en-US" sz="1300" dirty="0"/>
          </a:p>
        </p:txBody>
      </p:sp>
      <p:sp>
        <p:nvSpPr>
          <p:cNvPr id="16" name="Shape 13"/>
          <p:cNvSpPr/>
          <p:nvPr/>
        </p:nvSpPr>
        <p:spPr>
          <a:xfrm>
            <a:off x="4663440" y="2880360"/>
            <a:ext cx="4023360" cy="1737360"/>
          </a:xfrm>
          <a:prstGeom prst="roundRect">
            <a:avLst>
              <a:gd name="adj" fmla="val 4211"/>
            </a:avLst>
          </a:prstGeom>
          <a:solidFill>
            <a:srgbClr val="FBFBF8"/>
          </a:solidFill>
          <a:ln w="9525">
            <a:solidFill>
              <a:srgbClr val="D9DDD8"/>
            </a:solidFill>
            <a:prstDash val="solid"/>
          </a:ln>
        </p:spPr>
      </p:sp>
      <p:sp>
        <p:nvSpPr>
          <p:cNvPr id="17" name="Text 14"/>
          <p:cNvSpPr txBox="1"/>
          <p:nvPr/>
        </p:nvSpPr>
        <p:spPr>
          <a:xfrm>
            <a:off x="4791456" y="299008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Vì sao quan trọng với FPGA</a:t>
            </a:r>
            <a:endParaRPr lang="en-US" sz="1500" dirty="0"/>
          </a:p>
        </p:txBody>
      </p:sp>
      <p:sp>
        <p:nvSpPr>
          <p:cNvPr id="18" name="Text 15"/>
          <p:cNvSpPr txBox="1"/>
          <p:nvPr/>
        </p:nvSpPr>
        <p:spPr>
          <a:xfrm>
            <a:off x="4791456" y="3300984"/>
            <a:ext cx="3767328" cy="1243584"/>
          </a:xfrm>
          <a:prstGeom prst="rect">
            <a:avLst/>
          </a:prstGeom>
          <a:noFill/>
          <a:ln/>
        </p:spPr>
        <p:txBody>
          <a:bodyPr wrap="square" lIns="0" tIns="0" rIns="0" bIns="0" rtlCol="0" anchor="t"/>
          <a:lstStyle/>
          <a:p>
            <a:pPr indent="0" marL="0">
              <a:buNone/>
            </a:pPr>
            <a:r>
              <a:rPr lang="en-US" sz="1300" dirty="0">
                <a:solidFill>
                  <a:srgbClr val="3F4F5A"/>
                </a:solidFill>
                <a:latin typeface="Calibri" pitchFamily="34" charset="0"/>
                <a:ea typeface="Calibri" pitchFamily="34" charset="-122"/>
                <a:cs typeface="Calibri" pitchFamily="34" charset="-120"/>
              </a:rPr>
              <a:t>Số bit nhỏ cho phép đóng gói nhiều MAC trong một DSP (4 MAC/DSP với 4 bit) và giữ toàn bộ trọng số trong BRAM trên chip.</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KHOẢNG TRỐNG VÀ PHẠM VI</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Ba khoảng trống và cách bài báo trả lời</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7 / 42</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4114800"/>
                <a:gridCol w="4114800"/>
              </a:tblGrid>
              <a:tr h="5943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Khoảng trống (mục 2.5)</a:t>
                      </a:r>
                      <a:endParaRPr lang="en-US" sz="14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Đáp ứng trong bài</a:t>
                      </a:r>
                      <a:endParaRPr lang="en-US" sz="14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594360">
                <a:tc>
                  <a:txBody>
                    <a:bodyPr/>
                    <a:lstStyle/>
                    <a:p>
                      <a:pPr indent="0" marL="0">
                        <a:buNone/>
                      </a:pPr>
                      <a:r>
                        <a:rPr lang="en-US" sz="1400" dirty="0">
                          <a:solidFill>
                            <a:srgbClr val="14232E"/>
                          </a:solidFill>
                          <a:latin typeface="Calibri" pitchFamily="34" charset="0"/>
                          <a:ea typeface="Calibri" pitchFamily="34" charset="-122"/>
                          <a:cs typeface="Calibri" pitchFamily="34" charset="-120"/>
                        </a:rPr>
                        <a:t>(i) Hầu hết FPGA accelerator nhắm thiết bị cao cấp</a:t>
                      </a:r>
                      <a:endParaRPr lang="en-US" sz="14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400" dirty="0">
                          <a:solidFill>
                            <a:srgbClr val="14232E"/>
                          </a:solidFill>
                          <a:latin typeface="Calibri" pitchFamily="34" charset="0"/>
                          <a:ea typeface="Calibri" pitchFamily="34" charset="-122"/>
                          <a:cs typeface="Calibri" pitchFamily="34" charset="-120"/>
                        </a:rPr>
                        <a:t>Zynq-7020: ~100–150 €, vài watt</a:t>
                      </a:r>
                      <a:endParaRPr lang="en-US" sz="14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594360">
                <a:tc>
                  <a:txBody>
                    <a:bodyPr/>
                    <a:lstStyle/>
                    <a:p>
                      <a:pPr indent="0" marL="0">
                        <a:buNone/>
                      </a:pPr>
                      <a:r>
                        <a:rPr lang="en-US" sz="1400" dirty="0">
                          <a:solidFill>
                            <a:srgbClr val="14232E"/>
                          </a:solidFill>
                          <a:latin typeface="Calibri" pitchFamily="34" charset="0"/>
                          <a:ea typeface="Calibri" pitchFamily="34" charset="-122"/>
                          <a:cs typeface="Calibri" pitchFamily="34" charset="-120"/>
                        </a:rPr>
                        <a:t>(ii) Chuỗi công cụ huấn luyện đến triển khai còn thiếu</a:t>
                      </a:r>
                      <a:endParaRPr lang="en-US" sz="14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400" dirty="0">
                          <a:solidFill>
                            <a:srgbClr val="14232E"/>
                          </a:solidFill>
                          <a:latin typeface="Calibri" pitchFamily="34" charset="0"/>
                          <a:ea typeface="Calibri" pitchFamily="34" charset="-122"/>
                          <a:cs typeface="Calibri" pitchFamily="34" charset="-120"/>
                        </a:rPr>
                        <a:t>Brevitas, QONNX, FINN, PYNQ, driver .fnn, mã nguồn công khai</a:t>
                      </a:r>
                      <a:endParaRPr lang="en-US" sz="14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594360">
                <a:tc>
                  <a:txBody>
                    <a:bodyPr/>
                    <a:lstStyle/>
                    <a:p>
                      <a:pPr indent="0" marL="0">
                        <a:buNone/>
                      </a:pPr>
                      <a:r>
                        <a:rPr lang="en-US" sz="1400" dirty="0">
                          <a:solidFill>
                            <a:srgbClr val="14232E"/>
                          </a:solidFill>
                          <a:latin typeface="Calibri" pitchFamily="34" charset="0"/>
                          <a:ea typeface="Calibri" pitchFamily="34" charset="-122"/>
                          <a:cs typeface="Calibri" pitchFamily="34" charset="-120"/>
                        </a:rPr>
                        <a:t>(iii) Ít báo cáo FPS/W có hệ thống</a:t>
                      </a:r>
                      <a:endParaRPr lang="en-US" sz="14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400" dirty="0">
                          <a:solidFill>
                            <a:srgbClr val="14232E"/>
                          </a:solidFill>
                          <a:latin typeface="Calibri" pitchFamily="34" charset="0"/>
                          <a:ea typeface="Calibri" pitchFamily="34" charset="-122"/>
                          <a:cs typeface="Calibri" pitchFamily="34" charset="-120"/>
                        </a:rPr>
                        <a:t>Đo công suất thật ở 3 tần số, so với Coral và 4 công trình FPGA</a:t>
                      </a:r>
                      <a:endParaRPr lang="en-US" sz="14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bl>
          </a:graphicData>
        </a:graphic>
      </p:graphicFrame>
      <p:sp>
        <p:nvSpPr>
          <p:cNvPr id="8" name="Shape 4"/>
          <p:cNvSpPr/>
          <p:nvPr/>
        </p:nvSpPr>
        <p:spPr>
          <a:xfrm>
            <a:off x="457200" y="3840480"/>
            <a:ext cx="8229600" cy="777240"/>
          </a:xfrm>
          <a:prstGeom prst="roundRect">
            <a:avLst>
              <a:gd name="adj" fmla="val 9412"/>
            </a:avLst>
          </a:prstGeom>
          <a:solidFill>
            <a:srgbClr val="FBFBF8"/>
          </a:solidFill>
          <a:ln w="9525">
            <a:solidFill>
              <a:srgbClr val="D9DDD8"/>
            </a:solidFill>
            <a:prstDash val="solid"/>
          </a:ln>
        </p:spPr>
      </p:sp>
      <p:sp>
        <p:nvSpPr>
          <p:cNvPr id="9" name="Text 5"/>
          <p:cNvSpPr txBox="1"/>
          <p:nvPr/>
        </p:nvSpPr>
        <p:spPr>
          <a:xfrm>
            <a:off x="585216" y="3950208"/>
            <a:ext cx="7973568" cy="594360"/>
          </a:xfrm>
          <a:prstGeom prst="rect">
            <a:avLst/>
          </a:prstGeom>
          <a:noFill/>
          <a:ln/>
        </p:spPr>
        <p:txBody>
          <a:bodyPr wrap="square" lIns="0" tIns="0" rIns="0" bIns="0" rtlCol="0" anchor="t"/>
          <a:lstStyle/>
          <a:p>
            <a:pPr indent="0" marL="0">
              <a:buNone/>
            </a:pPr>
            <a:r>
              <a:rPr lang="en-US" sz="1400" dirty="0">
                <a:solidFill>
                  <a:srgbClr val="3F4F5A"/>
                </a:solidFill>
                <a:latin typeface="Calibri" pitchFamily="34" charset="0"/>
                <a:ea typeface="Calibri" pitchFamily="34" charset="-122"/>
                <a:cs typeface="Calibri" pitchFamily="34" charset="-120"/>
              </a:rPr>
              <a:t>Phạm vi: không tối đa hóa độ chính xác. Mô hình chỉ là vật thử để đẩy tối đa tài nguyên và thông lượng, và để chứng minh quy trình.</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CÔNG CỤ FPGA</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So sánh các toolflow cho Zynq-7000</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8 / 42</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371600"/>
                <a:gridCol w="2011680"/>
                <a:gridCol w="3840480"/>
                <a:gridCol w="100584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Công cụ</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Mô hình</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Vấn đề với Zynq-7020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Kết luận</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502920">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Vitis AI (DPU)</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Lõi MAC cố định</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Ngừng hỗ trợ Zynq-7000; thiết bị đích trên 10 W, từ 300 $</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Loại</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502920">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NVDLA</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Mã nguồn mở, IP dựng sẵn</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Vài FPS cho AlexNet ngay cả Kintex-7</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Loại</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502920">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NN2FPGA</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Streaming, chỉ HLS</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Chưa có ví dụ trên board nhỏ; flow chưa chín</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Loại</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502920">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fpgaConvNet</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Streaming + tái cấu hình từng phần</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Tốn LUT/BRAM/DSP; reconfig vài chục ms; YOLOv3-Tiny bị hạn chế</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Loại</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502920">
                <a:tc>
                  <a:txBody>
                    <a:bodyPr/>
                    <a:lstStyle/>
                    <a:p>
                      <a:pPr indent="0" marL="0">
                        <a:buNone/>
                      </a:pPr>
                      <a:r>
                        <a:rPr lang="en-US" sz="1200" b="1" dirty="0">
                          <a:solidFill>
                            <a:srgbClr val="14232E"/>
                          </a:solidFill>
                          <a:latin typeface="Calibri" pitchFamily="34" charset="0"/>
                          <a:ea typeface="Calibri" pitchFamily="34" charset="-122"/>
                          <a:cs typeface="Calibri" pitchFamily="34" charset="-120"/>
                        </a:rPr>
                        <a:t>FINN 0.10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b="1" dirty="0">
                          <a:solidFill>
                            <a:srgbClr val="14232E"/>
                          </a:solidFill>
                          <a:latin typeface="Calibri" pitchFamily="34" charset="0"/>
                          <a:ea typeface="Calibri" pitchFamily="34" charset="-122"/>
                          <a:cs typeface="Calibri" pitchFamily="34" charset="-120"/>
                        </a:rPr>
                        <a:t>Streaming, RTL + HLS</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b="1" dirty="0">
                          <a:solidFill>
                            <a:srgbClr val="14232E"/>
                          </a:solidFill>
                          <a:latin typeface="Calibri" pitchFamily="34" charset="0"/>
                          <a:ea typeface="Calibri" pitchFamily="34" charset="-122"/>
                          <a:cs typeface="Calibri" pitchFamily="34" charset="-120"/>
                        </a:rPr>
                        <a:t>Chín muồi, hệ sinh thái tích cực, RTL tiết kiệm logic</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b="1" dirty="0">
                          <a:solidFill>
                            <a:srgbClr val="14232E"/>
                          </a:solidFill>
                          <a:latin typeface="Calibri" pitchFamily="34" charset="0"/>
                          <a:ea typeface="Calibri" pitchFamily="34" charset="-122"/>
                          <a:cs typeface="Calibri" pitchFamily="34" charset="-120"/>
                        </a:rPr>
                        <a:t>Chọn</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FINN</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Streaming dataflow: mỗi lớp một mô-đun</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9 / 42</a:t>
            </a:r>
            <a:endParaRPr lang="en-US" sz="900" dirty="0"/>
          </a:p>
        </p:txBody>
      </p:sp>
      <p:sp>
        <p:nvSpPr>
          <p:cNvPr id="7" name="Shape 4"/>
          <p:cNvSpPr/>
          <p:nvPr/>
        </p:nvSpPr>
        <p:spPr>
          <a:xfrm>
            <a:off x="457200" y="1234440"/>
            <a:ext cx="1517904" cy="1463040"/>
          </a:xfrm>
          <a:prstGeom prst="roundRect">
            <a:avLst>
              <a:gd name="adj" fmla="val 5000"/>
            </a:avLst>
          </a:prstGeom>
          <a:solidFill>
            <a:srgbClr val="FBFBF8"/>
          </a:solidFill>
          <a:ln w="9525">
            <a:solidFill>
              <a:srgbClr val="D9DDD8"/>
            </a:solidFill>
            <a:prstDash val="solid"/>
          </a:ln>
        </p:spPr>
      </p:sp>
      <p:sp>
        <p:nvSpPr>
          <p:cNvPr id="8" name="Text 5"/>
          <p:cNvSpPr txBox="1"/>
          <p:nvPr/>
        </p:nvSpPr>
        <p:spPr>
          <a:xfrm>
            <a:off x="585216" y="1344168"/>
            <a:ext cx="1261872" cy="274320"/>
          </a:xfrm>
          <a:prstGeom prst="rect">
            <a:avLst/>
          </a:prstGeom>
          <a:noFill/>
          <a:ln/>
        </p:spPr>
        <p:txBody>
          <a:bodyPr wrap="square" lIns="0" tIns="0" rIns="0" bIns="0" rtlCol="0" anchor="t"/>
          <a:lstStyle/>
          <a:p>
            <a:pPr indent="0" marL="0">
              <a:buNone/>
            </a:pPr>
            <a:r>
              <a:rPr lang="en-US" sz="1400" b="1" dirty="0">
                <a:solidFill>
                  <a:srgbClr val="14232E"/>
                </a:solidFill>
                <a:latin typeface="Calibri" pitchFamily="34" charset="0"/>
                <a:ea typeface="Calibri" pitchFamily="34" charset="-122"/>
                <a:cs typeface="Calibri" pitchFamily="34" charset="-120"/>
              </a:rPr>
              <a:t>QONNX</a:t>
            </a:r>
            <a:endParaRPr lang="en-US" sz="1400" dirty="0"/>
          </a:p>
        </p:txBody>
      </p:sp>
      <p:sp>
        <p:nvSpPr>
          <p:cNvPr id="9" name="Text 6"/>
          <p:cNvSpPr txBox="1"/>
          <p:nvPr/>
        </p:nvSpPr>
        <p:spPr>
          <a:xfrm>
            <a:off x="585216" y="1655064"/>
            <a:ext cx="1261872" cy="969264"/>
          </a:xfrm>
          <a:prstGeom prst="rect">
            <a:avLst/>
          </a:prstGeom>
          <a:noFill/>
          <a:ln/>
        </p:spPr>
        <p:txBody>
          <a:bodyPr wrap="square" lIns="0" tIns="0" rIns="0" bIns="0" rtlCol="0" anchor="t"/>
          <a:lstStyle/>
          <a:p>
            <a:pPr indent="0" marL="0">
              <a:buNone/>
            </a:pPr>
            <a:r>
              <a:rPr lang="en-US" sz="1200" dirty="0">
                <a:solidFill>
                  <a:srgbClr val="3F4F5A"/>
                </a:solidFill>
                <a:latin typeface="Calibri" pitchFamily="34" charset="0"/>
                <a:ea typeface="Calibri" pitchFamily="34" charset="-122"/>
                <a:cs typeface="Calibri" pitchFamily="34" charset="-120"/>
              </a:rPr>
              <a:t>Mạng lượng tử hóa, kèm thông tin bit</a:t>
            </a:r>
            <a:endParaRPr lang="en-US" sz="1200" dirty="0"/>
          </a:p>
        </p:txBody>
      </p:sp>
      <p:sp>
        <p:nvSpPr>
          <p:cNvPr id="10" name="Shape 7"/>
          <p:cNvSpPr/>
          <p:nvPr/>
        </p:nvSpPr>
        <p:spPr>
          <a:xfrm>
            <a:off x="1984248" y="1874520"/>
            <a:ext cx="146304" cy="201168"/>
          </a:xfrm>
          <a:prstGeom prst="rightArrow">
            <a:avLst/>
          </a:prstGeom>
          <a:solidFill>
            <a:srgbClr val="1E7F78"/>
          </a:solidFill>
          <a:ln w="12700">
            <a:solidFill>
              <a:srgbClr val="1E7F78"/>
            </a:solidFill>
            <a:prstDash val="solid"/>
          </a:ln>
        </p:spPr>
      </p:sp>
      <p:sp>
        <p:nvSpPr>
          <p:cNvPr id="11" name="Shape 8"/>
          <p:cNvSpPr/>
          <p:nvPr/>
        </p:nvSpPr>
        <p:spPr>
          <a:xfrm>
            <a:off x="2121408" y="1234440"/>
            <a:ext cx="1517904" cy="1463040"/>
          </a:xfrm>
          <a:prstGeom prst="roundRect">
            <a:avLst>
              <a:gd name="adj" fmla="val 5000"/>
            </a:avLst>
          </a:prstGeom>
          <a:solidFill>
            <a:srgbClr val="FBFBF8"/>
          </a:solidFill>
          <a:ln w="9525">
            <a:solidFill>
              <a:srgbClr val="D9DDD8"/>
            </a:solidFill>
            <a:prstDash val="solid"/>
          </a:ln>
        </p:spPr>
      </p:sp>
      <p:sp>
        <p:nvSpPr>
          <p:cNvPr id="12" name="Text 9"/>
          <p:cNvSpPr txBox="1"/>
          <p:nvPr/>
        </p:nvSpPr>
        <p:spPr>
          <a:xfrm>
            <a:off x="2249424" y="1344168"/>
            <a:ext cx="1261872" cy="274320"/>
          </a:xfrm>
          <a:prstGeom prst="rect">
            <a:avLst/>
          </a:prstGeom>
          <a:noFill/>
          <a:ln/>
        </p:spPr>
        <p:txBody>
          <a:bodyPr wrap="square" lIns="0" tIns="0" rIns="0" bIns="0" rtlCol="0" anchor="t"/>
          <a:lstStyle/>
          <a:p>
            <a:pPr indent="0" marL="0">
              <a:buNone/>
            </a:pPr>
            <a:r>
              <a:rPr lang="en-US" sz="1400" b="1" dirty="0">
                <a:solidFill>
                  <a:srgbClr val="14232E"/>
                </a:solidFill>
                <a:latin typeface="Calibri" pitchFamily="34" charset="0"/>
                <a:ea typeface="Calibri" pitchFamily="34" charset="-122"/>
                <a:cs typeface="Calibri" pitchFamily="34" charset="-120"/>
              </a:rPr>
              <a:t>Biến đổi</a:t>
            </a:r>
            <a:endParaRPr lang="en-US" sz="1400" dirty="0"/>
          </a:p>
        </p:txBody>
      </p:sp>
      <p:sp>
        <p:nvSpPr>
          <p:cNvPr id="13" name="Text 10"/>
          <p:cNvSpPr txBox="1"/>
          <p:nvPr/>
        </p:nvSpPr>
        <p:spPr>
          <a:xfrm>
            <a:off x="2249424" y="1655064"/>
            <a:ext cx="1261872" cy="969264"/>
          </a:xfrm>
          <a:prstGeom prst="rect">
            <a:avLst/>
          </a:prstGeom>
          <a:noFill/>
          <a:ln/>
        </p:spPr>
        <p:txBody>
          <a:bodyPr wrap="square" lIns="0" tIns="0" rIns="0" bIns="0" rtlCol="0" anchor="t"/>
          <a:lstStyle/>
          <a:p>
            <a:pPr indent="0" marL="0">
              <a:buNone/>
            </a:pPr>
            <a:r>
              <a:rPr lang="en-US" sz="1200" dirty="0">
                <a:solidFill>
                  <a:srgbClr val="3F4F5A"/>
                </a:solidFill>
                <a:latin typeface="Calibri" pitchFamily="34" charset="0"/>
                <a:ea typeface="Calibri" pitchFamily="34" charset="-122"/>
                <a:cs typeface="Calibri" pitchFamily="34" charset="-120"/>
              </a:rPr>
              <a:t>Mỗi nút thành mô-đun phần cứng</a:t>
            </a:r>
            <a:endParaRPr lang="en-US" sz="1200" dirty="0"/>
          </a:p>
        </p:txBody>
      </p:sp>
      <p:sp>
        <p:nvSpPr>
          <p:cNvPr id="14" name="Shape 11"/>
          <p:cNvSpPr/>
          <p:nvPr/>
        </p:nvSpPr>
        <p:spPr>
          <a:xfrm>
            <a:off x="3648456" y="1874520"/>
            <a:ext cx="146304" cy="201168"/>
          </a:xfrm>
          <a:prstGeom prst="rightArrow">
            <a:avLst/>
          </a:prstGeom>
          <a:solidFill>
            <a:srgbClr val="1E7F78"/>
          </a:solidFill>
          <a:ln w="12700">
            <a:solidFill>
              <a:srgbClr val="1E7F78"/>
            </a:solidFill>
            <a:prstDash val="solid"/>
          </a:ln>
        </p:spPr>
      </p:sp>
      <p:sp>
        <p:nvSpPr>
          <p:cNvPr id="15" name="Shape 12"/>
          <p:cNvSpPr/>
          <p:nvPr/>
        </p:nvSpPr>
        <p:spPr>
          <a:xfrm>
            <a:off x="3785616" y="1234440"/>
            <a:ext cx="1517904" cy="1463040"/>
          </a:xfrm>
          <a:prstGeom prst="roundRect">
            <a:avLst>
              <a:gd name="adj" fmla="val 5000"/>
            </a:avLst>
          </a:prstGeom>
          <a:solidFill>
            <a:srgbClr val="FBFBF8"/>
          </a:solidFill>
          <a:ln w="9525">
            <a:solidFill>
              <a:srgbClr val="D9DDD8"/>
            </a:solidFill>
            <a:prstDash val="solid"/>
          </a:ln>
        </p:spPr>
      </p:sp>
      <p:sp>
        <p:nvSpPr>
          <p:cNvPr id="16" name="Text 13"/>
          <p:cNvSpPr txBox="1"/>
          <p:nvPr/>
        </p:nvSpPr>
        <p:spPr>
          <a:xfrm>
            <a:off x="3913632" y="1344168"/>
            <a:ext cx="1261872" cy="274320"/>
          </a:xfrm>
          <a:prstGeom prst="rect">
            <a:avLst/>
          </a:prstGeom>
          <a:noFill/>
          <a:ln/>
        </p:spPr>
        <p:txBody>
          <a:bodyPr wrap="square" lIns="0" tIns="0" rIns="0" bIns="0" rtlCol="0" anchor="t"/>
          <a:lstStyle/>
          <a:p>
            <a:pPr indent="0" marL="0">
              <a:buNone/>
            </a:pPr>
            <a:r>
              <a:rPr lang="en-US" sz="1400" b="1" dirty="0">
                <a:solidFill>
                  <a:srgbClr val="14232E"/>
                </a:solidFill>
                <a:latin typeface="Calibri" pitchFamily="34" charset="0"/>
                <a:ea typeface="Calibri" pitchFamily="34" charset="-122"/>
                <a:cs typeface="Calibri" pitchFamily="34" charset="-120"/>
              </a:rPr>
              <a:t>Mô-đun</a:t>
            </a:r>
            <a:endParaRPr lang="en-US" sz="1400" dirty="0"/>
          </a:p>
        </p:txBody>
      </p:sp>
      <p:sp>
        <p:nvSpPr>
          <p:cNvPr id="17" name="Text 14"/>
          <p:cNvSpPr txBox="1"/>
          <p:nvPr/>
        </p:nvSpPr>
        <p:spPr>
          <a:xfrm>
            <a:off x="3913632" y="1655064"/>
            <a:ext cx="1261872" cy="969264"/>
          </a:xfrm>
          <a:prstGeom prst="rect">
            <a:avLst/>
          </a:prstGeom>
          <a:noFill/>
          <a:ln/>
        </p:spPr>
        <p:txBody>
          <a:bodyPr wrap="square" lIns="0" tIns="0" rIns="0" bIns="0" rtlCol="0" anchor="t"/>
          <a:lstStyle/>
          <a:p>
            <a:pPr indent="0" marL="0">
              <a:buNone/>
            </a:pPr>
            <a:r>
              <a:rPr lang="en-US" sz="1200" dirty="0">
                <a:solidFill>
                  <a:srgbClr val="3F4F5A"/>
                </a:solidFill>
                <a:latin typeface="Calibri" pitchFamily="34" charset="0"/>
                <a:ea typeface="Calibri" pitchFamily="34" charset="-122"/>
                <a:cs typeface="Calibri" pitchFamily="34" charset="-120"/>
              </a:rPr>
              <a:t>HLS (Vitis) hoặc RTL (SystemVerilog)</a:t>
            </a:r>
            <a:endParaRPr lang="en-US" sz="1200" dirty="0"/>
          </a:p>
        </p:txBody>
      </p:sp>
      <p:sp>
        <p:nvSpPr>
          <p:cNvPr id="18" name="Shape 15"/>
          <p:cNvSpPr/>
          <p:nvPr/>
        </p:nvSpPr>
        <p:spPr>
          <a:xfrm>
            <a:off x="5312664" y="1874520"/>
            <a:ext cx="146304" cy="201168"/>
          </a:xfrm>
          <a:prstGeom prst="rightArrow">
            <a:avLst/>
          </a:prstGeom>
          <a:solidFill>
            <a:srgbClr val="1E7F78"/>
          </a:solidFill>
          <a:ln w="12700">
            <a:solidFill>
              <a:srgbClr val="1E7F78"/>
            </a:solidFill>
            <a:prstDash val="solid"/>
          </a:ln>
        </p:spPr>
      </p:sp>
      <p:sp>
        <p:nvSpPr>
          <p:cNvPr id="19" name="Shape 16"/>
          <p:cNvSpPr/>
          <p:nvPr/>
        </p:nvSpPr>
        <p:spPr>
          <a:xfrm>
            <a:off x="5449824" y="1234440"/>
            <a:ext cx="1517904" cy="1463040"/>
          </a:xfrm>
          <a:prstGeom prst="roundRect">
            <a:avLst>
              <a:gd name="adj" fmla="val 5000"/>
            </a:avLst>
          </a:prstGeom>
          <a:solidFill>
            <a:srgbClr val="FBFBF8"/>
          </a:solidFill>
          <a:ln w="9525">
            <a:solidFill>
              <a:srgbClr val="D9DDD8"/>
            </a:solidFill>
            <a:prstDash val="solid"/>
          </a:ln>
        </p:spPr>
      </p:sp>
      <p:sp>
        <p:nvSpPr>
          <p:cNvPr id="20" name="Text 17"/>
          <p:cNvSpPr txBox="1"/>
          <p:nvPr/>
        </p:nvSpPr>
        <p:spPr>
          <a:xfrm>
            <a:off x="5577840" y="1344168"/>
            <a:ext cx="1261872" cy="274320"/>
          </a:xfrm>
          <a:prstGeom prst="rect">
            <a:avLst/>
          </a:prstGeom>
          <a:noFill/>
          <a:ln/>
        </p:spPr>
        <p:txBody>
          <a:bodyPr wrap="square" lIns="0" tIns="0" rIns="0" bIns="0" rtlCol="0" anchor="t"/>
          <a:lstStyle/>
          <a:p>
            <a:pPr indent="0" marL="0">
              <a:buNone/>
            </a:pPr>
            <a:r>
              <a:rPr lang="en-US" sz="1400" b="1" dirty="0">
                <a:solidFill>
                  <a:srgbClr val="14232E"/>
                </a:solidFill>
                <a:latin typeface="Calibri" pitchFamily="34" charset="0"/>
                <a:ea typeface="Calibri" pitchFamily="34" charset="-122"/>
                <a:cs typeface="Calibri" pitchFamily="34" charset="-120"/>
              </a:rPr>
              <a:t>IP ghép</a:t>
            </a:r>
            <a:endParaRPr lang="en-US" sz="1400" dirty="0"/>
          </a:p>
        </p:txBody>
      </p:sp>
      <p:sp>
        <p:nvSpPr>
          <p:cNvPr id="21" name="Text 18"/>
          <p:cNvSpPr txBox="1"/>
          <p:nvPr/>
        </p:nvSpPr>
        <p:spPr>
          <a:xfrm>
            <a:off x="5577840" y="1655064"/>
            <a:ext cx="1261872" cy="969264"/>
          </a:xfrm>
          <a:prstGeom prst="rect">
            <a:avLst/>
          </a:prstGeom>
          <a:noFill/>
          <a:ln/>
        </p:spPr>
        <p:txBody>
          <a:bodyPr wrap="square" lIns="0" tIns="0" rIns="0" bIns="0" rtlCol="0" anchor="t"/>
          <a:lstStyle/>
          <a:p>
            <a:pPr indent="0" marL="0">
              <a:buNone/>
            </a:pPr>
            <a:r>
              <a:rPr lang="en-US" sz="1200" dirty="0">
                <a:solidFill>
                  <a:srgbClr val="3F4F5A"/>
                </a:solidFill>
                <a:latin typeface="Calibri" pitchFamily="34" charset="0"/>
                <a:ea typeface="Calibri" pitchFamily="34" charset="-122"/>
                <a:cs typeface="Calibri" pitchFamily="34" charset="-120"/>
              </a:rPr>
              <a:t>Nối bằng luồng AXI-Stream</a:t>
            </a:r>
            <a:endParaRPr lang="en-US" sz="1200" dirty="0"/>
          </a:p>
        </p:txBody>
      </p:sp>
      <p:sp>
        <p:nvSpPr>
          <p:cNvPr id="22" name="Shape 19"/>
          <p:cNvSpPr/>
          <p:nvPr/>
        </p:nvSpPr>
        <p:spPr>
          <a:xfrm>
            <a:off x="6976872" y="1874520"/>
            <a:ext cx="146304" cy="201168"/>
          </a:xfrm>
          <a:prstGeom prst="rightArrow">
            <a:avLst/>
          </a:prstGeom>
          <a:solidFill>
            <a:srgbClr val="1E7F78"/>
          </a:solidFill>
          <a:ln w="12700">
            <a:solidFill>
              <a:srgbClr val="1E7F78"/>
            </a:solidFill>
            <a:prstDash val="solid"/>
          </a:ln>
        </p:spPr>
      </p:sp>
      <p:sp>
        <p:nvSpPr>
          <p:cNvPr id="23" name="Shape 20"/>
          <p:cNvSpPr/>
          <p:nvPr/>
        </p:nvSpPr>
        <p:spPr>
          <a:xfrm>
            <a:off x="7114032" y="1234440"/>
            <a:ext cx="1517904" cy="1463040"/>
          </a:xfrm>
          <a:prstGeom prst="roundRect">
            <a:avLst>
              <a:gd name="adj" fmla="val 5000"/>
            </a:avLst>
          </a:prstGeom>
          <a:solidFill>
            <a:srgbClr val="FBFBF8"/>
          </a:solidFill>
          <a:ln w="9525">
            <a:solidFill>
              <a:srgbClr val="D9DDD8"/>
            </a:solidFill>
            <a:prstDash val="solid"/>
          </a:ln>
        </p:spPr>
      </p:sp>
      <p:sp>
        <p:nvSpPr>
          <p:cNvPr id="24" name="Text 21"/>
          <p:cNvSpPr txBox="1"/>
          <p:nvPr/>
        </p:nvSpPr>
        <p:spPr>
          <a:xfrm>
            <a:off x="7242048" y="1344168"/>
            <a:ext cx="1261872" cy="274320"/>
          </a:xfrm>
          <a:prstGeom prst="rect">
            <a:avLst/>
          </a:prstGeom>
          <a:noFill/>
          <a:ln/>
        </p:spPr>
        <p:txBody>
          <a:bodyPr wrap="square" lIns="0" tIns="0" rIns="0" bIns="0" rtlCol="0" anchor="t"/>
          <a:lstStyle/>
          <a:p>
            <a:pPr indent="0" marL="0">
              <a:buNone/>
            </a:pPr>
            <a:r>
              <a:rPr lang="en-US" sz="1400" b="1" dirty="0">
                <a:solidFill>
                  <a:srgbClr val="14232E"/>
                </a:solidFill>
                <a:latin typeface="Calibri" pitchFamily="34" charset="0"/>
                <a:ea typeface="Calibri" pitchFamily="34" charset="-122"/>
                <a:cs typeface="Calibri" pitchFamily="34" charset="-120"/>
              </a:rPr>
              <a:t>Bitstream</a:t>
            </a:r>
            <a:endParaRPr lang="en-US" sz="1400" dirty="0"/>
          </a:p>
        </p:txBody>
      </p:sp>
      <p:sp>
        <p:nvSpPr>
          <p:cNvPr id="25" name="Text 22"/>
          <p:cNvSpPr txBox="1"/>
          <p:nvPr/>
        </p:nvSpPr>
        <p:spPr>
          <a:xfrm>
            <a:off x="7242048" y="1655064"/>
            <a:ext cx="1261872" cy="969264"/>
          </a:xfrm>
          <a:prstGeom prst="rect">
            <a:avLst/>
          </a:prstGeom>
          <a:noFill/>
          <a:ln/>
        </p:spPr>
        <p:txBody>
          <a:bodyPr wrap="square" lIns="0" tIns="0" rIns="0" bIns="0" rtlCol="0" anchor="t"/>
          <a:lstStyle/>
          <a:p>
            <a:pPr indent="0" marL="0">
              <a:buNone/>
            </a:pPr>
            <a:r>
              <a:rPr lang="en-US" sz="1200" dirty="0">
                <a:solidFill>
                  <a:srgbClr val="3F4F5A"/>
                </a:solidFill>
                <a:latin typeface="Calibri" pitchFamily="34" charset="0"/>
                <a:ea typeface="Calibri" pitchFamily="34" charset="-122"/>
                <a:cs typeface="Calibri" pitchFamily="34" charset="-120"/>
              </a:rPr>
              <a:t>Vivado tổng hợp, place &amp; route</a:t>
            </a:r>
            <a:endParaRPr lang="en-US" sz="1200" dirty="0"/>
          </a:p>
        </p:txBody>
      </p:sp>
      <p:sp>
        <p:nvSpPr>
          <p:cNvPr id="26" name="Shape 23"/>
          <p:cNvSpPr/>
          <p:nvPr/>
        </p:nvSpPr>
        <p:spPr>
          <a:xfrm>
            <a:off x="457200" y="2880360"/>
            <a:ext cx="4023360" cy="1737360"/>
          </a:xfrm>
          <a:prstGeom prst="roundRect">
            <a:avLst>
              <a:gd name="adj" fmla="val 4211"/>
            </a:avLst>
          </a:prstGeom>
          <a:solidFill>
            <a:srgbClr val="FBFBF8"/>
          </a:solidFill>
          <a:ln w="9525">
            <a:solidFill>
              <a:srgbClr val="D9DDD8"/>
            </a:solidFill>
            <a:prstDash val="solid"/>
          </a:ln>
        </p:spPr>
      </p:sp>
      <p:sp>
        <p:nvSpPr>
          <p:cNvPr id="27" name="Text 24"/>
          <p:cNvSpPr txBox="1"/>
          <p:nvPr/>
        </p:nvSpPr>
        <p:spPr>
          <a:xfrm>
            <a:off x="585216" y="299008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Ưu điểm cho dự án</a:t>
            </a:r>
            <a:endParaRPr lang="en-US" sz="1500" dirty="0"/>
          </a:p>
        </p:txBody>
      </p:sp>
      <p:sp>
        <p:nvSpPr>
          <p:cNvPr id="28" name="Text 25"/>
          <p:cNvSpPr txBox="1"/>
          <p:nvPr/>
        </p:nvSpPr>
        <p:spPr>
          <a:xfrm>
            <a:off x="585216" y="3300984"/>
            <a:ext cx="3767328" cy="124358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Toàn bộ pipeline nằm trên chip, ít truy cập DRAM</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Hỗ trợ lượng tử hóa cực thấp</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Có RTL tối ưu (DSP packing, parallel window)</a:t>
            </a:r>
            <a:endParaRPr lang="en-US" sz="1300" dirty="0"/>
          </a:p>
        </p:txBody>
      </p:sp>
      <p:sp>
        <p:nvSpPr>
          <p:cNvPr id="29" name="Shape 26"/>
          <p:cNvSpPr/>
          <p:nvPr/>
        </p:nvSpPr>
        <p:spPr>
          <a:xfrm>
            <a:off x="4663440" y="2880360"/>
            <a:ext cx="4023360" cy="1737360"/>
          </a:xfrm>
          <a:prstGeom prst="roundRect">
            <a:avLst>
              <a:gd name="adj" fmla="val 4211"/>
            </a:avLst>
          </a:prstGeom>
          <a:solidFill>
            <a:srgbClr val="FBFBF8"/>
          </a:solidFill>
          <a:ln w="9525">
            <a:solidFill>
              <a:srgbClr val="D9DDD8"/>
            </a:solidFill>
            <a:prstDash val="solid"/>
          </a:ln>
        </p:spPr>
      </p:sp>
      <p:sp>
        <p:nvSpPr>
          <p:cNvPr id="30" name="Text 27"/>
          <p:cNvSpPr txBox="1"/>
          <p:nvPr/>
        </p:nvSpPr>
        <p:spPr>
          <a:xfrm>
            <a:off x="4791456" y="299008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Hạn chế gặp phải</a:t>
            </a:r>
            <a:endParaRPr lang="en-US" sz="1500" dirty="0"/>
          </a:p>
        </p:txBody>
      </p:sp>
      <p:sp>
        <p:nvSpPr>
          <p:cNvPr id="31" name="Text 28"/>
          <p:cNvSpPr txBox="1"/>
          <p:nvPr/>
        </p:nvSpPr>
        <p:spPr>
          <a:xfrm>
            <a:off x="4791456" y="3300984"/>
            <a:ext cx="3767328" cy="124358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Không xử lý mạng rẽ nhánh</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Chỉ một dataflow partition trên PL</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HLS StreamingMaxPool kém hiệu quả trên bản đồ lớn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PHẦN CỨNG</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MYiR Z-Turn Board V2: XC7Z020CLG400-2</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10 / 42</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3931920" cy="914400"/>
        </p:xfrm>
        <a:graphic>
          <a:graphicData uri="http://schemas.openxmlformats.org/drawingml/2006/table">
            <a:tbl>
              <a:tblPr/>
              <a:tblGrid>
                <a:gridCol w="1463040"/>
                <a:gridCol w="246888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Hệ xử lý (PS)</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Giá trị</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384048">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CPU</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2× ARM Cortex-A9, 750 MHz</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84048">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L1 / L2</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2×32 KiB (D/I) mỗi nhân / 512 KiB</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84048">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On-chip SRAM</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256 MiB (theo bài)</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84048">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DRAM</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1 GiB DDR3</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84048">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I/O</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GbE, micro-SD, HDMI</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4754880" y="1280160"/>
          <a:ext cx="3931920" cy="914400"/>
        </p:xfrm>
        <a:graphic>
          <a:graphicData uri="http://schemas.openxmlformats.org/drawingml/2006/table">
            <a:tbl>
              <a:tblPr/>
              <a:tblGrid>
                <a:gridCol w="1463040"/>
                <a:gridCol w="246888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Logic lập trình (PL)</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Giá trị</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384048">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LUT</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53 200</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84048">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Flip-flop</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106 400</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84048">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BRAM</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140 × 36 Kb (trong bảng dùng 140 BRAM_18K)</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84048">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DSP48E1</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220 (MAC 48 bit)</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84048">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Giao diện AXI</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4× HP 64 bit tới DRAM; 4× AXI 32 bit điều khiển</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bl>
          </a:graphicData>
        </a:graphic>
      </p:graphicFrame>
      <p:sp>
        <p:nvSpPr>
          <p:cNvPr id="9" name="Text 4"/>
          <p:cNvSpPr txBox="1"/>
          <p:nvPr/>
        </p:nvSpPr>
        <p:spPr>
          <a:xfrm>
            <a:off x="457200" y="3840480"/>
            <a:ext cx="8229600" cy="457200"/>
          </a:xfrm>
          <a:prstGeom prst="rect">
            <a:avLst/>
          </a:prstGeom>
          <a:noFill/>
          <a:ln/>
        </p:spPr>
        <p:txBody>
          <a:bodyPr wrap="square" lIns="0" tIns="0" rIns="0" bIns="0" rtlCol="0" anchor="t"/>
          <a:lstStyle/>
          <a:p>
            <a:pPr indent="0" marL="0">
              <a:buNone/>
            </a:pPr>
            <a:r>
              <a:rPr lang="en-US" sz="1400" dirty="0">
                <a:solidFill>
                  <a:srgbClr val="3F4F5A"/>
                </a:solidFill>
                <a:latin typeface="Calibri" pitchFamily="34" charset="0"/>
                <a:ea typeface="Calibri" pitchFamily="34" charset="-122"/>
                <a:cs typeface="Calibri" pitchFamily="34" charset="-120"/>
              </a:rPr>
              <a:t>Họ Zynq-7000 dựa trên Artix-7, công suất vài watt, giá chip khoảng 100 €.</a:t>
            </a:r>
            <a:endParaRPr lang="en-US" sz="1400" dirty="0"/>
          </a:p>
        </p:txBody>
      </p:sp>
      <p:sp>
        <p:nvSpPr>
          <p:cNvPr id="10" name="Text 5"/>
          <p:cNvSpPr txBox="1"/>
          <p:nvPr/>
        </p:nvSpPr>
        <p:spPr>
          <a:xfrm>
            <a:off x="457200" y="4251960"/>
            <a:ext cx="8229600" cy="457200"/>
          </a:xfrm>
          <a:prstGeom prst="rect">
            <a:avLst/>
          </a:prstGeom>
          <a:noFill/>
          <a:ln/>
        </p:spPr>
        <p:txBody>
          <a:bodyPr wrap="square" lIns="0" tIns="0" rIns="0" bIns="0" rtlCol="0" anchor="t"/>
          <a:lstStyle/>
          <a:p>
            <a:pPr indent="0" marL="0">
              <a:buNone/>
            </a:pPr>
            <a:r>
              <a:rPr lang="en-US" sz="1200" i="1" dirty="0">
                <a:solidFill>
                  <a:srgbClr val="3F4F5A"/>
                </a:solidFill>
                <a:latin typeface="Calibri" pitchFamily="34" charset="0"/>
                <a:ea typeface="Calibri" pitchFamily="34" charset="-122"/>
                <a:cs typeface="Calibri" pitchFamily="34" charset="-120"/>
              </a:rPr>
              <a:t>Lưu ý: bài ghi 140×36 Kb trong mục 3 nhưng bảng 7 dùng 140 BRAM_18K, không nhất quán.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QUY TRÌNH</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Quy trình thiết kế đầu-cuối (Hình 1)</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11 / 42</a:t>
            </a:r>
            <a:endParaRPr lang="en-US" sz="900" dirty="0"/>
          </a:p>
        </p:txBody>
      </p:sp>
      <p:pic>
        <p:nvPicPr>
          <p:cNvPr id="7" name="Image 0" descr="fig1">    </p:cNvPr>
          <p:cNvPicPr>
            <a:picLocks noChangeAspect="1"/>
          </p:cNvPicPr>
          <p:nvPr/>
        </p:nvPicPr>
        <p:blipFill>
          <a:blip r:embed="rId1"/>
          <a:stretch>
            <a:fillRect/>
          </a:stretch>
        </p:blipFill>
        <p:spPr>
          <a:xfrm>
            <a:off x="1656761" y="1188720"/>
            <a:ext cx="5830478" cy="2743200"/>
          </a:xfrm>
          <a:prstGeom prst="rect">
            <a:avLst/>
          </a:prstGeom>
        </p:spPr>
      </p:pic>
      <p:sp>
        <p:nvSpPr>
          <p:cNvPr id="8" name="Text 4"/>
          <p:cNvSpPr txBox="1"/>
          <p:nvPr/>
        </p:nvSpPr>
        <p:spPr>
          <a:xfrm>
            <a:off x="457200" y="4114800"/>
            <a:ext cx="8229600" cy="457200"/>
          </a:xfrm>
          <a:prstGeom prst="rect">
            <a:avLst/>
          </a:prstGeom>
          <a:noFill/>
          <a:ln/>
        </p:spPr>
        <p:txBody>
          <a:bodyPr wrap="square" lIns="0" tIns="0" rIns="0" bIns="0" rtlCol="0" anchor="t"/>
          <a:lstStyle/>
          <a:p>
            <a:pPr indent="0" marL="0">
              <a:buNone/>
            </a:pPr>
            <a:r>
              <a:rPr lang="en-US" sz="1300" dirty="0">
                <a:solidFill>
                  <a:srgbClr val="3F4F5A"/>
                </a:solidFill>
                <a:latin typeface="Calibri" pitchFamily="34" charset="0"/>
                <a:ea typeface="Calibri" pitchFamily="34" charset="-122"/>
                <a:cs typeface="Calibri" pitchFamily="34" charset="-120"/>
              </a:rPr>
              <a:t>Brevitas (QAT, xuất QONNX) → FINN (biến đổi, đặc tả lớp, folding, sinh IP) → Vivado (tổng hợp, P&amp;R, bitstream) → driver Python.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MÔ HÌNH</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Điều chỉnh YOLOv3-Tiny cho FINN</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12 / 42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286000"/>
                <a:gridCol w="3200400"/>
                <a:gridCol w="2743200"/>
              </a:tblGrid>
              <a:tr h="5486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Thay đổi</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Lý do</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Hệ quả</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54864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Bỏ upsample và concat</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FINN chưa hỗ trợ topo rẽ nhánh</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Mất nhánh phát hiện thứ hai (đa tỉ lệ)</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54864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Số kênh mọi tích chập /5</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Trọng số phải vừa BRAM trên chip</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Giảm năng lực biểu diễn</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54864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Tách lớp detect khỏi đồ thị</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Chỉ là phép đổi hệ tọa độ hộp, hợp float trên PS</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Phần hậu xử lý nằm trên ARM</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54864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Đầu vào 416×416, một lớp (car)</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Bám LPYOLO và bài toán ô tô nhìn từ trên</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Không so được mAP với công trình khác</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bl>
          </a:graphicData>
        </a:graphic>
      </p:graphicFrame>
      <p:sp>
        <p:nvSpPr>
          <p:cNvPr id="8" name="Text 4"/>
          <p:cNvSpPr txBox="1"/>
          <p:nvPr/>
        </p:nvSpPr>
        <p:spPr>
          <a:xfrm>
            <a:off x="457200" y="4251960"/>
            <a:ext cx="8229600" cy="457200"/>
          </a:xfrm>
          <a:prstGeom prst="rect">
            <a:avLst/>
          </a:prstGeom>
          <a:noFill/>
          <a:ln/>
        </p:spPr>
        <p:txBody>
          <a:bodyPr wrap="square" lIns="0" tIns="0" rIns="0" bIns="0" rtlCol="0" anchor="t"/>
          <a:lstStyle/>
          <a:p>
            <a:pPr indent="0" marL="0">
              <a:buNone/>
            </a:pPr>
            <a:r>
              <a:rPr lang="en-US" sz="1400" dirty="0">
                <a:solidFill>
                  <a:srgbClr val="3F4F5A"/>
                </a:solidFill>
                <a:latin typeface="Calibri" pitchFamily="34" charset="0"/>
                <a:ea typeface="Calibri" pitchFamily="34" charset="-122"/>
                <a:cs typeface="Calibri" pitchFamily="34" charset="-120"/>
              </a:rPr>
              <a:t>Hệ quả được tác giả thừa nhận: recall giảm một nửa vì mất một nhánh phát hiện.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KIẾN TRÚC</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Mạng sau thu gọn (Bảng 1)</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13 / 42</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023360" cy="914400"/>
        </p:xfrm>
        <a:graphic>
          <a:graphicData uri="http://schemas.openxmlformats.org/drawingml/2006/table">
            <a:tbl>
              <a:tblPr/>
              <a:tblGrid>
                <a:gridCol w="640080"/>
                <a:gridCol w="960120"/>
                <a:gridCol w="960120"/>
                <a:gridCol w="274320"/>
                <a:gridCol w="320040"/>
                <a:gridCol w="868680"/>
              </a:tblGrid>
              <a:tr h="31089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Lớp</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Vào</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Ra</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K</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Act</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310896">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Conv</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416×416×3</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416×416×8</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ReLU</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10896">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MaxPool</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416×416×8</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208×208×8</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10896">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Conv</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208×208×8</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208×208×8</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ReLU</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10896">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MaxPool</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208×208×8</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104×104×8</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10896">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Conv</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104×104×8</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104×104×16</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ReLU</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10896">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MaxPool</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104×104×16</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52×52×16</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10896">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Conv</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52×52×16</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52×52×32</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ReLU</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10896">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MaxPool</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52×52×32</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26×26×32</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bl>
          </a:graphicData>
        </a:graphic>
      </p:graphicFrame>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4617720" y="1097280"/>
          <a:ext cx="4023360" cy="914400"/>
        </p:xfrm>
        <a:graphic>
          <a:graphicData uri="http://schemas.openxmlformats.org/drawingml/2006/table">
            <a:tbl>
              <a:tblPr/>
              <a:tblGrid>
                <a:gridCol w="640080"/>
                <a:gridCol w="960120"/>
                <a:gridCol w="960120"/>
                <a:gridCol w="274320"/>
                <a:gridCol w="320040"/>
                <a:gridCol w="868680"/>
              </a:tblGrid>
              <a:tr h="31089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Lớp</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Vào</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Ra</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K</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Act</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310896">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Conv</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26×26×32</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26×26×56</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ReLU</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10896">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MaxPool</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26×26×56</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13×13×56</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10896">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Conv</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13×13×56</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13×13×104</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ReLU</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10896">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MaxPool</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13×13×104</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13×13×104</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10896">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Conv</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13×13×104</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13×13×208</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ReLU</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10896">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Conv</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13×13×208</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13×13×56</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ReLU</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10896">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Conv</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13×13×56</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13×13×104</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ReLU</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10896">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Conv</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13×13×104</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13×13×18</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900" dirty="0">
                          <a:solidFill>
                            <a:srgbClr val="14232E"/>
                          </a:solidFill>
                          <a:latin typeface="Calibri" pitchFamily="34" charset="0"/>
                          <a:ea typeface="Calibri" pitchFamily="34" charset="-122"/>
                          <a:cs typeface="Calibri" pitchFamily="34" charset="-120"/>
                        </a:rPr>
                        <a:t>HardTanh</a:t>
                      </a:r>
                      <a:endParaRPr lang="en-US" sz="9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bl>
          </a:graphicData>
        </a:graphic>
      </p:graphicFrame>
      <p:sp>
        <p:nvSpPr>
          <p:cNvPr id="9" name="Text 4"/>
          <p:cNvSpPr txBox="1"/>
          <p:nvPr/>
        </p:nvSpPr>
        <p:spPr>
          <a:xfrm>
            <a:off x="457200" y="4160520"/>
            <a:ext cx="8229600" cy="502920"/>
          </a:xfrm>
          <a:prstGeom prst="rect">
            <a:avLst/>
          </a:prstGeom>
          <a:noFill/>
          <a:ln/>
        </p:spPr>
        <p:txBody>
          <a:bodyPr wrap="square" lIns="0" tIns="0" rIns="0" bIns="0" rtlCol="0" anchor="t"/>
          <a:lstStyle/>
          <a:p>
            <a:pPr indent="0" marL="0">
              <a:buNone/>
            </a:pPr>
            <a:r>
              <a:rPr lang="en-US" sz="1000" i="1" dirty="0">
                <a:solidFill>
                  <a:srgbClr val="3F4F5A"/>
                </a:solidFill>
                <a:latin typeface="Calibri" pitchFamily="34" charset="0"/>
                <a:ea typeface="Calibri" pitchFamily="34" charset="-122"/>
                <a:cs typeface="Calibri" pitchFamily="34" charset="-120"/>
              </a:rPr>
              <a:t>* Bảng 1 của bài ghi stride 2 ở MaxPool 13×13 dù kích thước vào/ra không đổi (nhiều khả năng là stride 1; ghi chú của người trình bày). K: kernel, S: stride, Act: kích hoạt Quant (QuantReLU/QuantHardTanh); lớp cuối 18 kênh = 3 anchor × (4 hộp + 1 objectness + 1 lớp) là diễn giải của người trình bày.</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HUẤN LUYỆN</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Quantization-Aware Training với Brevitas</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14 / 42</a:t>
            </a:r>
            <a:endParaRPr lang="en-US" sz="900" dirty="0"/>
          </a:p>
        </p:txBody>
      </p:sp>
      <p:sp>
        <p:nvSpPr>
          <p:cNvPr id="7" name="Shape 4"/>
          <p:cNvSpPr/>
          <p:nvPr/>
        </p:nvSpPr>
        <p:spPr>
          <a:xfrm>
            <a:off x="457200" y="1188720"/>
            <a:ext cx="4023360" cy="1737360"/>
          </a:xfrm>
          <a:prstGeom prst="roundRect">
            <a:avLst>
              <a:gd name="adj" fmla="val 4211"/>
            </a:avLst>
          </a:prstGeom>
          <a:solidFill>
            <a:srgbClr val="FBFBF8"/>
          </a:solidFill>
          <a:ln w="9525">
            <a:solidFill>
              <a:srgbClr val="D9DDD8"/>
            </a:solidFill>
            <a:prstDash val="solid"/>
          </a:ln>
        </p:spPr>
      </p:sp>
      <p:sp>
        <p:nvSpPr>
          <p:cNvPr id="8" name="Text 5"/>
          <p:cNvSpPr txBox="1"/>
          <p:nvPr/>
        </p:nvSpPr>
        <p:spPr>
          <a:xfrm>
            <a:off x="585216" y="129844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Cách làm</a:t>
            </a:r>
            <a:endParaRPr lang="en-US" sz="1500" dirty="0"/>
          </a:p>
        </p:txBody>
      </p:sp>
      <p:sp>
        <p:nvSpPr>
          <p:cNvPr id="9" name="Text 6"/>
          <p:cNvSpPr txBox="1"/>
          <p:nvPr/>
        </p:nvSpPr>
        <p:spPr>
          <a:xfrm>
            <a:off x="585216" y="1609344"/>
            <a:ext cx="3767328" cy="124358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Lấy YOLOv5 Ultralytics làm khung huấn luyện</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Thay Conv/Linear bằng lớp Brevitas</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Thêm module quant_common.py</a:t>
            </a:r>
            <a:endParaRPr lang="en-US" sz="1300" dirty="0"/>
          </a:p>
        </p:txBody>
      </p:sp>
      <p:sp>
        <p:nvSpPr>
          <p:cNvPr id="10" name="Shape 7"/>
          <p:cNvSpPr/>
          <p:nvPr/>
        </p:nvSpPr>
        <p:spPr>
          <a:xfrm>
            <a:off x="4663440" y="1188720"/>
            <a:ext cx="4023360" cy="1737360"/>
          </a:xfrm>
          <a:prstGeom prst="roundRect">
            <a:avLst>
              <a:gd name="adj" fmla="val 4211"/>
            </a:avLst>
          </a:prstGeom>
          <a:solidFill>
            <a:srgbClr val="FBFBF8"/>
          </a:solidFill>
          <a:ln w="9525">
            <a:solidFill>
              <a:srgbClr val="D9DDD8"/>
            </a:solidFill>
            <a:prstDash val="solid"/>
          </a:ln>
        </p:spPr>
      </p:sp>
      <p:sp>
        <p:nvSpPr>
          <p:cNvPr id="11" name="Text 8"/>
          <p:cNvSpPr txBox="1"/>
          <p:nvPr/>
        </p:nvSpPr>
        <p:spPr>
          <a:xfrm>
            <a:off x="4791456" y="129844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Chọn số bit</a:t>
            </a:r>
            <a:endParaRPr lang="en-US" sz="1500" dirty="0"/>
          </a:p>
        </p:txBody>
      </p:sp>
      <p:sp>
        <p:nvSpPr>
          <p:cNvPr id="12" name="Text 9"/>
          <p:cNvSpPr txBox="1"/>
          <p:nvPr/>
        </p:nvSpPr>
        <p:spPr>
          <a:xfrm>
            <a:off x="4791456" y="1609344"/>
            <a:ext cx="3767328" cy="124358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Trọng số lớp đầu và cuối: INT8 (giữ thông tin ở đầu vào, đầu ra chi tiết)</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Các lớp còn lại: INT4 cho trọng số và kích hoạt</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Kích hoạt: QuantReLU, QuantHardTanh ở lớp cuối</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3108960"/>
          <a:ext cx="8229600" cy="914400"/>
        </p:xfrm>
        <a:graphic>
          <a:graphicData uri="http://schemas.openxmlformats.org/drawingml/2006/table">
            <a:tbl>
              <a:tblPr/>
              <a:tblGrid>
                <a:gridCol w="5029200"/>
                <a:gridCol w="3200400"/>
              </a:tblGrid>
              <a:tr h="3291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Thành phần</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Độ rộng bit</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329184">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Trọng số conv đầu và cuối</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29184">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Kích hoạt lớp đầu</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29184">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Trọng số và kích hoạt các lớp giữa</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4 và 4</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bl>
          </a:graphicData>
        </a:graphic>
      </p:graphicFrame>
      <p:sp>
        <p:nvSpPr>
          <p:cNvPr id="14" name="Text 10"/>
          <p:cNvSpPr txBox="1"/>
          <p:nvPr/>
        </p:nvSpPr>
        <p:spPr>
          <a:xfrm>
            <a:off x="457200" y="4480560"/>
            <a:ext cx="8229600" cy="457200"/>
          </a:xfrm>
          <a:prstGeom prst="rect">
            <a:avLst/>
          </a:prstGeom>
          <a:noFill/>
          <a:ln/>
        </p:spPr>
        <p:txBody>
          <a:bodyPr wrap="square" lIns="0" tIns="0" rIns="0" bIns="0" rtlCol="0" anchor="t"/>
          <a:lstStyle/>
          <a:p>
            <a:pPr indent="0" marL="0">
              <a:buNone/>
            </a:pPr>
            <a:r>
              <a:rPr lang="en-US" sz="1200" dirty="0">
                <a:solidFill>
                  <a:srgbClr val="3F4F5A"/>
                </a:solidFill>
                <a:latin typeface="Calibri" pitchFamily="34" charset="0"/>
                <a:ea typeface="Calibri" pitchFamily="34" charset="-122"/>
                <a:cs typeface="Calibri" pitchFamily="34" charset="-120"/>
              </a:rPr>
              <a:t>Mô phỏng sai số lượng tử ngay trong huấn luyện giúp mạng học trọng số bền với độ chính xác thấp.</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DỮ LIỆU VÀ HUẤN LUYỆN</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VisDrone, chỉ lớp car</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15 / 42</a:t>
            </a:r>
            <a:endParaRPr lang="en-US" sz="900" dirty="0"/>
          </a:p>
        </p:txBody>
      </p:sp>
      <p:sp>
        <p:nvSpPr>
          <p:cNvPr id="7" name="Shape 4"/>
          <p:cNvSpPr/>
          <p:nvPr/>
        </p:nvSpPr>
        <p:spPr>
          <a:xfrm>
            <a:off x="457200" y="1188720"/>
            <a:ext cx="4023360" cy="1645920"/>
          </a:xfrm>
          <a:prstGeom prst="roundRect">
            <a:avLst>
              <a:gd name="adj" fmla="val 4444"/>
            </a:avLst>
          </a:prstGeom>
          <a:solidFill>
            <a:srgbClr val="FBFBF8"/>
          </a:solidFill>
          <a:ln w="9525">
            <a:solidFill>
              <a:srgbClr val="D9DDD8"/>
            </a:solidFill>
            <a:prstDash val="solid"/>
          </a:ln>
        </p:spPr>
      </p:sp>
      <p:sp>
        <p:nvSpPr>
          <p:cNvPr id="8" name="Text 5"/>
          <p:cNvSpPr txBox="1"/>
          <p:nvPr/>
        </p:nvSpPr>
        <p:spPr>
          <a:xfrm>
            <a:off x="585216" y="129844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Tập dữ liệu</a:t>
            </a:r>
            <a:endParaRPr lang="en-US" sz="1500" dirty="0"/>
          </a:p>
        </p:txBody>
      </p:sp>
      <p:sp>
        <p:nvSpPr>
          <p:cNvPr id="9" name="Text 6"/>
          <p:cNvSpPr txBox="1"/>
          <p:nvPr/>
        </p:nvSpPr>
        <p:spPr>
          <a:xfrm>
            <a:off x="585216" y="1609344"/>
            <a:ext cx="3767328" cy="115214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10 209 ảnh, 2,6 triệu hộp, 10 lớp</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Dùng: task 1 và chỉ lớp car</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Chú thích đổi sang định dạng YOLO XYWH</a:t>
            </a:r>
            <a:endParaRPr lang="en-US" sz="1300" dirty="0"/>
          </a:p>
        </p:txBody>
      </p:sp>
      <p:sp>
        <p:nvSpPr>
          <p:cNvPr id="10" name="Shape 7"/>
          <p:cNvSpPr/>
          <p:nvPr/>
        </p:nvSpPr>
        <p:spPr>
          <a:xfrm>
            <a:off x="457200" y="2971800"/>
            <a:ext cx="4023360" cy="1645920"/>
          </a:xfrm>
          <a:prstGeom prst="roundRect">
            <a:avLst>
              <a:gd name="adj" fmla="val 4444"/>
            </a:avLst>
          </a:prstGeom>
          <a:solidFill>
            <a:srgbClr val="FBFBF8"/>
          </a:solidFill>
          <a:ln w="9525">
            <a:solidFill>
              <a:srgbClr val="D9DDD8"/>
            </a:solidFill>
            <a:prstDash val="solid"/>
          </a:ln>
        </p:spPr>
      </p:sp>
      <p:sp>
        <p:nvSpPr>
          <p:cNvPr id="11" name="Text 8"/>
          <p:cNvSpPr txBox="1"/>
          <p:nvPr/>
        </p:nvSpPr>
        <p:spPr>
          <a:xfrm>
            <a:off x="585216" y="308152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Môi trường</a:t>
            </a:r>
            <a:endParaRPr lang="en-US" sz="1500" dirty="0"/>
          </a:p>
        </p:txBody>
      </p:sp>
      <p:sp>
        <p:nvSpPr>
          <p:cNvPr id="12" name="Text 9"/>
          <p:cNvSpPr txBox="1"/>
          <p:nvPr/>
        </p:nvSpPr>
        <p:spPr>
          <a:xfrm>
            <a:off x="585216" y="3392424"/>
            <a:ext cx="3767328" cy="115214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Kaggle Notebook, Tesla P100 16 GB</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torch 1.13.1, torchvision 0.14.1</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brevitas 0.9.0, numpy 1.26.3, opencv 4.10</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754880" y="1188720"/>
          <a:ext cx="3931920" cy="914400"/>
        </p:xfrm>
        <a:graphic>
          <a:graphicData uri="http://schemas.openxmlformats.org/drawingml/2006/table">
            <a:tbl>
              <a:tblPr/>
              <a:tblGrid>
                <a:gridCol w="2194560"/>
                <a:gridCol w="173736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Tham số</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Giá trị</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36576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Epoch</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300</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6576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Batch size</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64</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6576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Kích thước ảnh</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416×416</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6576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Optimizer</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SGD</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6576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Patience</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bl>
          </a:graphicData>
        </a:graphic>
      </p:graphicFrame>
      <p:sp>
        <p:nvSpPr>
          <p:cNvPr id="14" name="Text 10"/>
          <p:cNvSpPr txBox="1"/>
          <p:nvPr/>
        </p:nvSpPr>
        <p:spPr>
          <a:xfrm>
            <a:off x="4754880" y="3520440"/>
            <a:ext cx="3931920" cy="457200"/>
          </a:xfrm>
          <a:prstGeom prst="rect">
            <a:avLst/>
          </a:prstGeom>
          <a:noFill/>
          <a:ln/>
        </p:spPr>
        <p:txBody>
          <a:bodyPr wrap="square" lIns="0" tIns="0" rIns="0" bIns="0" rtlCol="0" anchor="t"/>
          <a:lstStyle/>
          <a:p>
            <a:pPr indent="0" marL="0">
              <a:buNone/>
            </a:pPr>
            <a:r>
              <a:rPr lang="en-US" sz="1300" dirty="0">
                <a:solidFill>
                  <a:srgbClr val="3F4F5A"/>
                </a:solidFill>
                <a:latin typeface="Calibri" pitchFamily="34" charset="0"/>
                <a:ea typeface="Calibri" pitchFamily="34" charset="-122"/>
                <a:cs typeface="Calibri" pitchFamily="34" charset="-120"/>
              </a:rPr>
              <a:t>Hyperparameter chuẩn của YOLOv5 'from scratch', không tinh chỉnh.</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XUẤT MÔ HÌNH</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ONNX cho FINN và baseline cho Coral</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16 / 42</a:t>
            </a:r>
            <a:endParaRPr lang="en-US" sz="900" dirty="0"/>
          </a:p>
        </p:txBody>
      </p:sp>
      <p:sp>
        <p:nvSpPr>
          <p:cNvPr id="7" name="Shape 4"/>
          <p:cNvSpPr/>
          <p:nvPr/>
        </p:nvSpPr>
        <p:spPr>
          <a:xfrm>
            <a:off x="457200" y="1188720"/>
            <a:ext cx="4023360" cy="1920240"/>
          </a:xfrm>
          <a:prstGeom prst="roundRect">
            <a:avLst>
              <a:gd name="adj" fmla="val 3810"/>
            </a:avLst>
          </a:prstGeom>
          <a:solidFill>
            <a:srgbClr val="FBFBF8"/>
          </a:solidFill>
          <a:ln w="9525">
            <a:solidFill>
              <a:srgbClr val="D9DDD8"/>
            </a:solidFill>
            <a:prstDash val="solid"/>
          </a:ln>
        </p:spPr>
      </p:sp>
      <p:sp>
        <p:nvSpPr>
          <p:cNvPr id="8" name="Text 5"/>
          <p:cNvSpPr txBox="1"/>
          <p:nvPr/>
        </p:nvSpPr>
        <p:spPr>
          <a:xfrm>
            <a:off x="585216" y="129844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Nhánh FPGA</a:t>
            </a:r>
            <a:endParaRPr lang="en-US" sz="1500" dirty="0"/>
          </a:p>
        </p:txBody>
      </p:sp>
      <p:sp>
        <p:nvSpPr>
          <p:cNvPr id="9" name="Text 6"/>
          <p:cNvSpPr txBox="1"/>
          <p:nvPr/>
        </p:nvSpPr>
        <p:spPr>
          <a:xfrm>
            <a:off x="585216" y="1609344"/>
            <a:ext cx="3767328" cy="142646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export.py --include finn_onnx sinh QONNX</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Lớp detect bị tách ra khỏi đồ thị</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Mạng chứa nút Quant đặt trước Conv/MaxPool</a:t>
            </a:r>
            <a:endParaRPr lang="en-US" sz="1300" dirty="0"/>
          </a:p>
        </p:txBody>
      </p:sp>
      <p:sp>
        <p:nvSpPr>
          <p:cNvPr id="10" name="Shape 7"/>
          <p:cNvSpPr/>
          <p:nvPr/>
        </p:nvSpPr>
        <p:spPr>
          <a:xfrm>
            <a:off x="4663440" y="1188720"/>
            <a:ext cx="4023360" cy="1920240"/>
          </a:xfrm>
          <a:prstGeom prst="roundRect">
            <a:avLst>
              <a:gd name="adj" fmla="val 3810"/>
            </a:avLst>
          </a:prstGeom>
          <a:solidFill>
            <a:srgbClr val="FBFBF8"/>
          </a:solidFill>
          <a:ln w="9525">
            <a:solidFill>
              <a:srgbClr val="D9DDD8"/>
            </a:solidFill>
            <a:prstDash val="solid"/>
          </a:ln>
        </p:spPr>
      </p:sp>
      <p:sp>
        <p:nvSpPr>
          <p:cNvPr id="11" name="Text 8"/>
          <p:cNvSpPr txBox="1"/>
          <p:nvPr/>
        </p:nvSpPr>
        <p:spPr>
          <a:xfrm>
            <a:off x="4791456" y="129844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Nhánh Coral (đối chứng)</a:t>
            </a:r>
            <a:endParaRPr lang="en-US" sz="1500" dirty="0"/>
          </a:p>
        </p:txBody>
      </p:sp>
      <p:sp>
        <p:nvSpPr>
          <p:cNvPr id="12" name="Text 9"/>
          <p:cNvSpPr txBox="1"/>
          <p:nvPr/>
        </p:nvSpPr>
        <p:spPr>
          <a:xfrm>
            <a:off x="4791456" y="1609344"/>
            <a:ext cx="3767328" cy="142646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Huấn luyện lại ở FP32</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Xuất TFLite với PTQ int8</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Biên dịch bằng edgetpu compiler, dùng libedgetpu bản cộng đồng</a:t>
            </a:r>
            <a:endParaRPr lang="en-US" sz="1300" dirty="0"/>
          </a:p>
        </p:txBody>
      </p:sp>
      <p:sp>
        <p:nvSpPr>
          <p:cNvPr id="13" name="Shape 10"/>
          <p:cNvSpPr/>
          <p:nvPr/>
        </p:nvSpPr>
        <p:spPr>
          <a:xfrm>
            <a:off x="457200" y="3246120"/>
            <a:ext cx="8229600" cy="1371600"/>
          </a:xfrm>
          <a:prstGeom prst="roundRect">
            <a:avLst>
              <a:gd name="adj" fmla="val 5333"/>
            </a:avLst>
          </a:prstGeom>
          <a:solidFill>
            <a:srgbClr val="FBFBF8"/>
          </a:solidFill>
          <a:ln w="9525">
            <a:solidFill>
              <a:srgbClr val="D9DDD8"/>
            </a:solidFill>
            <a:prstDash val="solid"/>
          </a:ln>
        </p:spPr>
      </p:sp>
      <p:sp>
        <p:nvSpPr>
          <p:cNvPr id="14" name="Text 11"/>
          <p:cNvSpPr txBox="1"/>
          <p:nvPr/>
        </p:nvSpPr>
        <p:spPr>
          <a:xfrm>
            <a:off x="585216" y="3355848"/>
            <a:ext cx="797356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Điều cần lưu ý</a:t>
            </a:r>
            <a:endParaRPr lang="en-US" sz="1500" dirty="0"/>
          </a:p>
        </p:txBody>
      </p:sp>
      <p:sp>
        <p:nvSpPr>
          <p:cNvPr id="15" name="Text 12"/>
          <p:cNvSpPr txBox="1"/>
          <p:nvPr/>
        </p:nvSpPr>
        <p:spPr>
          <a:xfrm>
            <a:off x="585216" y="3666744"/>
            <a:ext cx="7973568" cy="877824"/>
          </a:xfrm>
          <a:prstGeom prst="rect">
            <a:avLst/>
          </a:prstGeom>
          <a:noFill/>
          <a:ln/>
        </p:spPr>
        <p:txBody>
          <a:bodyPr wrap="square" lIns="0" tIns="0" rIns="0" bIns="0" rtlCol="0" anchor="t"/>
          <a:lstStyle/>
          <a:p>
            <a:pPr indent="0" marL="0">
              <a:buNone/>
            </a:pPr>
            <a:r>
              <a:rPr lang="en-US" sz="1300" dirty="0">
                <a:solidFill>
                  <a:srgbClr val="3F4F5A"/>
                </a:solidFill>
                <a:latin typeface="Calibri" pitchFamily="34" charset="0"/>
                <a:ea typeface="Calibri" pitchFamily="34" charset="-122"/>
                <a:cs typeface="Calibri" pitchFamily="34" charset="-120"/>
              </a:rPr>
              <a:t>Hai nhánh không cùng một mô hình: FPGA dùng QAT INT4 với mạng đã thu gọn, Coral dùng PTQ int8. Bài không báo cáo mAP của mô hình Coral nên so sánh tốc độ không đi kèm so sánh độ chính xác.</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BIẾN ĐỔI FINN (1)</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Từ QONNX đến mạng đã streamline</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17 / 42</a:t>
            </a:r>
            <a:endParaRPr lang="en-US" sz="900" dirty="0"/>
          </a:p>
        </p:txBody>
      </p:sp>
      <p:sp>
        <p:nvSpPr>
          <p:cNvPr id="7" name="Shape 4"/>
          <p:cNvSpPr/>
          <p:nvPr/>
        </p:nvSpPr>
        <p:spPr>
          <a:xfrm>
            <a:off x="457200" y="1188720"/>
            <a:ext cx="8229600" cy="621792"/>
          </a:xfrm>
          <a:prstGeom prst="roundRect">
            <a:avLst>
              <a:gd name="adj" fmla="val 11765"/>
            </a:avLst>
          </a:prstGeom>
          <a:solidFill>
            <a:srgbClr val="FBFBF8"/>
          </a:solidFill>
          <a:ln w="9525">
            <a:solidFill>
              <a:srgbClr val="D9DDD8"/>
            </a:solidFill>
            <a:prstDash val="solid"/>
          </a:ln>
        </p:spPr>
      </p:sp>
      <p:sp>
        <p:nvSpPr>
          <p:cNvPr id="8" name="Text 5"/>
          <p:cNvSpPr txBox="1"/>
          <p:nvPr/>
        </p:nvSpPr>
        <p:spPr>
          <a:xfrm>
            <a:off x="585216" y="1298448"/>
            <a:ext cx="7973568" cy="237744"/>
          </a:xfrm>
          <a:prstGeom prst="rect">
            <a:avLst/>
          </a:prstGeom>
          <a:noFill/>
          <a:ln/>
        </p:spPr>
        <p:txBody>
          <a:bodyPr wrap="square" lIns="0" tIns="0" rIns="0" bIns="0" rtlCol="0" anchor="t"/>
          <a:lstStyle/>
          <a:p>
            <a:pPr indent="0" marL="0">
              <a:buNone/>
            </a:pPr>
            <a:r>
              <a:rPr lang="en-US" sz="1400" b="1" dirty="0">
                <a:solidFill>
                  <a:srgbClr val="14232E"/>
                </a:solidFill>
                <a:latin typeface="Calibri" pitchFamily="34" charset="0"/>
                <a:ea typeface="Calibri" pitchFamily="34" charset="-122"/>
                <a:cs typeface="Calibri" pitchFamily="34" charset="-120"/>
              </a:rPr>
              <a:t>ConvertQONNXtoFINN</a:t>
            </a:r>
            <a:endParaRPr lang="en-US" sz="1400" dirty="0"/>
          </a:p>
        </p:txBody>
      </p:sp>
      <p:sp>
        <p:nvSpPr>
          <p:cNvPr id="9" name="Text 6"/>
          <p:cNvSpPr txBox="1"/>
          <p:nvPr/>
        </p:nvSpPr>
        <p:spPr>
          <a:xfrm>
            <a:off x="585216" y="1572768"/>
            <a:ext cx="7973568" cy="164592"/>
          </a:xfrm>
          <a:prstGeom prst="rect">
            <a:avLst/>
          </a:prstGeom>
          <a:noFill/>
          <a:ln/>
        </p:spPr>
        <p:txBody>
          <a:bodyPr wrap="square" lIns="0" tIns="0" rIns="0" bIns="0" rtlCol="0" anchor="t"/>
          <a:lstStyle/>
          <a:p>
            <a:pPr indent="0" marL="0">
              <a:buNone/>
            </a:pPr>
            <a:r>
              <a:rPr lang="en-US" sz="1250" dirty="0">
                <a:solidFill>
                  <a:srgbClr val="3F4F5A"/>
                </a:solidFill>
                <a:latin typeface="Calibri" pitchFamily="34" charset="0"/>
                <a:ea typeface="Calibri" pitchFamily="34" charset="-122"/>
                <a:cs typeface="Calibri" pitchFamily="34" charset="-120"/>
              </a:rPr>
              <a:t>Gộp nút Quant vào Conv/MaxPool; ReLU và activation thành MultiThreshold</a:t>
            </a:r>
            <a:endParaRPr lang="en-US" sz="1250" dirty="0"/>
          </a:p>
        </p:txBody>
      </p:sp>
      <p:sp>
        <p:nvSpPr>
          <p:cNvPr id="10" name="Shape 7"/>
          <p:cNvSpPr/>
          <p:nvPr/>
        </p:nvSpPr>
        <p:spPr>
          <a:xfrm>
            <a:off x="457200" y="1874520"/>
            <a:ext cx="8229600" cy="621792"/>
          </a:xfrm>
          <a:prstGeom prst="roundRect">
            <a:avLst>
              <a:gd name="adj" fmla="val 11765"/>
            </a:avLst>
          </a:prstGeom>
          <a:solidFill>
            <a:srgbClr val="FBFBF8"/>
          </a:solidFill>
          <a:ln w="9525">
            <a:solidFill>
              <a:srgbClr val="D9DDD8"/>
            </a:solidFill>
            <a:prstDash val="solid"/>
          </a:ln>
        </p:spPr>
      </p:sp>
      <p:sp>
        <p:nvSpPr>
          <p:cNvPr id="11" name="Text 8"/>
          <p:cNvSpPr txBox="1"/>
          <p:nvPr/>
        </p:nvSpPr>
        <p:spPr>
          <a:xfrm>
            <a:off x="585216" y="1984248"/>
            <a:ext cx="7973568" cy="237744"/>
          </a:xfrm>
          <a:prstGeom prst="rect">
            <a:avLst/>
          </a:prstGeom>
          <a:noFill/>
          <a:ln/>
        </p:spPr>
        <p:txBody>
          <a:bodyPr wrap="square" lIns="0" tIns="0" rIns="0" bIns="0" rtlCol="0" anchor="t"/>
          <a:lstStyle/>
          <a:p>
            <a:pPr indent="0" marL="0">
              <a:buNone/>
            </a:pPr>
            <a:r>
              <a:rPr lang="en-US" sz="1400" b="1" dirty="0">
                <a:solidFill>
                  <a:srgbClr val="14232E"/>
                </a:solidFill>
                <a:latin typeface="Calibri" pitchFamily="34" charset="0"/>
                <a:ea typeface="Calibri" pitchFamily="34" charset="-122"/>
                <a:cs typeface="Calibri" pitchFamily="34" charset="-120"/>
              </a:rPr>
              <a:t>Tidy-up</a:t>
            </a:r>
            <a:endParaRPr lang="en-US" sz="1400" dirty="0"/>
          </a:p>
        </p:txBody>
      </p:sp>
      <p:sp>
        <p:nvSpPr>
          <p:cNvPr id="12" name="Text 9"/>
          <p:cNvSpPr txBox="1"/>
          <p:nvPr/>
        </p:nvSpPr>
        <p:spPr>
          <a:xfrm>
            <a:off x="585216" y="2258568"/>
            <a:ext cx="7973568" cy="164592"/>
          </a:xfrm>
          <a:prstGeom prst="rect">
            <a:avLst/>
          </a:prstGeom>
          <a:noFill/>
          <a:ln/>
        </p:spPr>
        <p:txBody>
          <a:bodyPr wrap="square" lIns="0" tIns="0" rIns="0" bIns="0" rtlCol="0" anchor="t"/>
          <a:lstStyle/>
          <a:p>
            <a:pPr indent="0" marL="0">
              <a:buNone/>
            </a:pPr>
            <a:r>
              <a:rPr lang="en-US" sz="1250" dirty="0">
                <a:solidFill>
                  <a:srgbClr val="3F4F5A"/>
                </a:solidFill>
                <a:latin typeface="Calibri" pitchFamily="34" charset="0"/>
                <a:ea typeface="Calibri" pitchFamily="34" charset="-122"/>
                <a:cs typeface="Calibri" pitchFamily="34" charset="-120"/>
              </a:rPr>
              <a:t>Ghi shape, kiểu dữ liệu, đặt tên duy nhất cho từng nút</a:t>
            </a:r>
            <a:endParaRPr lang="en-US" sz="1250" dirty="0"/>
          </a:p>
        </p:txBody>
      </p:sp>
      <p:sp>
        <p:nvSpPr>
          <p:cNvPr id="13" name="Shape 10"/>
          <p:cNvSpPr/>
          <p:nvPr/>
        </p:nvSpPr>
        <p:spPr>
          <a:xfrm>
            <a:off x="457200" y="2560320"/>
            <a:ext cx="8229600" cy="621792"/>
          </a:xfrm>
          <a:prstGeom prst="roundRect">
            <a:avLst>
              <a:gd name="adj" fmla="val 11765"/>
            </a:avLst>
          </a:prstGeom>
          <a:solidFill>
            <a:srgbClr val="FBFBF8"/>
          </a:solidFill>
          <a:ln w="9525">
            <a:solidFill>
              <a:srgbClr val="D9DDD8"/>
            </a:solidFill>
            <a:prstDash val="solid"/>
          </a:ln>
        </p:spPr>
      </p:sp>
      <p:sp>
        <p:nvSpPr>
          <p:cNvPr id="14" name="Text 11"/>
          <p:cNvSpPr txBox="1"/>
          <p:nvPr/>
        </p:nvSpPr>
        <p:spPr>
          <a:xfrm>
            <a:off x="585216" y="2670048"/>
            <a:ext cx="7973568" cy="237744"/>
          </a:xfrm>
          <a:prstGeom prst="rect">
            <a:avLst/>
          </a:prstGeom>
          <a:noFill/>
          <a:ln/>
        </p:spPr>
        <p:txBody>
          <a:bodyPr wrap="square" lIns="0" tIns="0" rIns="0" bIns="0" rtlCol="0" anchor="t"/>
          <a:lstStyle/>
          <a:p>
            <a:pPr indent="0" marL="0">
              <a:buNone/>
            </a:pPr>
            <a:r>
              <a:rPr lang="en-US" sz="1400" b="1" dirty="0">
                <a:solidFill>
                  <a:srgbClr val="14232E"/>
                </a:solidFill>
                <a:latin typeface="Calibri" pitchFamily="34" charset="0"/>
                <a:ea typeface="Calibri" pitchFamily="34" charset="-122"/>
                <a:cs typeface="Calibri" pitchFamily="34" charset="-120"/>
              </a:rPr>
              <a:t>Chuẩn hóa đầu vào</a:t>
            </a:r>
            <a:endParaRPr lang="en-US" sz="1400" dirty="0"/>
          </a:p>
        </p:txBody>
      </p:sp>
      <p:sp>
        <p:nvSpPr>
          <p:cNvPr id="15" name="Text 12"/>
          <p:cNvSpPr txBox="1"/>
          <p:nvPr/>
        </p:nvSpPr>
        <p:spPr>
          <a:xfrm>
            <a:off x="585216" y="2944368"/>
            <a:ext cx="7973568" cy="164592"/>
          </a:xfrm>
          <a:prstGeom prst="rect">
            <a:avLst/>
          </a:prstGeom>
          <a:noFill/>
          <a:ln/>
        </p:spPr>
        <p:txBody>
          <a:bodyPr wrap="square" lIns="0" tIns="0" rIns="0" bIns="0" rtlCol="0" anchor="t"/>
          <a:lstStyle/>
          <a:p>
            <a:pPr indent="0" marL="0">
              <a:buNone/>
            </a:pPr>
            <a:r>
              <a:rPr lang="en-US" sz="1250" dirty="0">
                <a:solidFill>
                  <a:srgbClr val="3F4F5A"/>
                </a:solidFill>
                <a:latin typeface="Calibri" pitchFamily="34" charset="0"/>
                <a:ea typeface="Calibri" pitchFamily="34" charset="-122"/>
                <a:cs typeface="Calibri" pitchFamily="34" charset="-120"/>
              </a:rPr>
              <a:t>Chèn nút Div trước conv đầu: INT8 về [0, 1]</a:t>
            </a:r>
            <a:endParaRPr lang="en-US" sz="1250" dirty="0"/>
          </a:p>
        </p:txBody>
      </p:sp>
      <p:sp>
        <p:nvSpPr>
          <p:cNvPr id="16" name="Shape 13"/>
          <p:cNvSpPr/>
          <p:nvPr/>
        </p:nvSpPr>
        <p:spPr>
          <a:xfrm>
            <a:off x="457200" y="3246120"/>
            <a:ext cx="8229600" cy="621792"/>
          </a:xfrm>
          <a:prstGeom prst="roundRect">
            <a:avLst>
              <a:gd name="adj" fmla="val 11765"/>
            </a:avLst>
          </a:prstGeom>
          <a:solidFill>
            <a:srgbClr val="FBFBF8"/>
          </a:solidFill>
          <a:ln w="9525">
            <a:solidFill>
              <a:srgbClr val="D9DDD8"/>
            </a:solidFill>
            <a:prstDash val="solid"/>
          </a:ln>
        </p:spPr>
      </p:sp>
      <p:sp>
        <p:nvSpPr>
          <p:cNvPr id="17" name="Text 14"/>
          <p:cNvSpPr txBox="1"/>
          <p:nvPr/>
        </p:nvSpPr>
        <p:spPr>
          <a:xfrm>
            <a:off x="585216" y="3355848"/>
            <a:ext cx="7973568" cy="237744"/>
          </a:xfrm>
          <a:prstGeom prst="rect">
            <a:avLst/>
          </a:prstGeom>
          <a:noFill/>
          <a:ln/>
        </p:spPr>
        <p:txBody>
          <a:bodyPr wrap="square" lIns="0" tIns="0" rIns="0" bIns="0" rtlCol="0" anchor="t"/>
          <a:lstStyle/>
          <a:p>
            <a:pPr indent="0" marL="0">
              <a:buNone/>
            </a:pPr>
            <a:r>
              <a:rPr lang="en-US" sz="1400" b="1" dirty="0">
                <a:solidFill>
                  <a:srgbClr val="14232E"/>
                </a:solidFill>
                <a:latin typeface="Calibri" pitchFamily="34" charset="0"/>
                <a:ea typeface="Calibri" pitchFamily="34" charset="-122"/>
                <a:cs typeface="Calibri" pitchFamily="34" charset="-120"/>
              </a:rPr>
              <a:t>Streamline</a:t>
            </a:r>
            <a:endParaRPr lang="en-US" sz="1400" dirty="0"/>
          </a:p>
        </p:txBody>
      </p:sp>
      <p:sp>
        <p:nvSpPr>
          <p:cNvPr id="18" name="Text 15"/>
          <p:cNvSpPr txBox="1"/>
          <p:nvPr/>
        </p:nvSpPr>
        <p:spPr>
          <a:xfrm>
            <a:off x="585216" y="3630168"/>
            <a:ext cx="7973568" cy="164592"/>
          </a:xfrm>
          <a:prstGeom prst="rect">
            <a:avLst/>
          </a:prstGeom>
          <a:noFill/>
          <a:ln/>
        </p:spPr>
        <p:txBody>
          <a:bodyPr wrap="square" lIns="0" tIns="0" rIns="0" bIns="0" rtlCol="0" anchor="t"/>
          <a:lstStyle/>
          <a:p>
            <a:pPr indent="0" marL="0">
              <a:buNone/>
            </a:pPr>
            <a:r>
              <a:rPr lang="en-US" sz="1250" dirty="0">
                <a:solidFill>
                  <a:srgbClr val="3F4F5A"/>
                </a:solidFill>
                <a:latin typeface="Calibri" pitchFamily="34" charset="0"/>
                <a:ea typeface="Calibri" pitchFamily="34" charset="-122"/>
                <a:cs typeface="Calibri" pitchFamily="34" charset="-120"/>
              </a:rPr>
              <a:t>Gom toán tử float, chuyển thành MultiThreshold</a:t>
            </a:r>
            <a:endParaRPr lang="en-US" sz="1250" dirty="0"/>
          </a:p>
        </p:txBody>
      </p:sp>
      <p:sp>
        <p:nvSpPr>
          <p:cNvPr id="19" name="Shape 16"/>
          <p:cNvSpPr/>
          <p:nvPr/>
        </p:nvSpPr>
        <p:spPr>
          <a:xfrm>
            <a:off x="457200" y="3931920"/>
            <a:ext cx="8229600" cy="621792"/>
          </a:xfrm>
          <a:prstGeom prst="roundRect">
            <a:avLst>
              <a:gd name="adj" fmla="val 11765"/>
            </a:avLst>
          </a:prstGeom>
          <a:solidFill>
            <a:srgbClr val="FBFBF8"/>
          </a:solidFill>
          <a:ln w="9525">
            <a:solidFill>
              <a:srgbClr val="D9DDD8"/>
            </a:solidFill>
            <a:prstDash val="solid"/>
          </a:ln>
        </p:spPr>
      </p:sp>
      <p:sp>
        <p:nvSpPr>
          <p:cNvPr id="20" name="Text 17"/>
          <p:cNvSpPr txBox="1"/>
          <p:nvPr/>
        </p:nvSpPr>
        <p:spPr>
          <a:xfrm>
            <a:off x="585216" y="4041648"/>
            <a:ext cx="7973568" cy="237744"/>
          </a:xfrm>
          <a:prstGeom prst="rect">
            <a:avLst/>
          </a:prstGeom>
          <a:noFill/>
          <a:ln/>
        </p:spPr>
        <p:txBody>
          <a:bodyPr wrap="square" lIns="0" tIns="0" rIns="0" bIns="0" rtlCol="0" anchor="t"/>
          <a:lstStyle/>
          <a:p>
            <a:pPr indent="0" marL="0">
              <a:buNone/>
            </a:pPr>
            <a:r>
              <a:rPr lang="en-US" sz="1400" b="1" dirty="0">
                <a:solidFill>
                  <a:srgbClr val="14232E"/>
                </a:solidFill>
                <a:latin typeface="Calibri" pitchFamily="34" charset="0"/>
                <a:ea typeface="Calibri" pitchFamily="34" charset="-122"/>
                <a:cs typeface="Calibri" pitchFamily="34" charset="-120"/>
              </a:rPr>
              <a:t>Lowering</a:t>
            </a:r>
            <a:endParaRPr lang="en-US" sz="1400" dirty="0"/>
          </a:p>
        </p:txBody>
      </p:sp>
      <p:sp>
        <p:nvSpPr>
          <p:cNvPr id="21" name="Text 18"/>
          <p:cNvSpPr txBox="1"/>
          <p:nvPr/>
        </p:nvSpPr>
        <p:spPr>
          <a:xfrm>
            <a:off x="585216" y="4315968"/>
            <a:ext cx="7973568" cy="164592"/>
          </a:xfrm>
          <a:prstGeom prst="rect">
            <a:avLst/>
          </a:prstGeom>
          <a:noFill/>
          <a:ln/>
        </p:spPr>
        <p:txBody>
          <a:bodyPr wrap="square" lIns="0" tIns="0" rIns="0" bIns="0" rtlCol="0" anchor="t"/>
          <a:lstStyle/>
          <a:p>
            <a:pPr indent="0" marL="0">
              <a:buNone/>
            </a:pPr>
            <a:r>
              <a:rPr lang="en-US" sz="1250" dirty="0">
                <a:solidFill>
                  <a:srgbClr val="3F4F5A"/>
                </a:solidFill>
                <a:latin typeface="Calibri" pitchFamily="34" charset="0"/>
                <a:ea typeface="Calibri" pitchFamily="34" charset="-122"/>
                <a:cs typeface="Calibri" pitchFamily="34" charset="-120"/>
              </a:rPr>
              <a:t>Conv thành Im2Col + MatMul</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BIẾN ĐỔI FINN (2)</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Ánh xạ phần cứng và dataflow partition</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18 / 42</a:t>
            </a:r>
            <a:endParaRPr lang="en-US" sz="900" dirty="0"/>
          </a:p>
        </p:txBody>
      </p:sp>
      <p:sp>
        <p:nvSpPr>
          <p:cNvPr id="7" name="Shape 4"/>
          <p:cNvSpPr/>
          <p:nvPr/>
        </p:nvSpPr>
        <p:spPr>
          <a:xfrm>
            <a:off x="457200" y="1188720"/>
            <a:ext cx="4023360" cy="1691640"/>
          </a:xfrm>
          <a:prstGeom prst="roundRect">
            <a:avLst>
              <a:gd name="adj" fmla="val 4324"/>
            </a:avLst>
          </a:prstGeom>
          <a:solidFill>
            <a:srgbClr val="FBFBF8"/>
          </a:solidFill>
          <a:ln w="9525">
            <a:solidFill>
              <a:srgbClr val="D9DDD8"/>
            </a:solidFill>
            <a:prstDash val="solid"/>
          </a:ln>
        </p:spPr>
      </p:sp>
      <p:sp>
        <p:nvSpPr>
          <p:cNvPr id="8" name="Text 5"/>
          <p:cNvSpPr txBox="1"/>
          <p:nvPr/>
        </p:nvSpPr>
        <p:spPr>
          <a:xfrm>
            <a:off x="585216" y="129844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Ánh xạ</a:t>
            </a:r>
            <a:endParaRPr lang="en-US" sz="1500" dirty="0"/>
          </a:p>
        </p:txBody>
      </p:sp>
      <p:sp>
        <p:nvSpPr>
          <p:cNvPr id="9" name="Text 6"/>
          <p:cNvSpPr txBox="1"/>
          <p:nvPr/>
        </p:nvSpPr>
        <p:spPr>
          <a:xfrm>
            <a:off x="585216" y="1609344"/>
            <a:ext cx="3767328" cy="119786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MatMul thành MVU (Matrix-Vector Unit)</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Im2Col thành SWG/CIG (Sliding Window Generator)</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MaxPool, Threshold thành khối streaming</a:t>
            </a:r>
            <a:endParaRPr lang="en-US" sz="1300" dirty="0"/>
          </a:p>
        </p:txBody>
      </p:sp>
      <p:sp>
        <p:nvSpPr>
          <p:cNvPr id="10" name="Shape 7"/>
          <p:cNvSpPr/>
          <p:nvPr/>
        </p:nvSpPr>
        <p:spPr>
          <a:xfrm>
            <a:off x="4663440" y="1188720"/>
            <a:ext cx="4023360" cy="1691640"/>
          </a:xfrm>
          <a:prstGeom prst="roundRect">
            <a:avLst>
              <a:gd name="adj" fmla="val 4324"/>
            </a:avLst>
          </a:prstGeom>
          <a:solidFill>
            <a:srgbClr val="FBFBF8"/>
          </a:solidFill>
          <a:ln w="9525">
            <a:solidFill>
              <a:srgbClr val="D9DDD8"/>
            </a:solidFill>
            <a:prstDash val="solid"/>
          </a:ln>
        </p:spPr>
      </p:sp>
      <p:sp>
        <p:nvSpPr>
          <p:cNvPr id="11" name="Text 8"/>
          <p:cNvSpPr txBox="1"/>
          <p:nvPr/>
        </p:nvSpPr>
        <p:spPr>
          <a:xfrm>
            <a:off x="4791456" y="129844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Phần chạy trên PS</a:t>
            </a:r>
            <a:endParaRPr lang="en-US" sz="1500" dirty="0"/>
          </a:p>
        </p:txBody>
      </p:sp>
      <p:sp>
        <p:nvSpPr>
          <p:cNvPr id="12" name="Text 9"/>
          <p:cNvSpPr txBox="1"/>
          <p:nvPr/>
        </p:nvSpPr>
        <p:spPr>
          <a:xfrm>
            <a:off x="4791456" y="1609344"/>
            <a:ext cx="3767328" cy="119786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Hai Transpose (đổi bố cục dữ liệu YOLO và FINN)</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Phép Mul tỉ lệ để khử lượng tử đầu ra</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Hậu xử lý: detect, NMS, vẽ hộp</a:t>
            </a:r>
            <a:endParaRPr lang="en-US" sz="1300" dirty="0"/>
          </a:p>
        </p:txBody>
      </p:sp>
      <p:sp>
        <p:nvSpPr>
          <p:cNvPr id="13" name="Shape 10"/>
          <p:cNvSpPr/>
          <p:nvPr/>
        </p:nvSpPr>
        <p:spPr>
          <a:xfrm>
            <a:off x="457200" y="3017520"/>
            <a:ext cx="8229600" cy="1600200"/>
          </a:xfrm>
          <a:prstGeom prst="roundRect">
            <a:avLst>
              <a:gd name="adj" fmla="val 4571"/>
            </a:avLst>
          </a:prstGeom>
          <a:solidFill>
            <a:srgbClr val="FBFBF8"/>
          </a:solidFill>
          <a:ln w="9525">
            <a:solidFill>
              <a:srgbClr val="D9DDD8"/>
            </a:solidFill>
            <a:prstDash val="solid"/>
          </a:ln>
        </p:spPr>
      </p:sp>
      <p:sp>
        <p:nvSpPr>
          <p:cNvPr id="14" name="Text 11"/>
          <p:cNvSpPr txBox="1"/>
          <p:nvPr/>
        </p:nvSpPr>
        <p:spPr>
          <a:xfrm>
            <a:off x="585216" y="3127248"/>
            <a:ext cx="797356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CreateDataflowPartition</a:t>
            </a:r>
            <a:endParaRPr lang="en-US" sz="1500" dirty="0"/>
          </a:p>
        </p:txBody>
      </p:sp>
      <p:sp>
        <p:nvSpPr>
          <p:cNvPr id="15" name="Text 12"/>
          <p:cNvSpPr txBox="1"/>
          <p:nvPr/>
        </p:nvSpPr>
        <p:spPr>
          <a:xfrm>
            <a:off x="585216" y="3438144"/>
            <a:ext cx="7973568" cy="1106424"/>
          </a:xfrm>
          <a:prstGeom prst="rect">
            <a:avLst/>
          </a:prstGeom>
          <a:noFill/>
          <a:ln/>
        </p:spPr>
        <p:txBody>
          <a:bodyPr wrap="square" lIns="0" tIns="0" rIns="0" bIns="0" rtlCol="0" anchor="t"/>
          <a:lstStyle/>
          <a:p>
            <a:pPr indent="0" marL="0">
              <a:buNone/>
            </a:pPr>
            <a:r>
              <a:rPr lang="en-US" sz="1300" dirty="0">
                <a:solidFill>
                  <a:srgbClr val="3F4F5A"/>
                </a:solidFill>
                <a:latin typeface="Calibri" pitchFamily="34" charset="0"/>
                <a:ea typeface="Calibri" pitchFamily="34" charset="-122"/>
                <a:cs typeface="Calibri" pitchFamily="34" charset="-120"/>
              </a:rPr>
              <a:t>FINN hiện chỉ ánh xạ được một partition lên PL, vì vậy mọi thứ không tổng hợp được phải ở rìa đồ thị. Điều này ràng buộc ngược lại thiết kế mạng: không có nhánh rẽ giữa mạng, và các nút cuối chỉ là phép tỉ lệ đơn giản.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CHUYÊN BIỆT HÓA LỚP</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RTL hay HLS cho MVU và SWG</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19 / 42</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463040"/>
                <a:gridCol w="3383280"/>
                <a:gridCol w="3383280"/>
              </a:tblGrid>
              <a:tr h="6858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Thành phần</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RTL</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HLS</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68580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MVU</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Dùng DSP48 với DSP packing; chưa hỗ trợ kiểu LUT</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Hỗ trợ cả DSP và LUT nhưng không đóng gói, tốn tài nguyên hơn</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68580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SWG (CIG)</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Parallel window: xử lý đồng thời cửa sổ mọi kênh, giảm chu kỳ, đòi hỏi SIMD unfold hoàn toàn</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Không có parallel window</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68580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Khi nào dùng</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Mặc định, ưu tiên</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Khi hết DSP: dùng LUT dư để unfold thêm MVU</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bl>
          </a:graphicData>
        </a:graphic>
      </p:graphicFrame>
      <p:sp>
        <p:nvSpPr>
          <p:cNvPr id="8" name="Text 4"/>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300" dirty="0">
                <a:solidFill>
                  <a:srgbClr val="3F4F5A"/>
                </a:solidFill>
                <a:latin typeface="Calibri" pitchFamily="34" charset="0"/>
                <a:ea typeface="Calibri" pitchFamily="34" charset="-122"/>
                <a:cs typeface="Calibri" pitchFamily="34" charset="-120"/>
              </a:rPr>
              <a:t>Tác giả viết một script Python 3.10 để chuyển qua lại kiểu đặc tả từng lớp khi dò cấu hình tối ưu.</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DSP PACKING</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Số MAC trên mỗi DSP (Bảng 4)</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20 / 42</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743200"/>
                <a:gridCol w="2743200"/>
                <a:gridCol w="274320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Loại DSP</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Kích hoạt (U)INT4 × trọng số INT4</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Kích hoạt (4,8] bit × trọng số (4,8] bit</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41148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HLS DSP</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1 MAC/DSP</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1 MAC/DSP</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411480">
                <a:tc>
                  <a:txBody>
                    <a:bodyPr/>
                    <a:lstStyle/>
                    <a:p>
                      <a:pPr indent="0" marL="0">
                        <a:buNone/>
                      </a:pPr>
                      <a:r>
                        <a:rPr lang="en-US" sz="1300" b="1" dirty="0">
                          <a:solidFill>
                            <a:srgbClr val="14232E"/>
                          </a:solidFill>
                          <a:latin typeface="Calibri" pitchFamily="34" charset="0"/>
                          <a:ea typeface="Calibri" pitchFamily="34" charset="-122"/>
                          <a:cs typeface="Calibri" pitchFamily="34" charset="-120"/>
                        </a:rPr>
                        <a:t>RTL DSP48E1 (Zynq-7000)</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b="1" dirty="0">
                          <a:solidFill>
                            <a:srgbClr val="14232E"/>
                          </a:solidFill>
                          <a:latin typeface="Calibri" pitchFamily="34" charset="0"/>
                          <a:ea typeface="Calibri" pitchFamily="34" charset="-122"/>
                          <a:cs typeface="Calibri" pitchFamily="34" charset="-120"/>
                        </a:rPr>
                        <a:t>4 MAC/DSP</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b="1" dirty="0">
                          <a:solidFill>
                            <a:srgbClr val="14232E"/>
                          </a:solidFill>
                          <a:latin typeface="Calibri" pitchFamily="34" charset="0"/>
                          <a:ea typeface="Calibri" pitchFamily="34" charset="-122"/>
                          <a:cs typeface="Calibri" pitchFamily="34" charset="-120"/>
                        </a:rPr>
                        <a:t>2 MAC/DSP</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41148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RTL DSP48E2</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4 MAC/DSP</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2 MAC/DSP</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41148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RTL DSP58</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3 MAC/DSP</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3 MAC/DSP</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bl>
          </a:graphicData>
        </a:graphic>
      </p:graphicFrame>
      <p:sp>
        <p:nvSpPr>
          <p:cNvPr id="8" name="Shape 4"/>
          <p:cNvSpPr/>
          <p:nvPr/>
        </p:nvSpPr>
        <p:spPr>
          <a:xfrm>
            <a:off x="457200" y="3474720"/>
            <a:ext cx="8229600" cy="1143000"/>
          </a:xfrm>
          <a:prstGeom prst="roundRect">
            <a:avLst>
              <a:gd name="adj" fmla="val 6400"/>
            </a:avLst>
          </a:prstGeom>
          <a:solidFill>
            <a:srgbClr val="FBFBF8"/>
          </a:solidFill>
          <a:ln w="9525">
            <a:solidFill>
              <a:srgbClr val="D9DDD8"/>
            </a:solidFill>
            <a:prstDash val="solid"/>
          </a:ln>
        </p:spPr>
      </p:sp>
      <p:sp>
        <p:nvSpPr>
          <p:cNvPr id="9" name="Text 5"/>
          <p:cNvSpPr txBox="1"/>
          <p:nvPr/>
        </p:nvSpPr>
        <p:spPr>
          <a:xfrm>
            <a:off x="585216" y="3584448"/>
            <a:ext cx="797356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Ý nghĩa</a:t>
            </a:r>
            <a:endParaRPr lang="en-US" sz="1500" dirty="0"/>
          </a:p>
        </p:txBody>
      </p:sp>
      <p:sp>
        <p:nvSpPr>
          <p:cNvPr id="10" name="Text 6"/>
          <p:cNvSpPr txBox="1"/>
          <p:nvPr/>
        </p:nvSpPr>
        <p:spPr>
          <a:xfrm>
            <a:off x="585216" y="3895344"/>
            <a:ext cx="7973568" cy="649224"/>
          </a:xfrm>
          <a:prstGeom prst="rect">
            <a:avLst/>
          </a:prstGeom>
          <a:noFill/>
          <a:ln/>
        </p:spPr>
        <p:txBody>
          <a:bodyPr wrap="square" lIns="0" tIns="0" rIns="0" bIns="0" rtlCol="0" anchor="t"/>
          <a:lstStyle/>
          <a:p>
            <a:pPr indent="0" marL="0">
              <a:buNone/>
            </a:pPr>
            <a:r>
              <a:rPr lang="en-US" sz="1300" dirty="0">
                <a:solidFill>
                  <a:srgbClr val="3F4F5A"/>
                </a:solidFill>
                <a:latin typeface="Calibri" pitchFamily="34" charset="0"/>
                <a:ea typeface="Calibri" pitchFamily="34" charset="-122"/>
                <a:cs typeface="Calibri" pitchFamily="34" charset="-120"/>
              </a:rPr>
              <a:t>Hạ trọng số và kích hoạt xuống 4 bit không chỉ giảm bộ nhớ: nó cho phép nhồi bốn phép nhân vào một DSP48E1. Với chỉ 220 DSP, đây là đòn bẩy chính cho thông lượng. Phần LUT còn lại được dùng cho MVU HLS để unfold thêm.</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FOLDING</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Cân bằng chu kỳ giữa các lớp</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21 / 42</a:t>
            </a:r>
            <a:endParaRPr lang="en-US" sz="900" dirty="0"/>
          </a:p>
        </p:txBody>
      </p:sp>
      <p:sp>
        <p:nvSpPr>
          <p:cNvPr id="7" name="Shape 4"/>
          <p:cNvSpPr/>
          <p:nvPr/>
        </p:nvSpPr>
        <p:spPr>
          <a:xfrm>
            <a:off x="457200" y="1188720"/>
            <a:ext cx="3657600" cy="3429000"/>
          </a:xfrm>
          <a:prstGeom prst="roundRect">
            <a:avLst>
              <a:gd name="adj" fmla="val 2133"/>
            </a:avLst>
          </a:prstGeom>
          <a:solidFill>
            <a:srgbClr val="FBFBF8"/>
          </a:solidFill>
          <a:ln w="9525">
            <a:solidFill>
              <a:srgbClr val="D9DDD8"/>
            </a:solidFill>
            <a:prstDash val="solid"/>
          </a:ln>
        </p:spPr>
      </p:sp>
      <p:sp>
        <p:nvSpPr>
          <p:cNvPr id="8" name="Text 5"/>
          <p:cNvSpPr txBox="1"/>
          <p:nvPr/>
        </p:nvSpPr>
        <p:spPr>
          <a:xfrm>
            <a:off x="585216" y="1298448"/>
            <a:ext cx="340156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Thủ tục lặp</a:t>
            </a:r>
            <a:endParaRPr lang="en-US" sz="1500" dirty="0"/>
          </a:p>
        </p:txBody>
      </p:sp>
      <p:sp>
        <p:nvSpPr>
          <p:cNvPr id="9" name="Text 6"/>
          <p:cNvSpPr txBox="1"/>
          <p:nvPr/>
        </p:nvSpPr>
        <p:spPr>
          <a:xfrm>
            <a:off x="585216" y="1609344"/>
            <a:ext cx="3401568" cy="293522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Bắt đầu: mọi SIMD = PE = 1 (fold hoàn toàn)</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Áp cấu hình JSON bằng ApplyConfig</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Mỗi vòng: unfold lớp chậm nhất</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Cân bằng chu kỳ trên mỗi lớp trong giới hạn tài nguyên</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Lớp nhỏ (MaxPool, SWG, MultiThreshold cuối mạng) giữ fold hoàn toàn</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Dừng khi lớp chậm nhất đã unfold hết cỡ</a:t>
            </a:r>
            <a:endParaRPr lang="en-US" sz="1300" dirty="0"/>
          </a:p>
        </p:txBody>
      </p:sp>
      <p:pic>
        <p:nvPicPr>
          <p:cNvPr id="10" name="Image 0" descr="fig10">    </p:cNvPr>
          <p:cNvPicPr>
            <a:picLocks noChangeAspect="1"/>
          </p:cNvPicPr>
          <p:nvPr/>
        </p:nvPicPr>
        <p:blipFill>
          <a:blip r:embed="rId1"/>
          <a:stretch>
            <a:fillRect/>
          </a:stretch>
        </p:blipFill>
        <p:spPr>
          <a:xfrm>
            <a:off x="4297680" y="1188720"/>
            <a:ext cx="4389120" cy="1757125"/>
          </a:xfrm>
          <a:prstGeom prst="rect">
            <a:avLst/>
          </a:prstGeom>
        </p:spPr>
      </p:pic>
      <p:sp>
        <p:nvSpPr>
          <p:cNvPr id="11" name="Text 7"/>
          <p:cNvSpPr txBox="1"/>
          <p:nvPr/>
        </p:nvSpPr>
        <p:spPr>
          <a:xfrm>
            <a:off x="4297680" y="3520440"/>
            <a:ext cx="4389120" cy="457200"/>
          </a:xfrm>
          <a:prstGeom prst="rect">
            <a:avLst/>
          </a:prstGeom>
          <a:noFill/>
          <a:ln/>
        </p:spPr>
        <p:txBody>
          <a:bodyPr wrap="square" lIns="0" tIns="0" rIns="0" bIns="0" rtlCol="0" anchor="t"/>
          <a:lstStyle/>
          <a:p>
            <a:pPr indent="0" marL="0">
              <a:buNone/>
            </a:pPr>
            <a:r>
              <a:rPr lang="en-US" sz="1200" dirty="0">
                <a:solidFill>
                  <a:srgbClr val="3F4F5A"/>
                </a:solidFill>
                <a:latin typeface="Calibri" pitchFamily="34" charset="0"/>
                <a:ea typeface="Calibri" pitchFamily="34" charset="-122"/>
                <a:cs typeface="Calibri" pitchFamily="34" charset="-120"/>
              </a:rPr>
              <a:t>Hình 10: số chu kỳ mỗi lớp sau tối ưu. Lớp dài nhất là StreamingMaxPool_hls_0 (~216 000 chu kỳ theo dự đoán); các lớp lớn được đưa về mức xấp xỉ nó.</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CÂN BẰNG TÀI NGUYÊN</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Mặc định và tối ưu (Hình 8, 11)</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22 / 42</a:t>
            </a:r>
            <a:endParaRPr lang="en-US" sz="900" dirty="0"/>
          </a:p>
        </p:txBody>
      </p:sp>
      <p:pic>
        <p:nvPicPr>
          <p:cNvPr id="7" name="Image 0" descr="Hình 8">    </p:cNvPr>
          <p:cNvPicPr>
            <a:picLocks noChangeAspect="1"/>
          </p:cNvPicPr>
          <p:nvPr/>
        </p:nvPicPr>
        <p:blipFill>
          <a:blip r:embed="rId1"/>
          <a:stretch>
            <a:fillRect/>
          </a:stretch>
        </p:blipFill>
        <p:spPr>
          <a:xfrm>
            <a:off x="605343" y="1097280"/>
            <a:ext cx="2081154" cy="3520440"/>
          </a:xfrm>
          <a:prstGeom prst="rect">
            <a:avLst/>
          </a:prstGeom>
        </p:spPr>
      </p:pic>
      <p:pic>
        <p:nvPicPr>
          <p:cNvPr id="8" name="Image 1" descr="Hình 11">    </p:cNvPr>
          <p:cNvPicPr>
            <a:picLocks noChangeAspect="1"/>
          </p:cNvPicPr>
          <p:nvPr/>
        </p:nvPicPr>
        <p:blipFill>
          <a:blip r:embed="rId2"/>
          <a:stretch>
            <a:fillRect/>
          </a:stretch>
        </p:blipFill>
        <p:spPr>
          <a:xfrm>
            <a:off x="2927673" y="1097280"/>
            <a:ext cx="2831453" cy="3520440"/>
          </a:xfrm>
          <a:prstGeom prst="rect">
            <a:avLst/>
          </a:prstGeom>
        </p:spPr>
      </p:pic>
      <p:sp>
        <p:nvSpPr>
          <p:cNvPr id="9" name="Shape 4"/>
          <p:cNvSpPr/>
          <p:nvPr/>
        </p:nvSpPr>
        <p:spPr>
          <a:xfrm>
            <a:off x="5943600" y="1097280"/>
            <a:ext cx="2743200" cy="3520440"/>
          </a:xfrm>
          <a:prstGeom prst="roundRect">
            <a:avLst>
              <a:gd name="adj" fmla="val 2667"/>
            </a:avLst>
          </a:prstGeom>
          <a:solidFill>
            <a:srgbClr val="FBFBF8"/>
          </a:solidFill>
          <a:ln w="9525">
            <a:solidFill>
              <a:srgbClr val="D9DDD8"/>
            </a:solidFill>
            <a:prstDash val="solid"/>
          </a:ln>
        </p:spPr>
      </p:sp>
      <p:sp>
        <p:nvSpPr>
          <p:cNvPr id="10" name="Text 5"/>
          <p:cNvSpPr txBox="1"/>
          <p:nvPr/>
        </p:nvSpPr>
        <p:spPr>
          <a:xfrm>
            <a:off x="6071616" y="1207008"/>
            <a:ext cx="248716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Cách đọc</a:t>
            </a:r>
            <a:endParaRPr lang="en-US" sz="1500" dirty="0"/>
          </a:p>
        </p:txBody>
      </p:sp>
      <p:sp>
        <p:nvSpPr>
          <p:cNvPr id="11" name="Text 6"/>
          <p:cNvSpPr txBox="1"/>
          <p:nvPr/>
        </p:nvSpPr>
        <p:spPr>
          <a:xfrm>
            <a:off x="6071616" y="1517904"/>
            <a:ext cx="2487168" cy="3026664"/>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3F4F5A"/>
                </a:solidFill>
                <a:latin typeface="Calibri" pitchFamily="34" charset="0"/>
                <a:ea typeface="Calibri" pitchFamily="34" charset="-122"/>
                <a:cs typeface="Calibri" pitchFamily="34" charset="-120"/>
              </a:rPr>
              <a:t>Bốn biểu đồ cột: chu kỳ, LUT, DSP, BRAM_18K theo lớp</a:t>
            </a:r>
            <a:endParaRPr lang="en-US" sz="1200" dirty="0"/>
          </a:p>
          <a:p>
            <a:pPr marL="342900" indent="-342900">
              <a:spcAft>
                <a:spcPts val="300"/>
              </a:spcAft>
              <a:buSzPct val="100000"/>
              <a:buChar char="•"/>
            </a:pPr>
            <a:r>
              <a:rPr lang="en-US" sz="1200" dirty="0">
                <a:solidFill>
                  <a:srgbClr val="3F4F5A"/>
                </a:solidFill>
                <a:latin typeface="Calibri" pitchFamily="34" charset="0"/>
                <a:ea typeface="Calibri" pitchFamily="34" charset="-122"/>
                <a:cs typeface="Calibri" pitchFamily="34" charset="-120"/>
              </a:rPr>
              <a:t>Hình 8 (trái): cấu hình mặc định</a:t>
            </a:r>
            <a:endParaRPr lang="en-US" sz="1200" dirty="0"/>
          </a:p>
          <a:p>
            <a:pPr marL="342900" indent="-342900">
              <a:spcAft>
                <a:spcPts val="300"/>
              </a:spcAft>
              <a:buSzPct val="100000"/>
              <a:buChar char="•"/>
            </a:pPr>
            <a:r>
              <a:rPr lang="en-US" sz="1200" dirty="0">
                <a:solidFill>
                  <a:srgbClr val="3F4F5A"/>
                </a:solidFill>
                <a:latin typeface="Calibri" pitchFamily="34" charset="0"/>
                <a:ea typeface="Calibri" pitchFamily="34" charset="-122"/>
                <a:cs typeface="Calibri" pitchFamily="34" charset="-120"/>
              </a:rPr>
              <a:t>Hình 11 (giữa): cấu hình tối ưu</a:t>
            </a:r>
            <a:endParaRPr lang="en-US" sz="1200" dirty="0"/>
          </a:p>
          <a:p>
            <a:pPr marL="342900" indent="-342900">
              <a:spcAft>
                <a:spcPts val="300"/>
              </a:spcAft>
              <a:buSzPct val="100000"/>
              <a:buChar char="•"/>
            </a:pPr>
            <a:r>
              <a:rPr lang="en-US" sz="1200" dirty="0">
                <a:solidFill>
                  <a:srgbClr val="3F4F5A"/>
                </a:solidFill>
                <a:latin typeface="Calibri" pitchFamily="34" charset="0"/>
                <a:ea typeface="Calibri" pitchFamily="34" charset="-122"/>
                <a:cs typeface="Calibri" pitchFamily="34" charset="-120"/>
              </a:rPr>
              <a:t>MVU lớn dùng HLS-LUT để giữ DSP dưới 220</a:t>
            </a:r>
            <a:endParaRPr lang="en-US" sz="1200" dirty="0"/>
          </a:p>
          <a:p>
            <a:pPr marL="342900" indent="-342900">
              <a:spcAft>
                <a:spcPts val="300"/>
              </a:spcAft>
              <a:buSzPct val="100000"/>
              <a:buChar char="•"/>
            </a:pPr>
            <a:r>
              <a:rPr lang="en-US" sz="1200" dirty="0">
                <a:solidFill>
                  <a:srgbClr val="3F4F5A"/>
                </a:solidFill>
                <a:latin typeface="Calibri" pitchFamily="34" charset="0"/>
                <a:ea typeface="Calibri" pitchFamily="34" charset="-122"/>
                <a:cs typeface="Calibri" pitchFamily="34" charset="-120"/>
              </a:rPr>
              <a:t>Estimate của FINN: LUT chỉ là ước tính vì Vivado tối ưu lại</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FIFO VÀ NÚT THẮT</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Độ sâu FIFO và lỗi StreamingMaxPool (HLS)</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23 / 42</a:t>
            </a:r>
            <a:endParaRPr lang="en-US" sz="900" dirty="0"/>
          </a:p>
        </p:txBody>
      </p:sp>
      <p:sp>
        <p:nvSpPr>
          <p:cNvPr id="7" name="Shape 4"/>
          <p:cNvSpPr/>
          <p:nvPr/>
        </p:nvSpPr>
        <p:spPr>
          <a:xfrm>
            <a:off x="457200" y="1188720"/>
            <a:ext cx="4023360" cy="1737360"/>
          </a:xfrm>
          <a:prstGeom prst="roundRect">
            <a:avLst>
              <a:gd name="adj" fmla="val 4211"/>
            </a:avLst>
          </a:prstGeom>
          <a:solidFill>
            <a:srgbClr val="FBFBF8"/>
          </a:solidFill>
          <a:ln w="9525">
            <a:solidFill>
              <a:srgbClr val="D9DDD8"/>
            </a:solidFill>
            <a:prstDash val="solid"/>
          </a:ln>
        </p:spPr>
      </p:sp>
      <p:sp>
        <p:nvSpPr>
          <p:cNvPr id="8" name="Text 5"/>
          <p:cNvSpPr txBox="1"/>
          <p:nvPr/>
        </p:nvSpPr>
        <p:spPr>
          <a:xfrm>
            <a:off x="585216" y="129844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Bài toán FIFO</a:t>
            </a:r>
            <a:endParaRPr lang="en-US" sz="1500" dirty="0"/>
          </a:p>
        </p:txBody>
      </p:sp>
      <p:sp>
        <p:nvSpPr>
          <p:cNvPr id="9" name="Text 6"/>
          <p:cNvSpPr txBox="1"/>
          <p:nvPr/>
        </p:nvSpPr>
        <p:spPr>
          <a:xfrm>
            <a:off x="585216" y="1609344"/>
            <a:ext cx="3767328" cy="124358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Các lớp có số chu kỳ khác nhau, cần đệm giữa chúng</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Quá ngắn: stall nhiều; quá dài: phí BRAM</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Tìm bằng mô phỏng RTL (pyverilator, Verilator)</a:t>
            </a:r>
            <a:endParaRPr lang="en-US" sz="1300" dirty="0"/>
          </a:p>
        </p:txBody>
      </p:sp>
      <p:sp>
        <p:nvSpPr>
          <p:cNvPr id="10" name="Shape 7"/>
          <p:cNvSpPr/>
          <p:nvPr/>
        </p:nvSpPr>
        <p:spPr>
          <a:xfrm>
            <a:off x="4663440" y="1188720"/>
            <a:ext cx="4023360" cy="1737360"/>
          </a:xfrm>
          <a:prstGeom prst="roundRect">
            <a:avLst>
              <a:gd name="adj" fmla="val 4211"/>
            </a:avLst>
          </a:prstGeom>
          <a:solidFill>
            <a:srgbClr val="FBFBF8"/>
          </a:solidFill>
          <a:ln w="9525">
            <a:solidFill>
              <a:srgbClr val="D9DDD8"/>
            </a:solidFill>
            <a:prstDash val="solid"/>
          </a:ln>
        </p:spPr>
      </p:sp>
      <p:sp>
        <p:nvSpPr>
          <p:cNvPr id="11" name="Text 8"/>
          <p:cNvSpPr txBox="1"/>
          <p:nvPr/>
        </p:nvSpPr>
        <p:spPr>
          <a:xfrm>
            <a:off x="4791456" y="1298448"/>
            <a:ext cx="3767328" cy="274320"/>
          </a:xfrm>
          <a:prstGeom prst="rect">
            <a:avLst/>
          </a:prstGeom>
          <a:noFill/>
          <a:ln/>
        </p:spPr>
        <p:txBody>
          <a:bodyPr wrap="square" lIns="0" tIns="0" rIns="0" bIns="0" rtlCol="0" anchor="t"/>
          <a:lstStyle/>
          <a:p>
            <a:pPr indent="0" marL="0">
              <a:buNone/>
            </a:pPr>
            <a:r>
              <a:rPr lang="en-US" sz="1500" b="1" dirty="0">
                <a:solidFill>
                  <a:srgbClr val="A85F00"/>
                </a:solidFill>
                <a:latin typeface="Calibri" pitchFamily="34" charset="0"/>
                <a:ea typeface="Calibri" pitchFamily="34" charset="-122"/>
                <a:cs typeface="Calibri" pitchFamily="34" charset="-120"/>
              </a:rPr>
              <a:t>Con số</a:t>
            </a:r>
            <a:endParaRPr lang="en-US" sz="1500" dirty="0"/>
          </a:p>
        </p:txBody>
      </p:sp>
      <p:sp>
        <p:nvSpPr>
          <p:cNvPr id="12" name="Text 9"/>
          <p:cNvSpPr txBox="1"/>
          <p:nvPr/>
        </p:nvSpPr>
        <p:spPr>
          <a:xfrm>
            <a:off x="4791456" y="1609344"/>
            <a:ext cx="3767328" cy="124358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570 000 chu kỳ thực (Vitis HLS)</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216 320 chu kỳ dự đoán</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Chênh 2,6×; thông lượng giảm 3,43×</a:t>
            </a:r>
            <a:endParaRPr lang="en-US" sz="1300" dirty="0"/>
          </a:p>
        </p:txBody>
      </p:sp>
      <p:sp>
        <p:nvSpPr>
          <p:cNvPr id="13" name="Shape 10"/>
          <p:cNvSpPr/>
          <p:nvPr/>
        </p:nvSpPr>
        <p:spPr>
          <a:xfrm>
            <a:off x="457200" y="3108960"/>
            <a:ext cx="8229600" cy="1508760"/>
          </a:xfrm>
          <a:prstGeom prst="roundRect">
            <a:avLst>
              <a:gd name="adj" fmla="val 4848"/>
            </a:avLst>
          </a:prstGeom>
          <a:solidFill>
            <a:srgbClr val="FBFBF8"/>
          </a:solidFill>
          <a:ln w="9525">
            <a:solidFill>
              <a:srgbClr val="D9DDD8"/>
            </a:solidFill>
            <a:prstDash val="solid"/>
          </a:ln>
        </p:spPr>
      </p:sp>
      <p:sp>
        <p:nvSpPr>
          <p:cNvPr id="14" name="Text 11"/>
          <p:cNvSpPr txBox="1"/>
          <p:nvPr/>
        </p:nvSpPr>
        <p:spPr>
          <a:xfrm>
            <a:off x="585216" y="3218688"/>
            <a:ext cx="797356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Nguyên nhân và hệ quả</a:t>
            </a:r>
            <a:endParaRPr lang="en-US" sz="1500" dirty="0"/>
          </a:p>
        </p:txBody>
      </p:sp>
      <p:sp>
        <p:nvSpPr>
          <p:cNvPr id="15" name="Text 12"/>
          <p:cNvSpPr txBox="1"/>
          <p:nvPr/>
        </p:nvSpPr>
        <p:spPr>
          <a:xfrm>
            <a:off x="585216" y="3529584"/>
            <a:ext cx="7973568" cy="1014984"/>
          </a:xfrm>
          <a:prstGeom prst="rect">
            <a:avLst/>
          </a:prstGeom>
          <a:noFill/>
          <a:ln/>
        </p:spPr>
        <p:txBody>
          <a:bodyPr wrap="square" lIns="0" tIns="0" rIns="0" bIns="0" rtlCol="0" anchor="t"/>
          <a:lstStyle/>
          <a:p>
            <a:pPr indent="0" marL="0">
              <a:buNone/>
            </a:pPr>
            <a:r>
              <a:rPr lang="en-US" sz="1300" dirty="0">
                <a:solidFill>
                  <a:srgbClr val="3F4F5A"/>
                </a:solidFill>
                <a:latin typeface="Calibri" pitchFamily="34" charset="0"/>
                <a:ea typeface="Calibri" pitchFamily="34" charset="-122"/>
                <a:cs typeface="Calibri" pitchFamily="34" charset="-120"/>
              </a:rPr>
              <a:t>Theo tác giả, Vitis không tối ưu unroll vòng lặp trên bản đồ đặc trưng lớn, làm thời gian chạy tăng vọt. Nút thắt này một mình làm thông lượng thực tế giảm 3,43 lần. Viết lại bằng RTL sẽ khắc phục nhưng nằm ngoài phạm vi bài. Bản FINN dùng ở đây chỉ có MaxPool HLS cho dạng này.</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LƯU TRỮ TRỌNG SỐ VÀ BUILD</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Trọng số trong BRAM, quy trình tổng hợp</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24 / 42</a:t>
            </a:r>
            <a:endParaRPr lang="en-US" sz="900" dirty="0"/>
          </a:p>
        </p:txBody>
      </p:sp>
      <p:sp>
        <p:nvSpPr>
          <p:cNvPr id="7" name="Shape 4"/>
          <p:cNvSpPr/>
          <p:nvPr/>
        </p:nvSpPr>
        <p:spPr>
          <a:xfrm>
            <a:off x="457200" y="1188720"/>
            <a:ext cx="4023360" cy="1554480"/>
          </a:xfrm>
          <a:prstGeom prst="roundRect">
            <a:avLst>
              <a:gd name="adj" fmla="val 4706"/>
            </a:avLst>
          </a:prstGeom>
          <a:solidFill>
            <a:srgbClr val="FBFBF8"/>
          </a:solidFill>
          <a:ln w="9525">
            <a:solidFill>
              <a:srgbClr val="D9DDD8"/>
            </a:solidFill>
            <a:prstDash val="solid"/>
          </a:ln>
        </p:spPr>
      </p:sp>
      <p:sp>
        <p:nvSpPr>
          <p:cNvPr id="8" name="Text 5"/>
          <p:cNvSpPr txBox="1"/>
          <p:nvPr/>
        </p:nvSpPr>
        <p:spPr>
          <a:xfrm>
            <a:off x="585216" y="129844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Trọng số trong BRAM</a:t>
            </a:r>
            <a:endParaRPr lang="en-US" sz="1500" dirty="0"/>
          </a:p>
        </p:txBody>
      </p:sp>
      <p:sp>
        <p:nvSpPr>
          <p:cNvPr id="9" name="Text 6"/>
          <p:cNvSpPr txBox="1"/>
          <p:nvPr/>
        </p:nvSpPr>
        <p:spPr>
          <a:xfrm>
            <a:off x="585216" y="1609344"/>
            <a:ext cx="3767328" cy="106070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Truy cập nhanh, không qua DMA/DRAM ngoài</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Tránh thêm công suất truy cập DRAM</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Chọn lúc folding: nội bộ hay ngoại bộ</a:t>
            </a:r>
            <a:endParaRPr lang="en-US" sz="1300" dirty="0"/>
          </a:p>
        </p:txBody>
      </p:sp>
      <p:sp>
        <p:nvSpPr>
          <p:cNvPr id="10" name="Shape 7"/>
          <p:cNvSpPr/>
          <p:nvPr/>
        </p:nvSpPr>
        <p:spPr>
          <a:xfrm>
            <a:off x="4663440" y="1188720"/>
            <a:ext cx="4023360" cy="1554480"/>
          </a:xfrm>
          <a:prstGeom prst="roundRect">
            <a:avLst>
              <a:gd name="adj" fmla="val 4706"/>
            </a:avLst>
          </a:prstGeom>
          <a:solidFill>
            <a:srgbClr val="FBFBF8"/>
          </a:solidFill>
          <a:ln w="9525">
            <a:solidFill>
              <a:srgbClr val="D9DDD8"/>
            </a:solidFill>
            <a:prstDash val="solid"/>
          </a:ln>
        </p:spPr>
      </p:sp>
      <p:sp>
        <p:nvSpPr>
          <p:cNvPr id="11" name="Text 8"/>
          <p:cNvSpPr txBox="1"/>
          <p:nvPr/>
        </p:nvSpPr>
        <p:spPr>
          <a:xfrm>
            <a:off x="4791456" y="129844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Số liệu (tính từ bảng 6)</a:t>
            </a:r>
            <a:endParaRPr lang="en-US" sz="1500" dirty="0"/>
          </a:p>
        </p:txBody>
      </p:sp>
      <p:sp>
        <p:nvSpPr>
          <p:cNvPr id="12" name="Text 9"/>
          <p:cNvSpPr txBox="1"/>
          <p:nvPr/>
        </p:nvSpPr>
        <p:spPr>
          <a:xfrm>
            <a:off x="4791456" y="1609344"/>
            <a:ext cx="3767328" cy="106070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4 bit: 333 632 trọng số; 8 bit: 17 064</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Tổng ≈ 1,47 Mbit ≈ 184 KB</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BRAM dùng: 138 × 18 Kb ≈ 2,48 Mbit</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8229600" cy="914400"/>
        </p:xfrm>
        <a:graphic>
          <a:graphicData uri="http://schemas.openxmlformats.org/drawingml/2006/table">
            <a:tbl>
              <a:tblPr/>
              <a:tblGrid>
                <a:gridCol w="640080"/>
                <a:gridCol w="2560320"/>
                <a:gridCol w="50292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Bước</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Transformation</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Kết quả</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310896">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PrepareIP</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Xuất mã RTL/HLS vào thư mục build</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10896">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HLSSynthIP</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Vitis HLS tổng hợp sang RTL (lâu)</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10896">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CreateStitchedIP</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Ghép IP; thêm idma và odma tới DRAM</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10896">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ZynqBuild</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Vivado tổng hợp, P&amp;R (lâu nhất)</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DRIVER KIỂU TPU (1)</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Kiến trúc client–server (Hình 14)</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25 / 42</a:t>
            </a:r>
            <a:endParaRPr lang="en-US" sz="900" dirty="0"/>
          </a:p>
        </p:txBody>
      </p:sp>
      <p:pic>
        <p:nvPicPr>
          <p:cNvPr id="7" name="Image 0" descr="fig14">    </p:cNvPr>
          <p:cNvPicPr>
            <a:picLocks noChangeAspect="1"/>
          </p:cNvPicPr>
          <p:nvPr/>
        </p:nvPicPr>
        <p:blipFill>
          <a:blip r:embed="rId1"/>
          <a:stretch>
            <a:fillRect/>
          </a:stretch>
        </p:blipFill>
        <p:spPr>
          <a:xfrm>
            <a:off x="365760" y="1097280"/>
            <a:ext cx="5120640" cy="2515731"/>
          </a:xfrm>
          <a:prstGeom prst="rect">
            <a:avLst/>
          </a:prstGeom>
        </p:spPr>
      </p:pic>
      <p:sp>
        <p:nvSpPr>
          <p:cNvPr id="8" name="Shape 4"/>
          <p:cNvSpPr/>
          <p:nvPr/>
        </p:nvSpPr>
        <p:spPr>
          <a:xfrm>
            <a:off x="5577840" y="1097280"/>
            <a:ext cx="3108960" cy="3520440"/>
          </a:xfrm>
          <a:prstGeom prst="roundRect">
            <a:avLst>
              <a:gd name="adj" fmla="val 2353"/>
            </a:avLst>
          </a:prstGeom>
          <a:solidFill>
            <a:srgbClr val="FBFBF8"/>
          </a:solidFill>
          <a:ln w="9525">
            <a:solidFill>
              <a:srgbClr val="D9DDD8"/>
            </a:solidFill>
            <a:prstDash val="solid"/>
          </a:ln>
        </p:spPr>
      </p:sp>
      <p:sp>
        <p:nvSpPr>
          <p:cNvPr id="9" name="Text 5"/>
          <p:cNvSpPr txBox="1"/>
          <p:nvPr/>
        </p:nvSpPr>
        <p:spPr>
          <a:xfrm>
            <a:off x="5705856" y="1207008"/>
            <a:ext cx="28529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Luồng ở client</a:t>
            </a:r>
            <a:endParaRPr lang="en-US" sz="1500" dirty="0"/>
          </a:p>
        </p:txBody>
      </p:sp>
      <p:sp>
        <p:nvSpPr>
          <p:cNvPr id="10" name="Text 6"/>
          <p:cNvSpPr txBox="1"/>
          <p:nvPr/>
        </p:nvSpPr>
        <p:spPr>
          <a:xfrm>
            <a:off x="5705856" y="1517904"/>
            <a:ext cx="2852928" cy="3026664"/>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Capture: OpenCV, tiền xử lý, hàng đợi</a:t>
            </a:r>
            <a:endParaRPr lang="en-US" sz="1250" dirty="0"/>
          </a:p>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Frame Dispatcher: gói thông điệp nhị phân gửi WebSocket</a:t>
            </a:r>
            <a:endParaRPr lang="en-US" sz="1250" dirty="0"/>
          </a:p>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Post-processing: ghép kết quả, vẽ hộp</a:t>
            </a:r>
            <a:endParaRPr lang="en-US" sz="1250" dirty="0"/>
          </a:p>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Display: hiển thị video</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DRIVER KIỂU TPU (2)</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Giao thức, định dạng .fnn và xử lý lô</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26 / 42</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3749040" cy="914400"/>
        </p:xfrm>
        <a:graphic>
          <a:graphicData uri="http://schemas.openxmlformats.org/drawingml/2006/table">
            <a:tbl>
              <a:tblPr/>
              <a:tblGrid>
                <a:gridCol w="2103120"/>
                <a:gridCol w="1645920"/>
              </a:tblGrid>
              <a:tr h="329184">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Trường header (16 byte)</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Kích thước</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329184">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frame_id</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4 byte (int)</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29184">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width</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4 byte (int)</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29184">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height</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4 byte (int)</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29184">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channels</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2 byte (short)</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29184">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dtype_code</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2 byte (short)</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bl>
          </a:graphicData>
        </a:graphic>
      </p:graphicFrame>
      <p:sp>
        <p:nvSpPr>
          <p:cNvPr id="8" name="Shape 4"/>
          <p:cNvSpPr/>
          <p:nvPr/>
        </p:nvSpPr>
        <p:spPr>
          <a:xfrm>
            <a:off x="4389120" y="1188720"/>
            <a:ext cx="4297680" cy="1417320"/>
          </a:xfrm>
          <a:prstGeom prst="roundRect">
            <a:avLst>
              <a:gd name="adj" fmla="val 5161"/>
            </a:avLst>
          </a:prstGeom>
          <a:solidFill>
            <a:srgbClr val="FBFBF8"/>
          </a:solidFill>
          <a:ln w="9525">
            <a:solidFill>
              <a:srgbClr val="D9DDD8"/>
            </a:solidFill>
            <a:prstDash val="solid"/>
          </a:ln>
        </p:spPr>
      </p:sp>
      <p:sp>
        <p:nvSpPr>
          <p:cNvPr id="9" name="Text 5"/>
          <p:cNvSpPr txBox="1"/>
          <p:nvPr/>
        </p:nvSpPr>
        <p:spPr>
          <a:xfrm>
            <a:off x="4517136" y="1298448"/>
            <a:ext cx="404164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Lệnh JSON</a:t>
            </a:r>
            <a:endParaRPr lang="en-US" sz="1500" dirty="0"/>
          </a:p>
        </p:txBody>
      </p:sp>
      <p:sp>
        <p:nvSpPr>
          <p:cNvPr id="10" name="Text 6"/>
          <p:cNvSpPr txBox="1"/>
          <p:nvPr/>
        </p:nvSpPr>
        <p:spPr>
          <a:xfrm>
            <a:off x="4517136" y="1609344"/>
            <a:ext cx="4041648" cy="923544"/>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load_model: nạp mô hình .fnn mới lên board</a:t>
            </a:r>
            <a:endParaRPr lang="en-US" sz="1250" dirty="0"/>
          </a:p>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status: trạng thái nạp, kích thước hàng đợi, số client</a:t>
            </a:r>
            <a:endParaRPr lang="en-US" sz="1250" dirty="0"/>
          </a:p>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Kiểm tra toàn vẹn bằng MD5</a:t>
            </a:r>
            <a:endParaRPr lang="en-US" sz="1250" dirty="0"/>
          </a:p>
        </p:txBody>
      </p:sp>
      <p:sp>
        <p:nvSpPr>
          <p:cNvPr id="11" name="Shape 7"/>
          <p:cNvSpPr/>
          <p:nvPr/>
        </p:nvSpPr>
        <p:spPr>
          <a:xfrm>
            <a:off x="4389120" y="2743200"/>
            <a:ext cx="4297680" cy="1874520"/>
          </a:xfrm>
          <a:prstGeom prst="roundRect">
            <a:avLst>
              <a:gd name="adj" fmla="val 3902"/>
            </a:avLst>
          </a:prstGeom>
          <a:solidFill>
            <a:srgbClr val="FBFBF8"/>
          </a:solidFill>
          <a:ln w="9525">
            <a:solidFill>
              <a:srgbClr val="D9DDD8"/>
            </a:solidFill>
            <a:prstDash val="solid"/>
          </a:ln>
        </p:spPr>
      </p:sp>
      <p:sp>
        <p:nvSpPr>
          <p:cNvPr id="12" name="Text 8"/>
          <p:cNvSpPr txBox="1"/>
          <p:nvPr/>
        </p:nvSpPr>
        <p:spPr>
          <a:xfrm>
            <a:off x="4517136" y="2852928"/>
            <a:ext cx="404164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Tệp .fnn (zip)</a:t>
            </a:r>
            <a:endParaRPr lang="en-US" sz="1500" dirty="0"/>
          </a:p>
        </p:txBody>
      </p:sp>
      <p:sp>
        <p:nvSpPr>
          <p:cNvPr id="13" name="Text 9"/>
          <p:cNvSpPr txBox="1"/>
          <p:nvPr/>
        </p:nvSpPr>
        <p:spPr>
          <a:xfrm>
            <a:off x="4517136" y="3163824"/>
            <a:ext cx="4041648" cy="1380744"/>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model.bit: bitstream</a:t>
            </a:r>
            <a:endParaRPr lang="en-US" sz="1250" dirty="0"/>
          </a:p>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model.hwh: mô tả phần cứng</a:t>
            </a:r>
            <a:endParaRPr lang="en-US" sz="1250" dirty="0"/>
          </a:p>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model.pkl: shape và metadata</a:t>
            </a:r>
            <a:endParaRPr lang="en-US" sz="1250" dirty="0"/>
          </a:p>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model_info.json: tần số tối đa, tên, tập huấn luyện</a:t>
            </a:r>
            <a:endParaRPr lang="en-US" sz="1250" dirty="0"/>
          </a:p>
        </p:txBody>
      </p:sp>
      <p:sp>
        <p:nvSpPr>
          <p:cNvPr id="14" name="Shape 10"/>
          <p:cNvSpPr/>
          <p:nvPr/>
        </p:nvSpPr>
        <p:spPr>
          <a:xfrm>
            <a:off x="457200" y="3291840"/>
            <a:ext cx="3749040" cy="1325880"/>
          </a:xfrm>
          <a:prstGeom prst="roundRect">
            <a:avLst>
              <a:gd name="adj" fmla="val 5517"/>
            </a:avLst>
          </a:prstGeom>
          <a:solidFill>
            <a:srgbClr val="FBFBF8"/>
          </a:solidFill>
          <a:ln w="9525">
            <a:solidFill>
              <a:srgbClr val="D9DDD8"/>
            </a:solidFill>
            <a:prstDash val="solid"/>
          </a:ln>
        </p:spPr>
      </p:sp>
      <p:sp>
        <p:nvSpPr>
          <p:cNvPr id="15" name="Text 11"/>
          <p:cNvSpPr txBox="1"/>
          <p:nvPr/>
        </p:nvSpPr>
        <p:spPr>
          <a:xfrm>
            <a:off x="585216" y="3401568"/>
            <a:ext cx="349300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Xử lý lô</a:t>
            </a:r>
            <a:endParaRPr lang="en-US" sz="1500" dirty="0"/>
          </a:p>
        </p:txBody>
      </p:sp>
      <p:sp>
        <p:nvSpPr>
          <p:cNvPr id="16" name="Text 12"/>
          <p:cNvSpPr txBox="1"/>
          <p:nvPr/>
        </p:nvSpPr>
        <p:spPr>
          <a:xfrm>
            <a:off x="585216" y="3712464"/>
            <a:ext cx="3493008" cy="832104"/>
          </a:xfrm>
          <a:prstGeom prst="rect">
            <a:avLst/>
          </a:prstGeom>
          <a:noFill/>
          <a:ln/>
        </p:spPr>
        <p:txBody>
          <a:bodyPr wrap="square" lIns="0" tIns="0" rIns="0" bIns="0" rtlCol="0" anchor="t"/>
          <a:lstStyle/>
          <a:p>
            <a:pPr indent="0" marL="0">
              <a:buNone/>
            </a:pPr>
            <a:r>
              <a:rPr lang="en-US" sz="1250" dirty="0">
                <a:solidFill>
                  <a:srgbClr val="3F4F5A"/>
                </a:solidFill>
                <a:latin typeface="Calibri" pitchFamily="34" charset="0"/>
                <a:ea typeface="Calibri" pitchFamily="34" charset="-122"/>
                <a:cs typeface="Calibri" pitchFamily="34" charset="-120"/>
              </a:rPr>
              <a:t>Server gom tối đa 100 khung rồi chạy trong một worker, tận dụng pipeline. Nạp mô hình: giải mã base64, kiểm tra tệp, nạp bitstream bằng PYNQ, khởi tạo hàng đợi.</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KẾT QUẢ: ĐỘ CHÍNH XÁC</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Kết quả huấn luyện (Bảng 5)</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27 / 42</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852160" cy="914400"/>
        </p:xfrm>
        <a:graphic>
          <a:graphicData uri="http://schemas.openxmlformats.org/drawingml/2006/table">
            <a:tbl>
              <a:tblPr/>
              <a:tblGrid>
                <a:gridCol w="2194560"/>
                <a:gridCol w="1828800"/>
                <a:gridCol w="182880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Chỉ số</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YOLOv3-Tiny gốc</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Bản thu gọn</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36576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67,06%</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48,16%</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6576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38,44%</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17,16%</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6576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mAP@0.5</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41,76%</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17,68%</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6576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Box loss</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0,1220</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0,1531</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6576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Object loss</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0,1653</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0,3049</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65760">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Classification loss</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300" dirty="0">
                          <a:solidFill>
                            <a:srgbClr val="14232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bl>
          </a:graphicData>
        </a:graphic>
      </p:graphicFrame>
      <p:graphicFrame>
        <p:nvGraphicFramePr>
          <p:cNvPr id="8" name="Chart 0" descr=""/>
          <p:cNvGraphicFramePr/>
          <p:nvPr/>
        </p:nvGraphicFramePr>
        <p:xfrm>
          <a:off x="6309360" y="1097280"/>
          <a:ext cx="2377440" cy="2377440"/>
        </p:xfrm>
        <a:graphic xmlns:a="http://schemas.openxmlformats.org/drawingml/2006/main">
          <a:graphicData uri="http://schemas.openxmlformats.org/drawingml/2006/chart">
            <c:chart xmlns:c="http://schemas.openxmlformats.org/drawingml/2006/chart" r:id="rId1"/>
          </a:graphicData>
        </a:graphic>
      </p:graphicFrame>
      <p:sp>
        <p:nvSpPr>
          <p:cNvPr id="9" name="Shape 4"/>
          <p:cNvSpPr/>
          <p:nvPr/>
        </p:nvSpPr>
        <p:spPr>
          <a:xfrm>
            <a:off x="457200" y="3886200"/>
            <a:ext cx="8229600" cy="731520"/>
          </a:xfrm>
          <a:prstGeom prst="roundRect">
            <a:avLst>
              <a:gd name="adj" fmla="val 10000"/>
            </a:avLst>
          </a:prstGeom>
          <a:solidFill>
            <a:srgbClr val="FBFBF8"/>
          </a:solidFill>
          <a:ln w="9525">
            <a:solidFill>
              <a:srgbClr val="D9DDD8"/>
            </a:solidFill>
            <a:prstDash val="solid"/>
          </a:ln>
        </p:spPr>
      </p:sp>
      <p:sp>
        <p:nvSpPr>
          <p:cNvPr id="10" name="Text 5"/>
          <p:cNvSpPr txBox="1"/>
          <p:nvPr/>
        </p:nvSpPr>
        <p:spPr>
          <a:xfrm>
            <a:off x="585216" y="3995928"/>
            <a:ext cx="7973568" cy="548640"/>
          </a:xfrm>
          <a:prstGeom prst="rect">
            <a:avLst/>
          </a:prstGeom>
          <a:noFill/>
          <a:ln/>
        </p:spPr>
        <p:txBody>
          <a:bodyPr wrap="square" lIns="0" tIns="0" rIns="0" bIns="0" rtlCol="0" anchor="t"/>
          <a:lstStyle/>
          <a:p>
            <a:pPr indent="0" marL="0">
              <a:buNone/>
            </a:pPr>
            <a:r>
              <a:rPr lang="en-US" sz="1250" dirty="0">
                <a:solidFill>
                  <a:srgbClr val="3F4F5A"/>
                </a:solidFill>
                <a:latin typeface="Calibri" pitchFamily="34" charset="0"/>
                <a:ea typeface="Calibri" pitchFamily="34" charset="-122"/>
                <a:cs typeface="Calibri" pitchFamily="34" charset="-120"/>
              </a:rPr>
              <a:t>Lớp phân loại bằng 0 vì chỉ có một lớp (car). Precision và recall ghi theo epoch cuối trên tập kiểm định.</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KẾT QUẢ: TÍNH TOÁN</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MAC và trọng số theo từng MVU (Bảng 6)</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28 / 42</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3931920" cy="914400"/>
        </p:xfrm>
        <a:graphic>
          <a:graphicData uri="http://schemas.openxmlformats.org/drawingml/2006/table">
            <a:tbl>
              <a:tblPr/>
              <a:tblGrid>
                <a:gridCol w="1188720"/>
                <a:gridCol w="1188720"/>
                <a:gridCol w="914400"/>
                <a:gridCol w="640080"/>
              </a:tblGrid>
              <a:tr h="26517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Lớp</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MAC</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Trọng số</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Kiểu</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265176">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MVAU_rtl_0</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37 380 096</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216</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8b-8b</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265176">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MVAU_rtl_1</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24 920 064</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576</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4b-4b</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265176">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MVAU_hls_0</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12 460 032</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1 152</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4b-4b</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265176">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MVAU_rtl_2</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12 460 032</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4 608</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4b-4b</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265176">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MVAU_hls_1</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10 902 528</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16 128</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4b-4b</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265176">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MVAU_hls_2</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8 858 304</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52 416</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4b-4b</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265176">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MVAU_hls_3</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32 902 272</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194 688</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4b-4b</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265176">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MVAU_hls_4</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1 968 512</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11 648</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4b-4b</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265176">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MVAU_rtl_3</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8 858 304</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52 416</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4b-4b</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265176">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MVAU_rtl_4</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2 847 312</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16 848</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4b-8b</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bl>
          </a:graphicData>
        </a:graphic>
      </p:graphicFrame>
      <p:graphicFrame>
        <p:nvGraphicFramePr>
          <p:cNvPr id="8" name="Chart 0" descr=""/>
          <p:cNvGraphicFramePr/>
          <p:nvPr/>
        </p:nvGraphicFramePr>
        <p:xfrm>
          <a:off x="4572000" y="105156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9" name="Text 4"/>
          <p:cNvSpPr txBox="1"/>
          <p:nvPr/>
        </p:nvSpPr>
        <p:spPr>
          <a:xfrm>
            <a:off x="457200" y="4206240"/>
            <a:ext cx="8229600" cy="548640"/>
          </a:xfrm>
          <a:prstGeom prst="rect">
            <a:avLst/>
          </a:prstGeom>
          <a:noFill/>
          <a:ln/>
        </p:spPr>
        <p:txBody>
          <a:bodyPr wrap="square" lIns="0" tIns="0" rIns="0" bIns="0" rtlCol="0" anchor="t"/>
          <a:lstStyle/>
          <a:p>
            <a:pPr indent="0" marL="0">
              <a:buNone/>
            </a:pPr>
            <a:r>
              <a:rPr lang="en-US" sz="1200" dirty="0">
                <a:solidFill>
                  <a:srgbClr val="3F4F5A"/>
                </a:solidFill>
                <a:latin typeface="Calibri" pitchFamily="34" charset="0"/>
                <a:ea typeface="Calibri" pitchFamily="34" charset="-122"/>
                <a:cs typeface="Calibri" pitchFamily="34" charset="-120"/>
              </a:rPr>
              <a:t>Lớp đầu (conv 3×3 trên ảnh 416×416, trọng số 8 bit) chiếm nhiều MAC nhất nhưng có rất ít trọng số; lớp MVAU_hls_3 có nhiều trọng số nhất (194 688).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KẾT QUẢ: TÀI NGUYÊN</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Tài nguyên PL: ước tính và thực tế (Bảng 7)</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29 / 42</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389120" cy="914400"/>
        </p:xfrm>
        <a:graphic>
          <a:graphicData uri="http://schemas.openxmlformats.org/drawingml/2006/table">
            <a:tbl>
              <a:tblPr/>
              <a:tblGrid>
                <a:gridCol w="1188720"/>
                <a:gridCol w="914400"/>
                <a:gridCol w="822960"/>
                <a:gridCol w="822960"/>
                <a:gridCol w="64008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Tài nguyên</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Ước tính</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Thực tế</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Sẵn có</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347472">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BRAM_18K</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138</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140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98,57</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47472">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LUT</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26 694</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41 605</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53 200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78,20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47472">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DSP</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202</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204</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220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92,73</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47472">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URAM</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bl>
          </a:graphicData>
        </a:graphic>
      </p:graphicFrame>
      <p:pic>
        <p:nvPicPr>
          <p:cNvPr id="8" name="Image 0" descr="fig16">    </p:cNvPr>
          <p:cNvPicPr>
            <a:picLocks noChangeAspect="1"/>
          </p:cNvPicPr>
          <p:nvPr/>
        </p:nvPicPr>
        <p:blipFill>
          <a:blip r:embed="rId1"/>
          <a:stretch>
            <a:fillRect/>
          </a:stretch>
        </p:blipFill>
        <p:spPr>
          <a:xfrm>
            <a:off x="5147794" y="1143000"/>
            <a:ext cx="3511853" cy="2377440"/>
          </a:xfrm>
          <a:prstGeom prst="rect">
            <a:avLst/>
          </a:prstGeom>
        </p:spPr>
      </p:pic>
      <p:sp>
        <p:nvSpPr>
          <p:cNvPr id="9" name="Text 4"/>
          <p:cNvSpPr txBox="1"/>
          <p:nvPr/>
        </p:nvSpPr>
        <p:spPr>
          <a:xfrm>
            <a:off x="457200" y="3108960"/>
            <a:ext cx="4206240" cy="1188720"/>
          </a:xfrm>
          <a:prstGeom prst="rect">
            <a:avLst/>
          </a:prstGeom>
          <a:noFill/>
          <a:ln/>
        </p:spPr>
        <p:txBody>
          <a:bodyPr wrap="square" lIns="0" tIns="0" rIns="0" bIns="0" rtlCol="0" anchor="t"/>
          <a:lstStyle/>
          <a:p>
            <a:pPr indent="0" marL="0">
              <a:buNone/>
            </a:pPr>
            <a:r>
              <a:rPr lang="en-US" sz="1250" dirty="0">
                <a:solidFill>
                  <a:srgbClr val="3F4F5A"/>
                </a:solidFill>
                <a:latin typeface="Calibri" pitchFamily="34" charset="0"/>
                <a:ea typeface="Calibri" pitchFamily="34" charset="-122"/>
                <a:cs typeface="Calibri" pitchFamily="34" charset="-120"/>
              </a:rPr>
              <a:t>Chênh lệch ước tính-thực tế: BRAM thấp hơn dự kiến (200 → 138) vì một phần bộ nhớ bị Vivado chuyển sang LUT-RAM (3 736 LUTRAM); LUT cao hơn (26 694 → 41 605) vì HLS và vì bù cho BRAM.</a:t>
            </a:r>
            <a:endParaRPr lang="en-US" sz="1250" dirty="0"/>
          </a:p>
        </p:txBody>
      </p:sp>
      <p:sp>
        <p:nvSpPr>
          <p:cNvPr id="10" name="Text 5"/>
          <p:cNvSpPr txBox="1"/>
          <p:nvPr/>
        </p:nvSpPr>
        <p:spPr>
          <a:xfrm>
            <a:off x="5120640" y="3840480"/>
            <a:ext cx="3566160" cy="365760"/>
          </a:xfrm>
          <a:prstGeom prst="rect">
            <a:avLst/>
          </a:prstGeom>
          <a:noFill/>
          <a:ln/>
        </p:spPr>
        <p:txBody>
          <a:bodyPr wrap="square" lIns="0" tIns="0" rIns="0" bIns="0" rtlCol="0" anchor="t"/>
          <a:lstStyle/>
          <a:p>
            <a:pPr indent="0" marL="0">
              <a:buNone/>
            </a:pPr>
            <a:r>
              <a:rPr lang="en-US" sz="1100" i="1" dirty="0">
                <a:solidFill>
                  <a:srgbClr val="3F4F5A"/>
                </a:solidFill>
                <a:latin typeface="Calibri" pitchFamily="34" charset="0"/>
                <a:ea typeface="Calibri" pitchFamily="34" charset="-122"/>
                <a:cs typeface="Calibri" pitchFamily="34" charset="-120"/>
              </a:rPr>
              <a:t>Hình 16: Vivado, LUT 79%, LUTRAM 21%, FF 46%, BRAM 99%, DSP 93%.</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KẾT QUẢ: HIỆU NĂNG</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Ước tính, RTLSim và thực đo (Bảng 8)</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30 / 42</a:t>
            </a:r>
            <a:endParaRPr lang="en-US" sz="900" dirty="0"/>
          </a:p>
        </p:txBody>
      </p:sp>
      <p:graphicFrame>
        <p:nvGraphicFramePr>
          <p:cNvPr id="7" name="Chart 0" descr=""/>
          <p:cNvGraphicFramePr/>
          <p:nvPr/>
        </p:nvGraphicFramePr>
        <p:xfrm>
          <a:off x="457200" y="1097280"/>
          <a:ext cx="384048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480560" y="1188720"/>
          <a:ext cx="4206240" cy="914400"/>
        </p:xfrm>
        <a:graphic>
          <a:graphicData uri="http://schemas.openxmlformats.org/drawingml/2006/table">
            <a:tbl>
              <a:tblPr/>
              <a:tblGrid>
                <a:gridCol w="1463040"/>
                <a:gridCol w="914400"/>
                <a:gridCol w="914400"/>
                <a:gridCol w="91440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Chỉ số</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Ước tính</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RTLSim</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Thực đo</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365760">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Max chu kỳ (nút)</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216 320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741 670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65760">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Độ trễ (ms)</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45,87</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7,41</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11,56</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65760">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FPS</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462,28</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134,83</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104,39</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bl>
          </a:graphicData>
        </a:graphic>
      </p:graphicFrame>
      <p:sp>
        <p:nvSpPr>
          <p:cNvPr id="9" name="Shape 4"/>
          <p:cNvSpPr/>
          <p:nvPr/>
        </p:nvSpPr>
        <p:spPr>
          <a:xfrm>
            <a:off x="4480560" y="2788920"/>
            <a:ext cx="4206240" cy="1828800"/>
          </a:xfrm>
          <a:prstGeom prst="roundRect">
            <a:avLst>
              <a:gd name="adj" fmla="val 4000"/>
            </a:avLst>
          </a:prstGeom>
          <a:solidFill>
            <a:srgbClr val="FBFBF8"/>
          </a:solidFill>
          <a:ln w="9525">
            <a:solidFill>
              <a:srgbClr val="D9DDD8"/>
            </a:solidFill>
            <a:prstDash val="solid"/>
          </a:ln>
        </p:spPr>
      </p:sp>
      <p:sp>
        <p:nvSpPr>
          <p:cNvPr id="10" name="Text 5"/>
          <p:cNvSpPr txBox="1"/>
          <p:nvPr/>
        </p:nvSpPr>
        <p:spPr>
          <a:xfrm>
            <a:off x="4608576" y="2898648"/>
            <a:ext cx="395020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Vì sao thực đo thấp hơn</a:t>
            </a:r>
            <a:endParaRPr lang="en-US" sz="1500" dirty="0"/>
          </a:p>
        </p:txBody>
      </p:sp>
      <p:sp>
        <p:nvSpPr>
          <p:cNvPr id="11" name="Text 6"/>
          <p:cNvSpPr txBox="1"/>
          <p:nvPr/>
        </p:nvSpPr>
        <p:spPr>
          <a:xfrm>
            <a:off x="4608576" y="3209544"/>
            <a:ext cx="3950208" cy="1335024"/>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Ước tính bỏ qua giao dịch bộ nhớ, ranh giới pipeline, stall</a:t>
            </a:r>
            <a:endParaRPr lang="en-US" sz="1250" dirty="0"/>
          </a:p>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RTLSim không thấy overhead driver và độ trễ phía PS</a:t>
            </a:r>
            <a:endParaRPr lang="en-US" sz="1250" dirty="0"/>
          </a:p>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MaxPool HLS: 741 670 chu kỳ thay vì 216 320 (3,43× chậm)</a:t>
            </a:r>
            <a:endParaRPr lang="en-US" sz="1250" dirty="0"/>
          </a:p>
        </p:txBody>
      </p:sp>
      <p:sp>
        <p:nvSpPr>
          <p:cNvPr id="12" name="Text 7"/>
          <p:cNvSpPr txBox="1"/>
          <p:nvPr/>
        </p:nvSpPr>
        <p:spPr>
          <a:xfrm>
            <a:off x="457200" y="3931920"/>
            <a:ext cx="3840480" cy="731520"/>
          </a:xfrm>
          <a:prstGeom prst="rect">
            <a:avLst/>
          </a:prstGeom>
          <a:noFill/>
          <a:ln/>
        </p:spPr>
        <p:txBody>
          <a:bodyPr wrap="square" lIns="0" tIns="0" rIns="0" bIns="0" rtlCol="0" anchor="t"/>
          <a:lstStyle/>
          <a:p>
            <a:pPr indent="0" marL="0">
              <a:buNone/>
            </a:pPr>
            <a:r>
              <a:rPr lang="en-US" sz="1150" i="1" dirty="0">
                <a:solidFill>
                  <a:srgbClr val="3F4F5A"/>
                </a:solidFill>
                <a:latin typeface="Calibri" pitchFamily="34" charset="0"/>
                <a:ea typeface="Calibri" pitchFamily="34" charset="-122"/>
                <a:cs typeface="Calibri" pitchFamily="34" charset="-120"/>
              </a:rPr>
              <a:t>Bài ghi độ trễ ước tính 45,87 ms (tổng chu kỳ) nhưng đo thực 11,56 ms ở batch 1: tổng chu kỳ các lớp không phải độ trễ của pipeline.</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KẾT QUẢ: HIỆU NĂNG</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Thông lượng theo tần số và lô (Bảng 9)</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31 / 42</a:t>
            </a:r>
            <a:endParaRPr lang="en-US" sz="900" dirty="0"/>
          </a:p>
        </p:txBody>
      </p:sp>
      <p:graphicFrame>
        <p:nvGraphicFramePr>
          <p:cNvPr id="7" name="Chart 0" descr=""/>
          <p:cNvGraphicFramePr/>
          <p:nvPr/>
        </p:nvGraphicFramePr>
        <p:xfrm>
          <a:off x="457200" y="1097280"/>
          <a:ext cx="402336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0" y="1097280"/>
          <a:ext cx="4114800" cy="914400"/>
        </p:xfrm>
        <a:graphic>
          <a:graphicData uri="http://schemas.openxmlformats.org/drawingml/2006/table">
            <a:tbl>
              <a:tblPr/>
              <a:tblGrid>
                <a:gridCol w="685800"/>
                <a:gridCol w="685800"/>
                <a:gridCol w="1005840"/>
                <a:gridCol w="731520"/>
                <a:gridCol w="100584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MHz</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Lô</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ms</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FPS</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DRAM Mb/s</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292608">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22,77</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43,91</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22,8</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292608">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1915,5</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52,21</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27,1</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292608">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11,56</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86,47</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44,9</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292608">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958,0</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104,39</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54,2</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292608">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6,07</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164,79</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100" dirty="0">
                          <a:solidFill>
                            <a:srgbClr val="14232E"/>
                          </a:solidFill>
                          <a:latin typeface="Calibri" pitchFamily="34" charset="0"/>
                          <a:ea typeface="Calibri" pitchFamily="34" charset="-122"/>
                          <a:cs typeface="Calibri" pitchFamily="34" charset="-120"/>
                        </a:rPr>
                        <a:t>85,6</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292608">
                <a:tc>
                  <a:txBody>
                    <a:bodyPr/>
                    <a:lstStyle/>
                    <a:p>
                      <a:pPr indent="0" marL="0">
                        <a:buNone/>
                      </a:pPr>
                      <a:r>
                        <a:rPr lang="en-US" sz="1100" b="1" dirty="0">
                          <a:solidFill>
                            <a:srgbClr val="14232E"/>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b="1" dirty="0">
                          <a:solidFill>
                            <a:srgbClr val="14232E"/>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b="1" dirty="0">
                          <a:solidFill>
                            <a:srgbClr val="14232E"/>
                          </a:solidFill>
                          <a:latin typeface="Calibri" pitchFamily="34" charset="0"/>
                          <a:ea typeface="Calibri" pitchFamily="34" charset="-122"/>
                          <a:cs typeface="Calibri" pitchFamily="34" charset="-120"/>
                        </a:rPr>
                        <a:t>479,2</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b="1" dirty="0">
                          <a:solidFill>
                            <a:srgbClr val="14232E"/>
                          </a:solidFill>
                          <a:latin typeface="Calibri" pitchFamily="34" charset="0"/>
                          <a:ea typeface="Calibri" pitchFamily="34" charset="-122"/>
                          <a:cs typeface="Calibri" pitchFamily="34" charset="-120"/>
                        </a:rPr>
                        <a:t>208,69</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100" b="1" dirty="0">
                          <a:solidFill>
                            <a:srgbClr val="14232E"/>
                          </a:solidFill>
                          <a:latin typeface="Calibri" pitchFamily="34" charset="0"/>
                          <a:ea typeface="Calibri" pitchFamily="34" charset="-122"/>
                          <a:cs typeface="Calibri" pitchFamily="34" charset="-120"/>
                        </a:rPr>
                        <a:t>108,3</a:t>
                      </a:r>
                      <a:endParaRPr lang="en-US" sz="11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bl>
          </a:graphicData>
        </a:graphic>
      </p:graphicFrame>
      <p:sp>
        <p:nvSpPr>
          <p:cNvPr id="9" name="Text 4"/>
          <p:cNvSpPr txBox="1"/>
          <p:nvPr/>
        </p:nvSpPr>
        <p:spPr>
          <a:xfrm>
            <a:off x="4572000" y="3291840"/>
            <a:ext cx="4114800" cy="1097280"/>
          </a:xfrm>
          <a:prstGeom prst="rect">
            <a:avLst/>
          </a:prstGeom>
          <a:noFill/>
          <a:ln/>
        </p:spPr>
        <p:txBody>
          <a:bodyPr wrap="square" lIns="0" tIns="0" rIns="0" bIns="0" rtlCol="0" anchor="t"/>
          <a:lstStyle/>
          <a:p>
            <a:pPr indent="0" marL="0">
              <a:buNone/>
            </a:pPr>
            <a:r>
              <a:rPr lang="en-US" sz="1250" dirty="0">
                <a:solidFill>
                  <a:srgbClr val="3F4F5A"/>
                </a:solidFill>
                <a:latin typeface="Calibri" pitchFamily="34" charset="0"/>
                <a:ea typeface="Calibri" pitchFamily="34" charset="-122"/>
                <a:cs typeface="Calibri" pitchFamily="34" charset="-120"/>
              </a:rPr>
              <a:t>Batch 100 làm đầy pipeline; với batch 1 phải chờ xả pipeline. Tuyến tính theo clock, nên băng thông DRAM vẫn còn dư (≈108 Mb/s ở 200 MHz).</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KẾT QUẢ: OVERHEAD</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Thời gian từng giai đoạn (Bảng 10)</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32 / 42</a:t>
            </a:r>
            <a:endParaRPr lang="en-US" sz="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669280" cy="914400"/>
        </p:xfrm>
        <a:graphic>
          <a:graphicData uri="http://schemas.openxmlformats.org/drawingml/2006/table">
            <a:tbl>
              <a:tblPr/>
              <a:tblGrid>
                <a:gridCol w="1828800"/>
                <a:gridCol w="1280160"/>
                <a:gridCol w="1280160"/>
                <a:gridCol w="128016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Giai đoạn (ms)</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50 MHz</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100 MHz</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200 MHz</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329184">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Tiền xử lý</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32,9 ± 1,0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34,0 ± 1,2</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32,2 ± 1,5</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29184">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Driver exec</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28,9 ± 0,7</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17,9 ± 0,8</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12,1 ± 0,3</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29184">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Rescale</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0,51 ± 0,21</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0,50 ± 0,18</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0,48 ± 0,02</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29184">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Detect</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4,99 ± 1,14</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4,67 ± 0,24</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4,75 ± 4,50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29184">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NMS</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10,4 ± 2,6</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9,34 ± 1,05</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9,23 ± 2,38</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29184">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Box process</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11,4 ± 2,8</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11,2 ± 3,2</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10,7 ± 2,95</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29184">
                <a:tc>
                  <a:txBody>
                    <a:bodyPr/>
                    <a:lstStyle/>
                    <a:p>
                      <a:pPr indent="0" marL="0">
                        <a:buNone/>
                      </a:pPr>
                      <a:r>
                        <a:rPr lang="en-US" sz="1200" b="1" dirty="0">
                          <a:solidFill>
                            <a:srgbClr val="14232E"/>
                          </a:solidFill>
                          <a:latin typeface="Calibri" pitchFamily="34" charset="0"/>
                          <a:ea typeface="Calibri" pitchFamily="34" charset="-122"/>
                          <a:cs typeface="Calibri" pitchFamily="34" charset="-120"/>
                        </a:rPr>
                        <a:t>Tổng hậu xử lý</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b="1" dirty="0">
                          <a:solidFill>
                            <a:srgbClr val="14232E"/>
                          </a:solidFill>
                          <a:latin typeface="Calibri" pitchFamily="34" charset="0"/>
                          <a:ea typeface="Calibri" pitchFamily="34" charset="-122"/>
                          <a:cs typeface="Calibri" pitchFamily="34" charset="-120"/>
                        </a:rPr>
                        <a:t>28,0 ± 5,0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b="1" dirty="0">
                          <a:solidFill>
                            <a:srgbClr val="14232E"/>
                          </a:solidFill>
                          <a:latin typeface="Calibri" pitchFamily="34" charset="0"/>
                          <a:ea typeface="Calibri" pitchFamily="34" charset="-122"/>
                          <a:cs typeface="Calibri" pitchFamily="34" charset="-120"/>
                        </a:rPr>
                        <a:t>26,4 ± 3,6</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b="1" dirty="0">
                          <a:solidFill>
                            <a:srgbClr val="14232E"/>
                          </a:solidFill>
                          <a:latin typeface="Calibri" pitchFamily="34" charset="0"/>
                          <a:ea typeface="Calibri" pitchFamily="34" charset="-122"/>
                          <a:cs typeface="Calibri" pitchFamily="34" charset="-120"/>
                        </a:rPr>
                        <a:t>25,8 ± 8,8</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bl>
          </a:graphicData>
        </a:graphic>
      </p:graphicFrame>
      <p:sp>
        <p:nvSpPr>
          <p:cNvPr id="8" name="Shape 4"/>
          <p:cNvSpPr/>
          <p:nvPr/>
        </p:nvSpPr>
        <p:spPr>
          <a:xfrm>
            <a:off x="6400800" y="1188720"/>
            <a:ext cx="2286000" cy="3429000"/>
          </a:xfrm>
          <a:prstGeom prst="roundRect">
            <a:avLst>
              <a:gd name="adj" fmla="val 3200"/>
            </a:avLst>
          </a:prstGeom>
          <a:solidFill>
            <a:srgbClr val="FBFBF8"/>
          </a:solidFill>
          <a:ln w="9525">
            <a:solidFill>
              <a:srgbClr val="D9DDD8"/>
            </a:solidFill>
            <a:prstDash val="solid"/>
          </a:ln>
        </p:spPr>
      </p:sp>
      <p:sp>
        <p:nvSpPr>
          <p:cNvPr id="9" name="Text 5"/>
          <p:cNvSpPr txBox="1"/>
          <p:nvPr/>
        </p:nvSpPr>
        <p:spPr>
          <a:xfrm>
            <a:off x="6528816" y="1298448"/>
            <a:ext cx="202996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Nhận xét</a:t>
            </a:r>
            <a:endParaRPr lang="en-US" sz="1500" dirty="0"/>
          </a:p>
        </p:txBody>
      </p:sp>
      <p:sp>
        <p:nvSpPr>
          <p:cNvPr id="10" name="Text 6"/>
          <p:cNvSpPr txBox="1"/>
          <p:nvPr/>
        </p:nvSpPr>
        <p:spPr>
          <a:xfrm>
            <a:off x="6528816" y="1609344"/>
            <a:ext cx="2029968" cy="2935224"/>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3F4F5A"/>
                </a:solidFill>
                <a:latin typeface="Calibri" pitchFamily="34" charset="0"/>
                <a:ea typeface="Calibri" pitchFamily="34" charset="-122"/>
                <a:cs typeface="Calibri" pitchFamily="34" charset="-120"/>
              </a:rPr>
              <a:t>Driver exec = suy luận + copy + pack/unpack</a:t>
            </a:r>
            <a:endParaRPr lang="en-US" sz="1200" dirty="0"/>
          </a:p>
          <a:p>
            <a:pPr marL="342900" indent="-342900">
              <a:spcAft>
                <a:spcPts val="300"/>
              </a:spcAft>
              <a:buSzPct val="100000"/>
              <a:buChar char="•"/>
            </a:pPr>
            <a:r>
              <a:rPr lang="en-US" sz="1200" dirty="0">
                <a:solidFill>
                  <a:srgbClr val="3F4F5A"/>
                </a:solidFill>
                <a:latin typeface="Calibri" pitchFamily="34" charset="0"/>
                <a:ea typeface="Calibri" pitchFamily="34" charset="-122"/>
                <a:cs typeface="Calibri" pitchFamily="34" charset="-120"/>
              </a:rPr>
              <a:t>Phần cố định không co theo clock → FPS thực giảm 21% (50 MHz), 35% (100), 50% (200)</a:t>
            </a:r>
            <a:endParaRPr lang="en-US" sz="1200" dirty="0"/>
          </a:p>
          <a:p>
            <a:pPr marL="342900" indent="-342900">
              <a:spcAft>
                <a:spcPts val="300"/>
              </a:spcAft>
              <a:buSzPct val="100000"/>
              <a:buChar char="•"/>
            </a:pPr>
            <a:r>
              <a:rPr lang="en-US" sz="1200" dirty="0">
                <a:solidFill>
                  <a:srgbClr val="3F4F5A"/>
                </a:solidFill>
                <a:latin typeface="Calibri" pitchFamily="34" charset="0"/>
                <a:ea typeface="Calibri" pitchFamily="34" charset="-122"/>
                <a:cs typeface="Calibri" pitchFamily="34" charset="-120"/>
              </a:rPr>
              <a:t>Giai đoạn PS-bound chiếm phần lớn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KẾT QUẢ: CÔNG SUẤT (1)</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Công suất ước tính Vivado (Bảng 11-12)</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33 / 42</a:t>
            </a:r>
            <a:endParaRPr lang="en-US" sz="900" dirty="0"/>
          </a:p>
        </p:txBody>
      </p:sp>
      <p:graphicFrame>
        <p:nvGraphicFramePr>
          <p:cNvPr id="7" name="Chart 0" descr=""/>
          <p:cNvGraphicFramePr/>
          <p:nvPr/>
        </p:nvGraphicFramePr>
        <p:xfrm>
          <a:off x="457200" y="1097280"/>
          <a:ext cx="457200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212080" y="1188720"/>
          <a:ext cx="3200400" cy="914400"/>
        </p:xfrm>
        <a:graphic>
          <a:graphicData uri="http://schemas.openxmlformats.org/drawingml/2006/table">
            <a:tbl>
              <a:tblPr/>
              <a:tblGrid>
                <a:gridCol w="2377440"/>
                <a:gridCol w="8229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Khối (Bảng 11)</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310896">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Tổng top_wrapper</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3,129</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10896">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StreamingDataflowPartition</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1,554</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10896">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zynq_ps</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1,497</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10896">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smartconnect</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0,042</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10896">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idma + odma</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0,031</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bl>
          </a:graphicData>
        </a:graphic>
      </p:graphicFrame>
      <p:sp>
        <p:nvSpPr>
          <p:cNvPr id="9" name="Text 4"/>
          <p:cNvSpPr txBox="1"/>
          <p:nvPr/>
        </p:nvSpPr>
        <p:spPr>
          <a:xfrm>
            <a:off x="5212080" y="3200400"/>
            <a:ext cx="3474720" cy="822960"/>
          </a:xfrm>
          <a:prstGeom prst="rect">
            <a:avLst/>
          </a:prstGeom>
          <a:noFill/>
          <a:ln/>
        </p:spPr>
        <p:txBody>
          <a:bodyPr wrap="square" lIns="0" tIns="0" rIns="0" bIns="0" rtlCol="0" anchor="t"/>
          <a:lstStyle/>
          <a:p>
            <a:pPr indent="0" marL="0">
              <a:buNone/>
            </a:pPr>
            <a:r>
              <a:rPr lang="en-US" sz="1250" dirty="0">
                <a:solidFill>
                  <a:srgbClr val="3F4F5A"/>
                </a:solidFill>
                <a:latin typeface="Calibri" pitchFamily="34" charset="0"/>
                <a:ea typeface="Calibri" pitchFamily="34" charset="-122"/>
                <a:cs typeface="Calibri" pitchFamily="34" charset="-120"/>
              </a:rPr>
              <a:t>Phần mạng (1,554 W) và PS (1,497 W) gần ngang nhau trong ước tính; trong thực đo, PS chiếm áp đảo.</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KẾT QUẢ: CÔNG SUẤT (2)</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Công suất đo và FPS/W (Bảng 13, 14)</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34 / 42</a:t>
            </a:r>
            <a:endParaRPr lang="en-US" sz="900" dirty="0"/>
          </a:p>
        </p:txBody>
      </p:sp>
      <p:graphicFrame>
        <p:nvGraphicFramePr>
          <p:cNvPr id="7" name="Chart 0" descr=""/>
          <p:cNvGraphicFramePr/>
          <p:nvPr/>
        </p:nvGraphicFramePr>
        <p:xfrm>
          <a:off x="457200" y="1097280"/>
          <a:ext cx="402336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754880" y="1188720"/>
          <a:ext cx="3840480" cy="914400"/>
        </p:xfrm>
        <a:graphic>
          <a:graphicData uri="http://schemas.openxmlformats.org/drawingml/2006/table">
            <a:tbl>
              <a:tblPr/>
              <a:tblGrid>
                <a:gridCol w="2468880"/>
                <a:gridCol w="1371600"/>
              </a:tblGrid>
              <a:tr h="329184">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Cấu hình</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Công suất</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329184">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Rảnh (chưa nạp bitstream)</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1,90 W</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29184">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50 MHz</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2,12 W</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29184">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100 MHz</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2,38 W</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29184">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200 MHz</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2,55 W</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bl>
          </a:graphicData>
        </a:graphic>
      </p:graphicFrame>
      <p:sp>
        <p:nvSpPr>
          <p:cNvPr id="9" name="Text 4"/>
          <p:cNvSpPr txBox="1"/>
          <p:nvPr/>
        </p:nvSpPr>
        <p:spPr>
          <a:xfrm>
            <a:off x="4754880" y="2926080"/>
            <a:ext cx="3931920" cy="1188720"/>
          </a:xfrm>
          <a:prstGeom prst="rect">
            <a:avLst/>
          </a:prstGeom>
          <a:noFill/>
          <a:ln/>
        </p:spPr>
        <p:txBody>
          <a:bodyPr wrap="square" lIns="0" tIns="0" rIns="0" bIns="0" rtlCol="0" anchor="t"/>
          <a:lstStyle/>
          <a:p>
            <a:pPr indent="0" marL="0">
              <a:buNone/>
            </a:pPr>
            <a:r>
              <a:rPr lang="en-US" sz="1250" dirty="0">
                <a:solidFill>
                  <a:srgbClr val="3F4F5A"/>
                </a:solidFill>
                <a:latin typeface="Calibri" pitchFamily="34" charset="0"/>
                <a:ea typeface="Calibri" pitchFamily="34" charset="-122"/>
                <a:cs typeface="Calibri" pitchFamily="34" charset="-120"/>
              </a:rPr>
              <a:t>PL thật sự chỉ thêm 0,22–0,65 W. Phần 1,9 W là PS + DRAM, chưa giảm xung khi rảnh. Driver bare-metal sơ bộ tiết kiệm trên 20% công suất so với Linux.</a:t>
            </a:r>
            <a:endParaRPr lang="en-US" sz="1250" dirty="0"/>
          </a:p>
        </p:txBody>
      </p:sp>
      <p:sp>
        <p:nvSpPr>
          <p:cNvPr id="10" name="Text 5"/>
          <p:cNvSpPr txBox="1"/>
          <p:nvPr/>
        </p:nvSpPr>
        <p:spPr>
          <a:xfrm>
            <a:off x="4754880" y="4206240"/>
            <a:ext cx="3931920" cy="365760"/>
          </a:xfrm>
          <a:prstGeom prst="rect">
            <a:avLst/>
          </a:prstGeom>
          <a:noFill/>
          <a:ln/>
        </p:spPr>
        <p:txBody>
          <a:bodyPr wrap="square" lIns="0" tIns="0" rIns="0" bIns="0" rtlCol="0" anchor="t"/>
          <a:lstStyle/>
          <a:p>
            <a:pPr indent="0" marL="0">
              <a:buNone/>
            </a:pPr>
            <a:r>
              <a:rPr lang="en-US" sz="1200" i="1" dirty="0">
                <a:solidFill>
                  <a:srgbClr val="3F4F5A"/>
                </a:solidFill>
                <a:latin typeface="Calibri" pitchFamily="34" charset="0"/>
                <a:ea typeface="Calibri" pitchFamily="34" charset="-122"/>
                <a:cs typeface="Calibri" pitchFamily="34" charset="-120"/>
              </a:rPr>
              <a:t>Chú ý: FPS/W dùng công suất cả board, không tách PS.</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F2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F2A33A"/>
                </a:solidFill>
                <a:latin typeface="Calibri" pitchFamily="34" charset="0"/>
                <a:ea typeface="Calibri" pitchFamily="34" charset="-122"/>
                <a:cs typeface="Calibri" pitchFamily="34" charset="-120"/>
              </a:rPr>
              <a:t>KẾT QUẢ: HỆ THỐNG</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F4F5F1"/>
                </a:solidFill>
                <a:latin typeface="Calibri" pitchFamily="34" charset="0"/>
                <a:ea typeface="Calibri" pitchFamily="34" charset="-122"/>
                <a:cs typeface="Calibri" pitchFamily="34" charset="-120"/>
              </a:rPr>
              <a:t>Thông lượng và độ trễ đầu-cuối qua mạng</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9FB0BA"/>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9FB0BA"/>
                </a:solidFill>
                <a:latin typeface="Calibri" pitchFamily="34" charset="0"/>
                <a:ea typeface="Calibri" pitchFamily="34" charset="-122"/>
                <a:cs typeface="Calibri" pitchFamily="34" charset="-120"/>
              </a:rPr>
              <a:t>35 / 42</a:t>
            </a:r>
            <a:endParaRPr lang="en-US" sz="900" dirty="0"/>
          </a:p>
        </p:txBody>
      </p:sp>
      <p:sp>
        <p:nvSpPr>
          <p:cNvPr id="7" name="Shape 4"/>
          <p:cNvSpPr/>
          <p:nvPr/>
        </p:nvSpPr>
        <p:spPr>
          <a:xfrm>
            <a:off x="457200" y="1188720"/>
            <a:ext cx="1920240" cy="1463040"/>
          </a:xfrm>
          <a:prstGeom prst="roundRect">
            <a:avLst>
              <a:gd name="adj" fmla="val 5000"/>
            </a:avLst>
          </a:prstGeom>
          <a:solidFill>
            <a:srgbClr val="1A3140"/>
          </a:solidFill>
          <a:ln w="12700">
            <a:solidFill>
              <a:srgbClr val="1A3140"/>
            </a:solidFill>
            <a:prstDash val="solid"/>
          </a:ln>
        </p:spPr>
      </p:sp>
      <p:sp>
        <p:nvSpPr>
          <p:cNvPr id="8" name="Text 5"/>
          <p:cNvSpPr txBox="1"/>
          <p:nvPr/>
        </p:nvSpPr>
        <p:spPr>
          <a:xfrm>
            <a:off x="566928" y="1280160"/>
            <a:ext cx="1700784" cy="640080"/>
          </a:xfrm>
          <a:prstGeom prst="rect">
            <a:avLst/>
          </a:prstGeom>
          <a:noFill/>
          <a:ln/>
        </p:spPr>
        <p:txBody>
          <a:bodyPr wrap="square" lIns="0" tIns="0" rIns="0" bIns="0" rtlCol="0" anchor="ctr"/>
          <a:lstStyle/>
          <a:p>
            <a:pPr indent="0" marL="0">
              <a:buNone/>
            </a:pPr>
            <a:r>
              <a:rPr lang="en-US" sz="3000" b="1" dirty="0">
                <a:solidFill>
                  <a:srgbClr val="F2A33A"/>
                </a:solidFill>
                <a:latin typeface="Calibri" pitchFamily="34" charset="0"/>
                <a:ea typeface="Calibri" pitchFamily="34" charset="-122"/>
                <a:cs typeface="Calibri" pitchFamily="34" charset="-120"/>
              </a:rPr>
              <a:t>12 ms</a:t>
            </a:r>
            <a:endParaRPr lang="en-US" sz="3000" dirty="0"/>
          </a:p>
        </p:txBody>
      </p:sp>
      <p:sp>
        <p:nvSpPr>
          <p:cNvPr id="9" name="Text 6"/>
          <p:cNvSpPr txBox="1"/>
          <p:nvPr/>
        </p:nvSpPr>
        <p:spPr>
          <a:xfrm>
            <a:off x="566928" y="1938528"/>
            <a:ext cx="1700784" cy="640080"/>
          </a:xfrm>
          <a:prstGeom prst="rect">
            <a:avLst/>
          </a:prstGeom>
          <a:noFill/>
          <a:ln/>
        </p:spPr>
        <p:txBody>
          <a:bodyPr wrap="square" lIns="0" tIns="0" rIns="0" bIns="0" rtlCol="0" anchor="t"/>
          <a:lstStyle/>
          <a:p>
            <a:pPr indent="0" marL="0">
              <a:buNone/>
            </a:pPr>
            <a:r>
              <a:rPr lang="en-US" sz="1300" dirty="0">
                <a:solidFill>
                  <a:srgbClr val="C9D5DB"/>
                </a:solidFill>
                <a:latin typeface="Calibri" pitchFamily="34" charset="0"/>
                <a:ea typeface="Calibri" pitchFamily="34" charset="-122"/>
                <a:cs typeface="Calibri" pitchFamily="34" charset="-120"/>
              </a:rPr>
              <a:t>suy luận mỗi khung, 200 MHz, driver FINN</a:t>
            </a:r>
            <a:endParaRPr lang="en-US" sz="1300" dirty="0"/>
          </a:p>
        </p:txBody>
      </p:sp>
      <p:sp>
        <p:nvSpPr>
          <p:cNvPr id="10" name="Shape 7"/>
          <p:cNvSpPr/>
          <p:nvPr/>
        </p:nvSpPr>
        <p:spPr>
          <a:xfrm>
            <a:off x="2560320" y="1188720"/>
            <a:ext cx="1920240" cy="1463040"/>
          </a:xfrm>
          <a:prstGeom prst="roundRect">
            <a:avLst>
              <a:gd name="adj" fmla="val 5000"/>
            </a:avLst>
          </a:prstGeom>
          <a:solidFill>
            <a:srgbClr val="1A3140"/>
          </a:solidFill>
          <a:ln w="12700">
            <a:solidFill>
              <a:srgbClr val="1A3140"/>
            </a:solidFill>
            <a:prstDash val="solid"/>
          </a:ln>
        </p:spPr>
      </p:sp>
      <p:sp>
        <p:nvSpPr>
          <p:cNvPr id="11" name="Text 8"/>
          <p:cNvSpPr txBox="1"/>
          <p:nvPr/>
        </p:nvSpPr>
        <p:spPr>
          <a:xfrm>
            <a:off x="2670048" y="1280160"/>
            <a:ext cx="1700784" cy="640080"/>
          </a:xfrm>
          <a:prstGeom prst="rect">
            <a:avLst/>
          </a:prstGeom>
          <a:noFill/>
          <a:ln/>
        </p:spPr>
        <p:txBody>
          <a:bodyPr wrap="square" lIns="0" tIns="0" rIns="0" bIns="0" rtlCol="0" anchor="ctr"/>
          <a:lstStyle/>
          <a:p>
            <a:pPr indent="0" marL="0">
              <a:buNone/>
            </a:pPr>
            <a:r>
              <a:rPr lang="en-US" sz="3000" b="1" dirty="0">
                <a:solidFill>
                  <a:srgbClr val="F2A33A"/>
                </a:solidFill>
                <a:latin typeface="Calibri" pitchFamily="34" charset="0"/>
                <a:ea typeface="Calibri" pitchFamily="34" charset="-122"/>
                <a:cs typeface="Calibri" pitchFamily="34" charset="-120"/>
              </a:rPr>
              <a:t>13 ms</a:t>
            </a:r>
            <a:endParaRPr lang="en-US" sz="3000" dirty="0"/>
          </a:p>
        </p:txBody>
      </p:sp>
      <p:sp>
        <p:nvSpPr>
          <p:cNvPr id="12" name="Text 9"/>
          <p:cNvSpPr txBox="1"/>
          <p:nvPr/>
        </p:nvSpPr>
        <p:spPr>
          <a:xfrm>
            <a:off x="2670048" y="1938528"/>
            <a:ext cx="1700784" cy="640080"/>
          </a:xfrm>
          <a:prstGeom prst="rect">
            <a:avLst/>
          </a:prstGeom>
          <a:noFill/>
          <a:ln/>
        </p:spPr>
        <p:txBody>
          <a:bodyPr wrap="square" lIns="0" tIns="0" rIns="0" bIns="0" rtlCol="0" anchor="t"/>
          <a:lstStyle/>
          <a:p>
            <a:pPr indent="0" marL="0">
              <a:buNone/>
            </a:pPr>
            <a:r>
              <a:rPr lang="en-US" sz="1300" dirty="0">
                <a:solidFill>
                  <a:srgbClr val="C9D5DB"/>
                </a:solidFill>
                <a:latin typeface="Calibri" pitchFamily="34" charset="0"/>
                <a:ea typeface="Calibri" pitchFamily="34" charset="-122"/>
                <a:cs typeface="Calibri" pitchFamily="34" charset="-120"/>
              </a:rPr>
              <a:t>độ trễ luồng tối đa, Ethernet có dây</a:t>
            </a:r>
            <a:endParaRPr lang="en-US" sz="1300" dirty="0"/>
          </a:p>
        </p:txBody>
      </p:sp>
      <p:sp>
        <p:nvSpPr>
          <p:cNvPr id="13" name="Shape 10"/>
          <p:cNvSpPr/>
          <p:nvPr/>
        </p:nvSpPr>
        <p:spPr>
          <a:xfrm>
            <a:off x="4663440" y="1188720"/>
            <a:ext cx="1920240" cy="1463040"/>
          </a:xfrm>
          <a:prstGeom prst="roundRect">
            <a:avLst>
              <a:gd name="adj" fmla="val 5000"/>
            </a:avLst>
          </a:prstGeom>
          <a:solidFill>
            <a:srgbClr val="1A3140"/>
          </a:solidFill>
          <a:ln w="12700">
            <a:solidFill>
              <a:srgbClr val="1A3140"/>
            </a:solidFill>
            <a:prstDash val="solid"/>
          </a:ln>
        </p:spPr>
      </p:sp>
      <p:sp>
        <p:nvSpPr>
          <p:cNvPr id="14" name="Text 11"/>
          <p:cNvSpPr txBox="1"/>
          <p:nvPr/>
        </p:nvSpPr>
        <p:spPr>
          <a:xfrm>
            <a:off x="4773168" y="1280160"/>
            <a:ext cx="1700784" cy="640080"/>
          </a:xfrm>
          <a:prstGeom prst="rect">
            <a:avLst/>
          </a:prstGeom>
          <a:noFill/>
          <a:ln/>
        </p:spPr>
        <p:txBody>
          <a:bodyPr wrap="square" lIns="0" tIns="0" rIns="0" bIns="0" rtlCol="0" anchor="ctr"/>
          <a:lstStyle/>
          <a:p>
            <a:pPr indent="0" marL="0">
              <a:buNone/>
            </a:pPr>
            <a:r>
              <a:rPr lang="en-US" sz="3000" b="1" dirty="0">
                <a:solidFill>
                  <a:srgbClr val="F2A33A"/>
                </a:solidFill>
                <a:latin typeface="Calibri" pitchFamily="34" charset="0"/>
                <a:ea typeface="Calibri" pitchFamily="34" charset="-122"/>
                <a:cs typeface="Calibri" pitchFamily="34" charset="-120"/>
              </a:rPr>
              <a:t>130 ms</a:t>
            </a:r>
            <a:endParaRPr lang="en-US" sz="3000" dirty="0"/>
          </a:p>
        </p:txBody>
      </p:sp>
      <p:sp>
        <p:nvSpPr>
          <p:cNvPr id="15" name="Text 12"/>
          <p:cNvSpPr txBox="1"/>
          <p:nvPr/>
        </p:nvSpPr>
        <p:spPr>
          <a:xfrm>
            <a:off x="4773168" y="1938528"/>
            <a:ext cx="1700784" cy="640080"/>
          </a:xfrm>
          <a:prstGeom prst="rect">
            <a:avLst/>
          </a:prstGeom>
          <a:noFill/>
          <a:ln/>
        </p:spPr>
        <p:txBody>
          <a:bodyPr wrap="square" lIns="0" tIns="0" rIns="0" bIns="0" rtlCol="0" anchor="t"/>
          <a:lstStyle/>
          <a:p>
            <a:pPr indent="0" marL="0">
              <a:buNone/>
            </a:pPr>
            <a:r>
              <a:rPr lang="en-US" sz="1300" dirty="0">
                <a:solidFill>
                  <a:srgbClr val="C9D5DB"/>
                </a:solidFill>
                <a:latin typeface="Calibri" pitchFamily="34" charset="0"/>
                <a:ea typeface="Calibri" pitchFamily="34" charset="-122"/>
                <a:cs typeface="Calibri" pitchFamily="34" charset="-120"/>
              </a:rPr>
              <a:t>độ trễ luồng tối đa qua WiFi</a:t>
            </a:r>
            <a:endParaRPr lang="en-US" sz="1300" dirty="0"/>
          </a:p>
        </p:txBody>
      </p:sp>
      <p:sp>
        <p:nvSpPr>
          <p:cNvPr id="16" name="Shape 13"/>
          <p:cNvSpPr/>
          <p:nvPr/>
        </p:nvSpPr>
        <p:spPr>
          <a:xfrm>
            <a:off x="6766560" y="1188720"/>
            <a:ext cx="1920240" cy="1463040"/>
          </a:xfrm>
          <a:prstGeom prst="roundRect">
            <a:avLst>
              <a:gd name="adj" fmla="val 5000"/>
            </a:avLst>
          </a:prstGeom>
          <a:solidFill>
            <a:srgbClr val="1A3140"/>
          </a:solidFill>
          <a:ln w="12700">
            <a:solidFill>
              <a:srgbClr val="1A3140"/>
            </a:solidFill>
            <a:prstDash val="solid"/>
          </a:ln>
        </p:spPr>
      </p:sp>
      <p:sp>
        <p:nvSpPr>
          <p:cNvPr id="17" name="Text 14"/>
          <p:cNvSpPr txBox="1"/>
          <p:nvPr/>
        </p:nvSpPr>
        <p:spPr>
          <a:xfrm>
            <a:off x="6876288" y="1280160"/>
            <a:ext cx="1700784" cy="640080"/>
          </a:xfrm>
          <a:prstGeom prst="rect">
            <a:avLst/>
          </a:prstGeom>
          <a:noFill/>
          <a:ln/>
        </p:spPr>
        <p:txBody>
          <a:bodyPr wrap="square" lIns="0" tIns="0" rIns="0" bIns="0" rtlCol="0" anchor="ctr"/>
          <a:lstStyle/>
          <a:p>
            <a:pPr indent="0" marL="0">
              <a:buNone/>
            </a:pPr>
            <a:r>
              <a:rPr lang="en-US" sz="3000" b="1" dirty="0">
                <a:solidFill>
                  <a:srgbClr val="F2A33A"/>
                </a:solidFill>
                <a:latin typeface="Calibri" pitchFamily="34" charset="0"/>
                <a:ea typeface="Calibri" pitchFamily="34" charset="-122"/>
                <a:cs typeface="Calibri" pitchFamily="34" charset="-120"/>
              </a:rPr>
              <a:t>30 FPS</a:t>
            </a:r>
            <a:endParaRPr lang="en-US" sz="3000" dirty="0"/>
          </a:p>
        </p:txBody>
      </p:sp>
      <p:sp>
        <p:nvSpPr>
          <p:cNvPr id="18" name="Text 15"/>
          <p:cNvSpPr txBox="1"/>
          <p:nvPr/>
        </p:nvSpPr>
        <p:spPr>
          <a:xfrm>
            <a:off x="6876288" y="1938528"/>
            <a:ext cx="1700784" cy="640080"/>
          </a:xfrm>
          <a:prstGeom prst="rect">
            <a:avLst/>
          </a:prstGeom>
          <a:noFill/>
          <a:ln/>
        </p:spPr>
        <p:txBody>
          <a:bodyPr wrap="square" lIns="0" tIns="0" rIns="0" bIns="0" rtlCol="0" anchor="t"/>
          <a:lstStyle/>
          <a:p>
            <a:pPr indent="0" marL="0">
              <a:buNone/>
            </a:pPr>
            <a:r>
              <a:rPr lang="en-US" sz="1300" dirty="0">
                <a:solidFill>
                  <a:srgbClr val="C9D5DB"/>
                </a:solidFill>
                <a:latin typeface="Calibri" pitchFamily="34" charset="0"/>
                <a:ea typeface="Calibri" pitchFamily="34" charset="-122"/>
                <a:cs typeface="Calibri" pitchFamily="34" charset="-120"/>
              </a:rPr>
              <a:t>camera trực tiếp, macOS client</a:t>
            </a:r>
            <a:endParaRPr lang="en-US" sz="1300" dirty="0"/>
          </a:p>
        </p:txBody>
      </p:sp>
      <p:sp>
        <p:nvSpPr>
          <p:cNvPr id="19" name="Shape 16"/>
          <p:cNvSpPr/>
          <p:nvPr/>
        </p:nvSpPr>
        <p:spPr>
          <a:xfrm>
            <a:off x="457200" y="2834640"/>
            <a:ext cx="4023360" cy="1783080"/>
          </a:xfrm>
          <a:prstGeom prst="roundRect">
            <a:avLst>
              <a:gd name="adj" fmla="val 4103"/>
            </a:avLst>
          </a:prstGeom>
          <a:solidFill>
            <a:srgbClr val="1A3140"/>
          </a:solidFill>
          <a:ln w="9525">
            <a:solidFill>
              <a:srgbClr val="D9DDD8"/>
            </a:solidFill>
            <a:prstDash val="solid"/>
          </a:ln>
        </p:spPr>
      </p:sp>
      <p:sp>
        <p:nvSpPr>
          <p:cNvPr id="20" name="Text 17"/>
          <p:cNvSpPr txBox="1"/>
          <p:nvPr/>
        </p:nvSpPr>
        <p:spPr>
          <a:xfrm>
            <a:off x="585216" y="2944368"/>
            <a:ext cx="3767328" cy="274320"/>
          </a:xfrm>
          <a:prstGeom prst="rect">
            <a:avLst/>
          </a:prstGeom>
          <a:noFill/>
          <a:ln/>
        </p:spPr>
        <p:txBody>
          <a:bodyPr wrap="square" lIns="0" tIns="0" rIns="0" bIns="0" rtlCol="0" anchor="t"/>
          <a:lstStyle/>
          <a:p>
            <a:pPr indent="0" marL="0">
              <a:buNone/>
            </a:pPr>
            <a:r>
              <a:rPr lang="en-US" sz="1500" b="1" dirty="0">
                <a:solidFill>
                  <a:srgbClr val="F2A33A"/>
                </a:solidFill>
                <a:latin typeface="Calibri" pitchFamily="34" charset="0"/>
                <a:ea typeface="Calibri" pitchFamily="34" charset="-122"/>
                <a:cs typeface="Calibri" pitchFamily="34" charset="-120"/>
              </a:rPr>
              <a:t>Vì sao 30 chứ không 208 FPS</a:t>
            </a:r>
            <a:endParaRPr lang="en-US" sz="1500" dirty="0"/>
          </a:p>
        </p:txBody>
      </p:sp>
      <p:sp>
        <p:nvSpPr>
          <p:cNvPr id="21" name="Text 18"/>
          <p:cNvSpPr txBox="1"/>
          <p:nvPr/>
        </p:nvSpPr>
        <p:spPr>
          <a:xfrm>
            <a:off x="585216" y="3255264"/>
            <a:ext cx="3767328" cy="128930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Sao chép buffer thô sang numpy cho mỗi khung</a:t>
            </a:r>
            <a:endParaRPr lang="en-US" sz="1300" dirty="0"/>
          </a:p>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Chuyển đổi định dạng trong Python</a:t>
            </a:r>
            <a:endParaRPr lang="en-US" sz="1300" dirty="0"/>
          </a:p>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Phụ thuộc mạng và client</a:t>
            </a:r>
            <a:endParaRPr lang="en-US" sz="1300" dirty="0"/>
          </a:p>
        </p:txBody>
      </p:sp>
      <p:sp>
        <p:nvSpPr>
          <p:cNvPr id="22" name="Shape 19"/>
          <p:cNvSpPr/>
          <p:nvPr/>
        </p:nvSpPr>
        <p:spPr>
          <a:xfrm>
            <a:off x="4663440" y="2834640"/>
            <a:ext cx="4023360" cy="1783080"/>
          </a:xfrm>
          <a:prstGeom prst="roundRect">
            <a:avLst>
              <a:gd name="adj" fmla="val 4103"/>
            </a:avLst>
          </a:prstGeom>
          <a:solidFill>
            <a:srgbClr val="1A3140"/>
          </a:solidFill>
          <a:ln w="9525">
            <a:solidFill>
              <a:srgbClr val="D9DDD8"/>
            </a:solidFill>
            <a:prstDash val="solid"/>
          </a:ln>
        </p:spPr>
      </p:sp>
      <p:sp>
        <p:nvSpPr>
          <p:cNvPr id="23" name="Text 20"/>
          <p:cNvSpPr txBox="1"/>
          <p:nvPr/>
        </p:nvSpPr>
        <p:spPr>
          <a:xfrm>
            <a:off x="4791456" y="2944368"/>
            <a:ext cx="3767328" cy="274320"/>
          </a:xfrm>
          <a:prstGeom prst="rect">
            <a:avLst/>
          </a:prstGeom>
          <a:noFill/>
          <a:ln/>
        </p:spPr>
        <p:txBody>
          <a:bodyPr wrap="square" lIns="0" tIns="0" rIns="0" bIns="0" rtlCol="0" anchor="t"/>
          <a:lstStyle/>
          <a:p>
            <a:pPr indent="0" marL="0">
              <a:buNone/>
            </a:pPr>
            <a:r>
              <a:rPr lang="en-US" sz="1500" b="1" dirty="0">
                <a:solidFill>
                  <a:srgbClr val="F2A33A"/>
                </a:solidFill>
                <a:latin typeface="Calibri" pitchFamily="34" charset="0"/>
                <a:ea typeface="Calibri" pitchFamily="34" charset="-122"/>
                <a:cs typeface="Calibri" pitchFamily="34" charset="-120"/>
              </a:rPr>
              <a:t>So với LPYOLO</a:t>
            </a:r>
            <a:endParaRPr lang="en-US" sz="1500" dirty="0"/>
          </a:p>
        </p:txBody>
      </p:sp>
      <p:sp>
        <p:nvSpPr>
          <p:cNvPr id="24" name="Text 21"/>
          <p:cNvSpPr txBox="1"/>
          <p:nvPr/>
        </p:nvSpPr>
        <p:spPr>
          <a:xfrm>
            <a:off x="4791456" y="3255264"/>
            <a:ext cx="3767328" cy="128930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LPYOLO cùng cấu hình mạng và board: 18 FPS</a:t>
            </a:r>
            <a:endParaRPr lang="en-US" sz="1300" dirty="0"/>
          </a:p>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Bài này: 30 FPS</a:t>
            </a:r>
            <a:endParaRPr lang="en-US" sz="1300" dirty="0"/>
          </a:p>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Tác giả kỳ vọng bản C của driver sẽ giảm overhead mạnh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KẾT QUẢ: THỰC ĐỊA</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Thử nghiệm với video drone thật (Hình 19)</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36 / 42</a:t>
            </a:r>
            <a:endParaRPr lang="en-US" sz="900" dirty="0"/>
          </a:p>
        </p:txBody>
      </p:sp>
      <p:pic>
        <p:nvPicPr>
          <p:cNvPr id="7" name="Image 0" descr="d1">    </p:cNvPr>
          <p:cNvPicPr>
            <a:picLocks noChangeAspect="1"/>
          </p:cNvPicPr>
          <p:nvPr/>
        </p:nvPicPr>
        <p:blipFill>
          <a:blip r:embed="rId1"/>
          <a:stretch>
            <a:fillRect/>
          </a:stretch>
        </p:blipFill>
        <p:spPr>
          <a:xfrm>
            <a:off x="457200" y="1188720"/>
            <a:ext cx="2697480" cy="1492606"/>
          </a:xfrm>
          <a:prstGeom prst="rect">
            <a:avLst/>
          </a:prstGeom>
        </p:spPr>
      </p:pic>
      <p:pic>
        <p:nvPicPr>
          <p:cNvPr id="8" name="Image 1" descr="d2">    </p:cNvPr>
          <p:cNvPicPr>
            <a:picLocks noChangeAspect="1"/>
          </p:cNvPicPr>
          <p:nvPr/>
        </p:nvPicPr>
        <p:blipFill>
          <a:blip r:embed="rId2"/>
          <a:stretch>
            <a:fillRect/>
          </a:stretch>
        </p:blipFill>
        <p:spPr>
          <a:xfrm>
            <a:off x="3223260" y="1188720"/>
            <a:ext cx="2697480" cy="1515085"/>
          </a:xfrm>
          <a:prstGeom prst="rect">
            <a:avLst/>
          </a:prstGeom>
        </p:spPr>
      </p:pic>
      <p:pic>
        <p:nvPicPr>
          <p:cNvPr id="9" name="Image 2" descr="d3">    </p:cNvPr>
          <p:cNvPicPr>
            <a:picLocks noChangeAspect="1"/>
          </p:cNvPicPr>
          <p:nvPr/>
        </p:nvPicPr>
        <p:blipFill>
          <a:blip r:embed="rId3"/>
          <a:stretch>
            <a:fillRect/>
          </a:stretch>
        </p:blipFill>
        <p:spPr>
          <a:xfrm>
            <a:off x="5989320" y="1188720"/>
            <a:ext cx="2697480" cy="1503845"/>
          </a:xfrm>
          <a:prstGeom prst="rect">
            <a:avLst/>
          </a:prstGeom>
        </p:spPr>
      </p:pic>
      <p:sp>
        <p:nvSpPr>
          <p:cNvPr id="10" name="Text 4"/>
          <p:cNvSpPr txBox="1"/>
          <p:nvPr/>
        </p:nvSpPr>
        <p:spPr>
          <a:xfrm>
            <a:off x="457200" y="3200400"/>
            <a:ext cx="8229600" cy="822960"/>
          </a:xfrm>
          <a:prstGeom prst="rect">
            <a:avLst/>
          </a:prstGeom>
          <a:noFill/>
          <a:ln/>
        </p:spPr>
        <p:txBody>
          <a:bodyPr wrap="square" lIns="0" tIns="0" rIns="0" bIns="0" rtlCol="0" anchor="t"/>
          <a:lstStyle/>
          <a:p>
            <a:pPr indent="0" marL="0">
              <a:buNone/>
            </a:pPr>
            <a:r>
              <a:rPr lang="en-US" sz="1400" dirty="0">
                <a:solidFill>
                  <a:srgbClr val="3F4F5A"/>
                </a:solidFill>
                <a:latin typeface="Calibri" pitchFamily="34" charset="0"/>
                <a:ea typeface="Calibri" pitchFamily="34" charset="-122"/>
                <a:cs typeface="Calibri" pitchFamily="34" charset="-120"/>
              </a:rPr>
              <a:t>Dù recall trên tập kiểm định chỉ 17%, hầu hết ô tô trong cảnh thực địa được phát hiện và định vị đúng. Lý giải của tác giả: khi bay ở độ cao tiêu chuẩn, kích thước vật thể gần như cố định, nên một nhánh ở một tỉ lệ là đủ.</a:t>
            </a:r>
            <a:endParaRPr lang="en-US" sz="1400" dirty="0"/>
          </a:p>
        </p:txBody>
      </p:sp>
      <p:sp>
        <p:nvSpPr>
          <p:cNvPr id="11" name="Text 5"/>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200" i="1" dirty="0">
                <a:solidFill>
                  <a:srgbClr val="3F4F5A"/>
                </a:solidFill>
                <a:latin typeface="Calibri" pitchFamily="34" charset="0"/>
                <a:ea typeface="Calibri" pitchFamily="34" charset="-122"/>
                <a:cs typeface="Calibri" pitchFamily="34" charset="-120"/>
              </a:rPr>
              <a:t>Hạn chế: không có đánh giá định lượng (precision/recall) trên video thực địa.</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SO SÁNH 1</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FPGA so với Coral Edge TPU (Bảng 15)</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37 / 42</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737360"/>
                <a:gridCol w="1097280"/>
                <a:gridCol w="1097280"/>
                <a:gridCol w="1371600"/>
                <a:gridCol w="1371600"/>
                <a:gridCol w="155448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Batch 1</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Coral 250</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Coral 500</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FPGA 50</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FPGA 100</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FPGA 200</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365760">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Độ trễ (ms)</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9,69</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6,73</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22,77</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11,56</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6,07</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65760">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FPS</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103,2</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148,7</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43,91</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86,47</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164,8</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65760">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Công suất (W)</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2,4†</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2,12</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2,38</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2,55</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65760">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FPS/W</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86,0</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62,0</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20,7</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36,3</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50" dirty="0">
                          <a:solidFill>
                            <a:srgbClr val="14232E"/>
                          </a:solidFill>
                          <a:latin typeface="Calibri" pitchFamily="34" charset="0"/>
                          <a:ea typeface="Calibri" pitchFamily="34" charset="-122"/>
                          <a:cs typeface="Calibri" pitchFamily="34" charset="-120"/>
                        </a:rPr>
                        <a:t>64,5</a:t>
                      </a:r>
                      <a:endParaRPr lang="en-US" sz="125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bl>
          </a:graphicData>
        </a:graphic>
      </p:graphicFrame>
      <p:graphicFrame>
        <p:nvGraphicFramePr>
          <p:cNvPr id="8" name="Chart 0" descr=""/>
          <p:cNvGraphicFramePr/>
          <p:nvPr/>
        </p:nvGraphicFramePr>
        <p:xfrm>
          <a:off x="457200" y="3063240"/>
          <a:ext cx="4389120" cy="1645920"/>
        </p:xfrm>
        <a:graphic xmlns:a="http://schemas.openxmlformats.org/drawingml/2006/main">
          <a:graphicData uri="http://schemas.openxmlformats.org/drawingml/2006/chart">
            <c:chart xmlns:c="http://schemas.openxmlformats.org/drawingml/2006/chart" r:id="rId1"/>
          </a:graphicData>
        </a:graphic>
      </p:graphicFrame>
      <p:sp>
        <p:nvSpPr>
          <p:cNvPr id="9" name="Text 4"/>
          <p:cNvSpPr txBox="1"/>
          <p:nvPr/>
        </p:nvSpPr>
        <p:spPr>
          <a:xfrm>
            <a:off x="5029200" y="3108960"/>
            <a:ext cx="3657600" cy="1554480"/>
          </a:xfrm>
          <a:prstGeom prst="rect">
            <a:avLst/>
          </a:prstGeom>
          <a:noFill/>
          <a:ln/>
        </p:spPr>
        <p:txBody>
          <a:bodyPr wrap="square" lIns="0" tIns="0" rIns="0" bIns="0" rtlCol="0" anchor="t"/>
          <a:lstStyle/>
          <a:p>
            <a:pPr indent="0" marL="0">
              <a:buNone/>
            </a:pPr>
            <a:r>
              <a:rPr lang="en-US" sz="1200" dirty="0">
                <a:solidFill>
                  <a:srgbClr val="3F4F5A"/>
                </a:solidFill>
                <a:latin typeface="Calibri" pitchFamily="34" charset="0"/>
                <a:ea typeface="Calibri" pitchFamily="34" charset="-122"/>
                <a:cs typeface="Calibri" pitchFamily="34" charset="-120"/>
              </a:rPr>
              <a:t>† Ước tính từ datasheet, không đo. Coral dùng mô hình riêng (FP32 → PTQ int8), không báo cáo mAP. FPGA ở batch 100 đạt 208,7 FPS, 81,9 FPS/W, nhưng bài chọn batch 1 cho so sánh công bằng.</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SO SÁNH 2</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So với các FPGA YOLOv3-Tiny khác (Bảng 16)</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38 / 42</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7589520" cy="914400"/>
        </p:xfrm>
        <a:graphic>
          <a:graphicData uri="http://schemas.openxmlformats.org/drawingml/2006/table">
            <a:tbl>
              <a:tblPr/>
              <a:tblGrid>
                <a:gridCol w="1097280"/>
                <a:gridCol w="1005840"/>
                <a:gridCol w="822960"/>
                <a:gridCol w="731520"/>
                <a:gridCol w="822960"/>
                <a:gridCol w="731520"/>
                <a:gridCol w="822960"/>
                <a:gridCol w="640080"/>
                <a:gridCol w="91440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Công trình</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Board</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Bit</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Clock</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LUT</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DSP</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FPS</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FPS/W</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F1F2B"/>
                    </a:solidFill>
                  </a:tcPr>
                </a:tc>
              </a:tr>
              <a:tr h="329184">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FINN-R</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PYNQ-Z1</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1W3A</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46,5K</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29,9</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11,96</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29184">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SATAY</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VCU110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8W16A</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220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127K</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1780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69,9</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15,4</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4,54</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29184">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SATAY</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VCU118</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8W16A</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255</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431K</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6687</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147,1</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42,9</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3,43</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r h="329184">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LPYOLO</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Z7020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4W4A</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39,4K</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203</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19,1</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c>
                  <a:txBody>
                    <a:bodyPr/>
                    <a:lstStyle/>
                    <a:p>
                      <a:pPr indent="0" marL="0">
                        <a:buNone/>
                      </a:pPr>
                      <a:r>
                        <a:rPr lang="en-US" sz="1200" dirty="0">
                          <a:solidFill>
                            <a:srgbClr val="14232E"/>
                          </a:solidFill>
                          <a:latin typeface="Calibri" pitchFamily="34" charset="0"/>
                          <a:ea typeface="Calibri" pitchFamily="34" charset="-122"/>
                          <a:cs typeface="Calibri" pitchFamily="34" charset="-120"/>
                        </a:rPr>
                        <a:t>7,97</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ECEFEA"/>
                    </a:solidFill>
                  </a:tcPr>
                </a:tc>
              </a:tr>
              <a:tr h="329184">
                <a:tc>
                  <a:txBody>
                    <a:bodyPr/>
                    <a:lstStyle/>
                    <a:p>
                      <a:pPr indent="0" marL="0">
                        <a:buNone/>
                      </a:pPr>
                      <a:r>
                        <a:rPr lang="en-US" sz="1200" b="1" dirty="0">
                          <a:solidFill>
                            <a:srgbClr val="14232E"/>
                          </a:solidFill>
                          <a:latin typeface="Calibri" pitchFamily="34" charset="0"/>
                          <a:ea typeface="Calibri" pitchFamily="34" charset="-122"/>
                          <a:cs typeface="Calibri" pitchFamily="34" charset="-120"/>
                        </a:rPr>
                        <a:t>Bài này</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b="1" dirty="0">
                          <a:solidFill>
                            <a:srgbClr val="14232E"/>
                          </a:solidFill>
                          <a:latin typeface="Calibri" pitchFamily="34" charset="0"/>
                          <a:ea typeface="Calibri" pitchFamily="34" charset="-122"/>
                          <a:cs typeface="Calibri" pitchFamily="34" charset="-120"/>
                        </a:rPr>
                        <a:t>Z7020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b="1" dirty="0">
                          <a:solidFill>
                            <a:srgbClr val="14232E"/>
                          </a:solidFill>
                          <a:latin typeface="Calibri" pitchFamily="34" charset="0"/>
                          <a:ea typeface="Calibri" pitchFamily="34" charset="-122"/>
                          <a:cs typeface="Calibri" pitchFamily="34" charset="-120"/>
                        </a:rPr>
                        <a:t>4W4A</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b="1" dirty="0">
                          <a:solidFill>
                            <a:srgbClr val="14232E"/>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b="1" dirty="0">
                          <a:solidFill>
                            <a:srgbClr val="14232E"/>
                          </a:solidFill>
                          <a:latin typeface="Calibri" pitchFamily="34" charset="0"/>
                          <a:ea typeface="Calibri" pitchFamily="34" charset="-122"/>
                          <a:cs typeface="Calibri" pitchFamily="34" charset="-120"/>
                        </a:rPr>
                        <a:t>37,9K</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b="1" dirty="0">
                          <a:solidFill>
                            <a:srgbClr val="14232E"/>
                          </a:solidFill>
                          <a:latin typeface="Calibri" pitchFamily="34" charset="0"/>
                          <a:ea typeface="Calibri" pitchFamily="34" charset="-122"/>
                          <a:cs typeface="Calibri" pitchFamily="34" charset="-120"/>
                        </a:rPr>
                        <a:t>204</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b="1" dirty="0">
                          <a:solidFill>
                            <a:srgbClr val="14232E"/>
                          </a:solidFill>
                          <a:latin typeface="Calibri" pitchFamily="34" charset="0"/>
                          <a:ea typeface="Calibri" pitchFamily="34" charset="-122"/>
                          <a:cs typeface="Calibri" pitchFamily="34" charset="-120"/>
                        </a:rPr>
                        <a:t>208,8</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b="1" dirty="0">
                          <a:solidFill>
                            <a:srgbClr val="14232E"/>
                          </a:solidFill>
                          <a:latin typeface="Calibri" pitchFamily="34" charset="0"/>
                          <a:ea typeface="Calibri" pitchFamily="34" charset="-122"/>
                          <a:cs typeface="Calibri" pitchFamily="34" charset="-120"/>
                        </a:rPr>
                        <a:t>2,55</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c>
                  <a:txBody>
                    <a:bodyPr/>
                    <a:lstStyle/>
                    <a:p>
                      <a:pPr indent="0" marL="0">
                        <a:buNone/>
                      </a:pPr>
                      <a:r>
                        <a:rPr lang="en-US" sz="1200" b="1" dirty="0">
                          <a:solidFill>
                            <a:srgbClr val="14232E"/>
                          </a:solidFill>
                          <a:latin typeface="Calibri" pitchFamily="34" charset="0"/>
                          <a:ea typeface="Calibri" pitchFamily="34" charset="-122"/>
                          <a:cs typeface="Calibri" pitchFamily="34" charset="-120"/>
                        </a:rPr>
                        <a:t>81,85</a:t>
                      </a:r>
                      <a:endParaRPr lang="en-US" sz="1200" dirty="0">
                        <a:latin typeface="Calibri" charset="0"/>
                        <a:ea typeface="Calibri" charset="0"/>
                        <a:cs typeface="Calibri" charset="0"/>
                      </a:endParaRPr>
                    </a:p>
                  </a:txBody>
                  <a:tcPr marL="73152" marR="73152" marT="27432" marB="27432"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BFBF8"/>
                    </a:solidFill>
                  </a:tcPr>
                </a:tc>
              </a:tr>
            </a:tbl>
          </a:graphicData>
        </a:graphic>
      </p:graphicFrame>
      <p:graphicFrame>
        <p:nvGraphicFramePr>
          <p:cNvPr id="8" name="Chart 0" descr=""/>
          <p:cNvGraphicFramePr/>
          <p:nvPr/>
        </p:nvGraphicFramePr>
        <p:xfrm>
          <a:off x="457200" y="3246120"/>
          <a:ext cx="4754880" cy="1508760"/>
        </p:xfrm>
        <a:graphic xmlns:a="http://schemas.openxmlformats.org/drawingml/2006/main">
          <a:graphicData uri="http://schemas.openxmlformats.org/drawingml/2006/chart">
            <c:chart xmlns:c="http://schemas.openxmlformats.org/drawingml/2006/chart" r:id="rId1"/>
          </a:graphicData>
        </a:graphic>
      </p:graphicFrame>
      <p:sp>
        <p:nvSpPr>
          <p:cNvPr id="9" name="Text 4"/>
          <p:cNvSpPr txBox="1"/>
          <p:nvPr/>
        </p:nvSpPr>
        <p:spPr>
          <a:xfrm>
            <a:off x="5394960" y="3291840"/>
            <a:ext cx="3291840" cy="1371600"/>
          </a:xfrm>
          <a:prstGeom prst="rect">
            <a:avLst/>
          </a:prstGeom>
          <a:noFill/>
          <a:ln/>
        </p:spPr>
        <p:txBody>
          <a:bodyPr wrap="square" lIns="0" tIns="0" rIns="0" bIns="0" rtlCol="0" anchor="t"/>
          <a:lstStyle/>
          <a:p>
            <a:pPr indent="0" marL="0">
              <a:buNone/>
            </a:pPr>
            <a:r>
              <a:rPr lang="en-US" sz="1200" dirty="0">
                <a:solidFill>
                  <a:srgbClr val="3F4F5A"/>
                </a:solidFill>
                <a:latin typeface="Calibri" pitchFamily="34" charset="0"/>
                <a:ea typeface="Calibri" pitchFamily="34" charset="-122"/>
                <a:cs typeface="Calibri" pitchFamily="34" charset="-120"/>
              </a:rPr>
              <a:t>VCU118 giá trên 15 000 € so với ~150 € cho Z-Turn. SATAY dùng 8 bit trọng số và 16 bit kích hoạt, mạng nặng hơn.</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1F2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F2A33A"/>
                </a:solidFill>
                <a:latin typeface="Calibri" pitchFamily="34" charset="0"/>
                <a:ea typeface="Calibri" pitchFamily="34" charset="-122"/>
                <a:cs typeface="Calibri" pitchFamily="34" charset="-120"/>
              </a:rPr>
              <a:t>PHÂN TÍCH</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F4F5F1"/>
                </a:solidFill>
                <a:latin typeface="Calibri" pitchFamily="34" charset="0"/>
                <a:ea typeface="Calibri" pitchFamily="34" charset="-122"/>
                <a:cs typeface="Calibri" pitchFamily="34" charset="-120"/>
              </a:rPr>
              <a:t>Số liệu tự tính từ các bảng của bài</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9FB0BA"/>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9FB0BA"/>
                </a:solidFill>
                <a:latin typeface="Calibri" pitchFamily="34" charset="0"/>
                <a:ea typeface="Calibri" pitchFamily="34" charset="-122"/>
                <a:cs typeface="Calibri" pitchFamily="34" charset="-120"/>
              </a:rPr>
              <a:t>39 / 42</a:t>
            </a:r>
            <a:endParaRPr lang="en-US" sz="900" dirty="0"/>
          </a:p>
        </p:txBody>
      </p:sp>
      <p:sp>
        <p:nvSpPr>
          <p:cNvPr id="7" name="Shape 4"/>
          <p:cNvSpPr/>
          <p:nvPr/>
        </p:nvSpPr>
        <p:spPr>
          <a:xfrm>
            <a:off x="457200" y="1188720"/>
            <a:ext cx="2621280" cy="1371600"/>
          </a:xfrm>
          <a:prstGeom prst="roundRect">
            <a:avLst>
              <a:gd name="adj" fmla="val 5333"/>
            </a:avLst>
          </a:prstGeom>
          <a:solidFill>
            <a:srgbClr val="1A3140"/>
          </a:solidFill>
          <a:ln w="12700">
            <a:solidFill>
              <a:srgbClr val="1A3140"/>
            </a:solidFill>
            <a:prstDash val="solid"/>
          </a:ln>
        </p:spPr>
      </p:sp>
      <p:sp>
        <p:nvSpPr>
          <p:cNvPr id="8" name="Text 5"/>
          <p:cNvSpPr txBox="1"/>
          <p:nvPr/>
        </p:nvSpPr>
        <p:spPr>
          <a:xfrm>
            <a:off x="566928" y="1280160"/>
            <a:ext cx="2401824" cy="640080"/>
          </a:xfrm>
          <a:prstGeom prst="rect">
            <a:avLst/>
          </a:prstGeom>
          <a:noFill/>
          <a:ln/>
        </p:spPr>
        <p:txBody>
          <a:bodyPr wrap="square" lIns="0" tIns="0" rIns="0" bIns="0" rtlCol="0" anchor="ctr"/>
          <a:lstStyle/>
          <a:p>
            <a:pPr indent="0" marL="0">
              <a:buNone/>
            </a:pPr>
            <a:r>
              <a:rPr lang="en-US" sz="2400" b="1" dirty="0">
                <a:solidFill>
                  <a:srgbClr val="F2A33A"/>
                </a:solidFill>
                <a:latin typeface="Calibri" pitchFamily="34" charset="0"/>
                <a:ea typeface="Calibri" pitchFamily="34" charset="-122"/>
                <a:cs typeface="Calibri" pitchFamily="34" charset="-120"/>
              </a:rPr>
              <a:t>64 GOPS</a:t>
            </a:r>
            <a:endParaRPr lang="en-US" sz="2400" dirty="0"/>
          </a:p>
        </p:txBody>
      </p:sp>
      <p:sp>
        <p:nvSpPr>
          <p:cNvPr id="9" name="Text 6"/>
          <p:cNvSpPr txBox="1"/>
          <p:nvPr/>
        </p:nvSpPr>
        <p:spPr>
          <a:xfrm>
            <a:off x="566928" y="1938528"/>
            <a:ext cx="2401824" cy="548640"/>
          </a:xfrm>
          <a:prstGeom prst="rect">
            <a:avLst/>
          </a:prstGeom>
          <a:noFill/>
          <a:ln/>
        </p:spPr>
        <p:txBody>
          <a:bodyPr wrap="square" lIns="0" tIns="0" rIns="0" bIns="0" rtlCol="0" anchor="t"/>
          <a:lstStyle/>
          <a:p>
            <a:pPr indent="0" marL="0">
              <a:buNone/>
            </a:pPr>
            <a:r>
              <a:rPr lang="en-US" sz="1300" dirty="0">
                <a:solidFill>
                  <a:srgbClr val="C9D5DB"/>
                </a:solidFill>
                <a:latin typeface="Calibri" pitchFamily="34" charset="0"/>
                <a:ea typeface="Calibri" pitchFamily="34" charset="-122"/>
                <a:cs typeface="Calibri" pitchFamily="34" charset="-120"/>
              </a:rPr>
              <a:t>153,6 triệu MAC × 2 × 208,7 FPS</a:t>
            </a:r>
            <a:endParaRPr lang="en-US" sz="1300" dirty="0"/>
          </a:p>
        </p:txBody>
      </p:sp>
      <p:sp>
        <p:nvSpPr>
          <p:cNvPr id="10" name="Shape 7"/>
          <p:cNvSpPr/>
          <p:nvPr/>
        </p:nvSpPr>
        <p:spPr>
          <a:xfrm>
            <a:off x="3261360" y="1188720"/>
            <a:ext cx="2621280" cy="1371600"/>
          </a:xfrm>
          <a:prstGeom prst="roundRect">
            <a:avLst>
              <a:gd name="adj" fmla="val 5333"/>
            </a:avLst>
          </a:prstGeom>
          <a:solidFill>
            <a:srgbClr val="1A3140"/>
          </a:solidFill>
          <a:ln w="12700">
            <a:solidFill>
              <a:srgbClr val="1A3140"/>
            </a:solidFill>
            <a:prstDash val="solid"/>
          </a:ln>
        </p:spPr>
      </p:sp>
      <p:sp>
        <p:nvSpPr>
          <p:cNvPr id="11" name="Text 8"/>
          <p:cNvSpPr txBox="1"/>
          <p:nvPr/>
        </p:nvSpPr>
        <p:spPr>
          <a:xfrm>
            <a:off x="3371088" y="1280160"/>
            <a:ext cx="2401824" cy="640080"/>
          </a:xfrm>
          <a:prstGeom prst="rect">
            <a:avLst/>
          </a:prstGeom>
          <a:noFill/>
          <a:ln/>
        </p:spPr>
        <p:txBody>
          <a:bodyPr wrap="square" lIns="0" tIns="0" rIns="0" bIns="0" rtlCol="0" anchor="ctr"/>
          <a:lstStyle/>
          <a:p>
            <a:pPr indent="0" marL="0">
              <a:buNone/>
            </a:pPr>
            <a:r>
              <a:rPr lang="en-US" sz="2400" b="1" dirty="0">
                <a:solidFill>
                  <a:srgbClr val="F2A33A"/>
                </a:solidFill>
                <a:latin typeface="Calibri" pitchFamily="34" charset="0"/>
                <a:ea typeface="Calibri" pitchFamily="34" charset="-122"/>
                <a:cs typeface="Calibri" pitchFamily="34" charset="-120"/>
              </a:rPr>
              <a:t>25 GOPS/W</a:t>
            </a:r>
            <a:endParaRPr lang="en-US" sz="2400" dirty="0"/>
          </a:p>
        </p:txBody>
      </p:sp>
      <p:sp>
        <p:nvSpPr>
          <p:cNvPr id="12" name="Text 9"/>
          <p:cNvSpPr txBox="1"/>
          <p:nvPr/>
        </p:nvSpPr>
        <p:spPr>
          <a:xfrm>
            <a:off x="3371088" y="1938528"/>
            <a:ext cx="2401824" cy="548640"/>
          </a:xfrm>
          <a:prstGeom prst="rect">
            <a:avLst/>
          </a:prstGeom>
          <a:noFill/>
          <a:ln/>
        </p:spPr>
        <p:txBody>
          <a:bodyPr wrap="square" lIns="0" tIns="0" rIns="0" bIns="0" rtlCol="0" anchor="t"/>
          <a:lstStyle/>
          <a:p>
            <a:pPr indent="0" marL="0">
              <a:buNone/>
            </a:pPr>
            <a:r>
              <a:rPr lang="en-US" sz="1300" dirty="0">
                <a:solidFill>
                  <a:srgbClr val="C9D5DB"/>
                </a:solidFill>
                <a:latin typeface="Calibri" pitchFamily="34" charset="0"/>
                <a:ea typeface="Calibri" pitchFamily="34" charset="-122"/>
                <a:cs typeface="Calibri" pitchFamily="34" charset="-120"/>
              </a:rPr>
              <a:t>64 GOPS / 2,55 W (cả board)</a:t>
            </a:r>
            <a:endParaRPr lang="en-US" sz="1300" dirty="0"/>
          </a:p>
        </p:txBody>
      </p:sp>
      <p:sp>
        <p:nvSpPr>
          <p:cNvPr id="13" name="Shape 10"/>
          <p:cNvSpPr/>
          <p:nvPr/>
        </p:nvSpPr>
        <p:spPr>
          <a:xfrm>
            <a:off x="6065520" y="1188720"/>
            <a:ext cx="2621280" cy="1371600"/>
          </a:xfrm>
          <a:prstGeom prst="roundRect">
            <a:avLst>
              <a:gd name="adj" fmla="val 5333"/>
            </a:avLst>
          </a:prstGeom>
          <a:solidFill>
            <a:srgbClr val="1A3140"/>
          </a:solidFill>
          <a:ln w="12700">
            <a:solidFill>
              <a:srgbClr val="1A3140"/>
            </a:solidFill>
            <a:prstDash val="solid"/>
          </a:ln>
        </p:spPr>
      </p:sp>
      <p:sp>
        <p:nvSpPr>
          <p:cNvPr id="14" name="Text 11"/>
          <p:cNvSpPr txBox="1"/>
          <p:nvPr/>
        </p:nvSpPr>
        <p:spPr>
          <a:xfrm>
            <a:off x="6175248" y="1280160"/>
            <a:ext cx="2401824" cy="640080"/>
          </a:xfrm>
          <a:prstGeom prst="rect">
            <a:avLst/>
          </a:prstGeom>
          <a:noFill/>
          <a:ln/>
        </p:spPr>
        <p:txBody>
          <a:bodyPr wrap="square" lIns="0" tIns="0" rIns="0" bIns="0" rtlCol="0" anchor="ctr"/>
          <a:lstStyle/>
          <a:p>
            <a:pPr indent="0" marL="0">
              <a:buNone/>
            </a:pPr>
            <a:r>
              <a:rPr lang="en-US" sz="2400" b="1" dirty="0">
                <a:solidFill>
                  <a:srgbClr val="F2A33A"/>
                </a:solidFill>
                <a:latin typeface="Calibri" pitchFamily="34" charset="0"/>
                <a:ea typeface="Calibri" pitchFamily="34" charset="-122"/>
                <a:cs typeface="Calibri" pitchFamily="34" charset="-120"/>
              </a:rPr>
              <a:t>≈98 GOPS/W</a:t>
            </a:r>
            <a:endParaRPr lang="en-US" sz="2400" dirty="0"/>
          </a:p>
        </p:txBody>
      </p:sp>
      <p:sp>
        <p:nvSpPr>
          <p:cNvPr id="15" name="Text 12"/>
          <p:cNvSpPr txBox="1"/>
          <p:nvPr/>
        </p:nvSpPr>
        <p:spPr>
          <a:xfrm>
            <a:off x="6175248" y="1938528"/>
            <a:ext cx="2401824" cy="548640"/>
          </a:xfrm>
          <a:prstGeom prst="rect">
            <a:avLst/>
          </a:prstGeom>
          <a:noFill/>
          <a:ln/>
        </p:spPr>
        <p:txBody>
          <a:bodyPr wrap="square" lIns="0" tIns="0" rIns="0" bIns="0" rtlCol="0" anchor="t"/>
          <a:lstStyle/>
          <a:p>
            <a:pPr indent="0" marL="0">
              <a:buNone/>
            </a:pPr>
            <a:r>
              <a:rPr lang="en-US" sz="1300" dirty="0">
                <a:solidFill>
                  <a:srgbClr val="C9D5DB"/>
                </a:solidFill>
                <a:latin typeface="Calibri" pitchFamily="34" charset="0"/>
                <a:ea typeface="Calibri" pitchFamily="34" charset="-122"/>
                <a:cs typeface="Calibri" pitchFamily="34" charset="-120"/>
              </a:rPr>
              <a:t>64 GOPS / 0,65 W (chỉ phần PL thêm vào)</a:t>
            </a:r>
            <a:endParaRPr lang="en-US" sz="1300" dirty="0"/>
          </a:p>
        </p:txBody>
      </p:sp>
      <p:sp>
        <p:nvSpPr>
          <p:cNvPr id="16" name="Shape 13"/>
          <p:cNvSpPr/>
          <p:nvPr/>
        </p:nvSpPr>
        <p:spPr>
          <a:xfrm>
            <a:off x="457200" y="2743200"/>
            <a:ext cx="4023360" cy="1874520"/>
          </a:xfrm>
          <a:prstGeom prst="roundRect">
            <a:avLst>
              <a:gd name="adj" fmla="val 3902"/>
            </a:avLst>
          </a:prstGeom>
          <a:solidFill>
            <a:srgbClr val="1A3140"/>
          </a:solidFill>
          <a:ln w="9525">
            <a:solidFill>
              <a:srgbClr val="D9DDD8"/>
            </a:solidFill>
            <a:prstDash val="solid"/>
          </a:ln>
        </p:spPr>
      </p:sp>
      <p:sp>
        <p:nvSpPr>
          <p:cNvPr id="17" name="Text 14"/>
          <p:cNvSpPr txBox="1"/>
          <p:nvPr/>
        </p:nvSpPr>
        <p:spPr>
          <a:xfrm>
            <a:off x="585216" y="2852928"/>
            <a:ext cx="3767328" cy="274320"/>
          </a:xfrm>
          <a:prstGeom prst="rect">
            <a:avLst/>
          </a:prstGeom>
          <a:noFill/>
          <a:ln/>
        </p:spPr>
        <p:txBody>
          <a:bodyPr wrap="square" lIns="0" tIns="0" rIns="0" bIns="0" rtlCol="0" anchor="t"/>
          <a:lstStyle/>
          <a:p>
            <a:pPr indent="0" marL="0">
              <a:buNone/>
            </a:pPr>
            <a:r>
              <a:rPr lang="en-US" sz="1500" b="1" dirty="0">
                <a:solidFill>
                  <a:srgbClr val="F2A33A"/>
                </a:solidFill>
                <a:latin typeface="Calibri" pitchFamily="34" charset="0"/>
                <a:ea typeface="Calibri" pitchFamily="34" charset="-122"/>
                <a:cs typeface="Calibri" pitchFamily="34" charset="-120"/>
              </a:rPr>
              <a:t>Tỉ số FPS/W theo Bảng 16</a:t>
            </a:r>
            <a:endParaRPr lang="en-US" sz="1500" dirty="0"/>
          </a:p>
        </p:txBody>
      </p:sp>
      <p:sp>
        <p:nvSpPr>
          <p:cNvPr id="18" name="Text 15"/>
          <p:cNvSpPr txBox="1"/>
          <p:nvPr/>
        </p:nvSpPr>
        <p:spPr>
          <a:xfrm>
            <a:off x="585216" y="3163824"/>
            <a:ext cx="3767328" cy="138074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vs FINN-R: 81,85 / 11,96 = 6,8×</a:t>
            </a:r>
            <a:endParaRPr lang="en-US" sz="1300" dirty="0"/>
          </a:p>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vs LPYOLO: / 7,97 = 10,3×</a:t>
            </a:r>
            <a:endParaRPr lang="en-US" sz="1300" dirty="0"/>
          </a:p>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vs SATAY VCU110: / 4,54 = 18,0×</a:t>
            </a:r>
            <a:endParaRPr lang="en-US" sz="1300" dirty="0"/>
          </a:p>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vs SATAY VCU118: / 3,43 = 23,9×</a:t>
            </a:r>
            <a:endParaRPr lang="en-US" sz="1300" dirty="0"/>
          </a:p>
        </p:txBody>
      </p:sp>
      <p:sp>
        <p:nvSpPr>
          <p:cNvPr id="19" name="Shape 16"/>
          <p:cNvSpPr/>
          <p:nvPr/>
        </p:nvSpPr>
        <p:spPr>
          <a:xfrm>
            <a:off x="4663440" y="2743200"/>
            <a:ext cx="4023360" cy="1874520"/>
          </a:xfrm>
          <a:prstGeom prst="roundRect">
            <a:avLst>
              <a:gd name="adj" fmla="val 3902"/>
            </a:avLst>
          </a:prstGeom>
          <a:solidFill>
            <a:srgbClr val="1A3140"/>
          </a:solidFill>
          <a:ln w="9525">
            <a:solidFill>
              <a:srgbClr val="D9DDD8"/>
            </a:solidFill>
            <a:prstDash val="solid"/>
          </a:ln>
        </p:spPr>
      </p:sp>
      <p:sp>
        <p:nvSpPr>
          <p:cNvPr id="20" name="Text 17"/>
          <p:cNvSpPr txBox="1"/>
          <p:nvPr/>
        </p:nvSpPr>
        <p:spPr>
          <a:xfrm>
            <a:off x="4791456" y="2852928"/>
            <a:ext cx="3767328" cy="274320"/>
          </a:xfrm>
          <a:prstGeom prst="rect">
            <a:avLst/>
          </a:prstGeom>
          <a:noFill/>
          <a:ln/>
        </p:spPr>
        <p:txBody>
          <a:bodyPr wrap="square" lIns="0" tIns="0" rIns="0" bIns="0" rtlCol="0" anchor="t"/>
          <a:lstStyle/>
          <a:p>
            <a:pPr indent="0" marL="0">
              <a:buNone/>
            </a:pPr>
            <a:r>
              <a:rPr lang="en-US" sz="1500" b="1" dirty="0">
                <a:solidFill>
                  <a:srgbClr val="F2A33A"/>
                </a:solidFill>
                <a:latin typeface="Calibri" pitchFamily="34" charset="0"/>
                <a:ea typeface="Calibri" pitchFamily="34" charset="-122"/>
                <a:cs typeface="Calibri" pitchFamily="34" charset="-120"/>
              </a:rPr>
              <a:t>Bộ nhớ trọng số</a:t>
            </a:r>
            <a:endParaRPr lang="en-US" sz="1500" dirty="0"/>
          </a:p>
        </p:txBody>
      </p:sp>
      <p:sp>
        <p:nvSpPr>
          <p:cNvPr id="21" name="Text 18"/>
          <p:cNvSpPr txBox="1"/>
          <p:nvPr/>
        </p:nvSpPr>
        <p:spPr>
          <a:xfrm>
            <a:off x="4791456" y="3163824"/>
            <a:ext cx="3767328" cy="138074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333 632 × 4 bit + 17 064 × 8 bit ≈ 1,47 Mbit</a:t>
            </a:r>
            <a:endParaRPr lang="en-US" sz="1300" dirty="0"/>
          </a:p>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138 BRAM_18K ≈ 2,48 Mbit dung lượng</a:t>
            </a:r>
            <a:endParaRPr lang="en-US" sz="1300" dirty="0"/>
          </a:p>
          <a:p>
            <a:pPr marL="342900" indent="-342900">
              <a:spcAft>
                <a:spcPts val="300"/>
              </a:spcAft>
              <a:buSzPct val="100000"/>
              <a:buChar char="•"/>
            </a:pPr>
            <a:r>
              <a:rPr lang="en-US" sz="1300" dirty="0">
                <a:solidFill>
                  <a:srgbClr val="C9D5DB"/>
                </a:solidFill>
                <a:latin typeface="Calibri" pitchFamily="34" charset="0"/>
                <a:ea typeface="Calibri" pitchFamily="34" charset="-122"/>
                <a:cs typeface="Calibri" pitchFamily="34" charset="-120"/>
              </a:rPr>
              <a:t>BRAM hết 98,6% chủ yếu vì độ rộng/độ sâu truy cập song song, không phải dung lượng thô</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PHẢN BIỆN</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Điểm mạnh và các điểm cần thận trọng</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40 / 42</a:t>
            </a:r>
            <a:endParaRPr lang="en-US" sz="900" dirty="0"/>
          </a:p>
        </p:txBody>
      </p:sp>
      <p:sp>
        <p:nvSpPr>
          <p:cNvPr id="7" name="Shape 4"/>
          <p:cNvSpPr/>
          <p:nvPr/>
        </p:nvSpPr>
        <p:spPr>
          <a:xfrm>
            <a:off x="457200" y="1097280"/>
            <a:ext cx="4023360" cy="3520440"/>
          </a:xfrm>
          <a:prstGeom prst="roundRect">
            <a:avLst>
              <a:gd name="adj" fmla="val 2078"/>
            </a:avLst>
          </a:prstGeom>
          <a:solidFill>
            <a:srgbClr val="FBFBF8"/>
          </a:solidFill>
          <a:ln w="9525">
            <a:solidFill>
              <a:srgbClr val="D9DDD8"/>
            </a:solidFill>
            <a:prstDash val="solid"/>
          </a:ln>
        </p:spPr>
      </p:sp>
      <p:sp>
        <p:nvSpPr>
          <p:cNvPr id="8" name="Text 5"/>
          <p:cNvSpPr txBox="1"/>
          <p:nvPr/>
        </p:nvSpPr>
        <p:spPr>
          <a:xfrm>
            <a:off x="585216" y="1207008"/>
            <a:ext cx="3767328" cy="274320"/>
          </a:xfrm>
          <a:prstGeom prst="rect">
            <a:avLst/>
          </a:prstGeom>
          <a:noFill/>
          <a:ln/>
        </p:spPr>
        <p:txBody>
          <a:bodyPr wrap="square" lIns="0" tIns="0" rIns="0" bIns="0" rtlCol="0" anchor="t"/>
          <a:lstStyle/>
          <a:p>
            <a:pPr indent="0" marL="0">
              <a:buNone/>
            </a:pPr>
            <a:r>
              <a:rPr lang="en-US" sz="1600" b="1" dirty="0">
                <a:solidFill>
                  <a:srgbClr val="1E7F78"/>
                </a:solidFill>
                <a:latin typeface="Calibri" pitchFamily="34" charset="0"/>
                <a:ea typeface="Calibri" pitchFamily="34" charset="-122"/>
                <a:cs typeface="Calibri" pitchFamily="34" charset="-120"/>
              </a:rPr>
              <a:t>Điểm mạnh</a:t>
            </a:r>
            <a:endParaRPr lang="en-US" sz="1600" dirty="0"/>
          </a:p>
        </p:txBody>
      </p:sp>
      <p:sp>
        <p:nvSpPr>
          <p:cNvPr id="9" name="Text 6"/>
          <p:cNvSpPr txBox="1"/>
          <p:nvPr/>
        </p:nvSpPr>
        <p:spPr>
          <a:xfrm>
            <a:off x="585216" y="1517904"/>
            <a:ext cx="3767328" cy="3026664"/>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Quy trình đầu-cuối, mã nguồn công khai</a:t>
            </a:r>
            <a:endParaRPr lang="en-US" sz="1250" dirty="0"/>
          </a:p>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Đo công suất thật và có phân tích chênh lệch với Vivado</a:t>
            </a:r>
            <a:endParaRPr lang="en-US" sz="1250" dirty="0"/>
          </a:p>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Thừa nhận minh bạch nút thắt MaxPool HLS và driver Python</a:t>
            </a:r>
            <a:endParaRPr lang="en-US" sz="1250" dirty="0"/>
          </a:p>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Bóc tách overhead từng giai đoạn (Bảng 10)</a:t>
            </a:r>
            <a:endParaRPr lang="en-US" sz="1250" dirty="0"/>
          </a:p>
          <a:p>
            <a:pPr marL="342900" indent="-342900">
              <a:spcAft>
                <a:spcPts val="300"/>
              </a:spcAft>
              <a:buSzPct val="100000"/>
              <a:buChar char="•"/>
            </a:pPr>
            <a:r>
              <a:rPr lang="en-US" sz="1250" dirty="0">
                <a:solidFill>
                  <a:srgbClr val="3F4F5A"/>
                </a:solidFill>
                <a:latin typeface="Calibri" pitchFamily="34" charset="0"/>
                <a:ea typeface="Calibri" pitchFamily="34" charset="-122"/>
                <a:cs typeface="Calibri" pitchFamily="34" charset="-120"/>
              </a:rPr>
              <a:t>Nhắm chip rẻ (~100–150 €), có ý nghĩa thực tiễn</a:t>
            </a:r>
            <a:endParaRPr lang="en-US" sz="1250" dirty="0"/>
          </a:p>
        </p:txBody>
      </p:sp>
      <p:sp>
        <p:nvSpPr>
          <p:cNvPr id="10" name="Shape 7"/>
          <p:cNvSpPr/>
          <p:nvPr/>
        </p:nvSpPr>
        <p:spPr>
          <a:xfrm>
            <a:off x="4663440" y="1097280"/>
            <a:ext cx="4023360" cy="3520440"/>
          </a:xfrm>
          <a:prstGeom prst="roundRect">
            <a:avLst>
              <a:gd name="adj" fmla="val 2078"/>
            </a:avLst>
          </a:prstGeom>
          <a:solidFill>
            <a:srgbClr val="FBFBF8"/>
          </a:solidFill>
          <a:ln w="9525">
            <a:solidFill>
              <a:srgbClr val="D9DDD8"/>
            </a:solidFill>
            <a:prstDash val="solid"/>
          </a:ln>
        </p:spPr>
      </p:sp>
      <p:sp>
        <p:nvSpPr>
          <p:cNvPr id="11" name="Text 8"/>
          <p:cNvSpPr txBox="1"/>
          <p:nvPr/>
        </p:nvSpPr>
        <p:spPr>
          <a:xfrm>
            <a:off x="4791456" y="1207008"/>
            <a:ext cx="3767328" cy="274320"/>
          </a:xfrm>
          <a:prstGeom prst="rect">
            <a:avLst/>
          </a:prstGeom>
          <a:noFill/>
          <a:ln/>
        </p:spPr>
        <p:txBody>
          <a:bodyPr wrap="square" lIns="0" tIns="0" rIns="0" bIns="0" rtlCol="0" anchor="t"/>
          <a:lstStyle/>
          <a:p>
            <a:pPr indent="0" marL="0">
              <a:buNone/>
            </a:pPr>
            <a:r>
              <a:rPr lang="en-US" sz="1600" b="1" dirty="0">
                <a:solidFill>
                  <a:srgbClr val="A85F00"/>
                </a:solidFill>
                <a:latin typeface="Calibri" pitchFamily="34" charset="0"/>
                <a:ea typeface="Calibri" pitchFamily="34" charset="-122"/>
                <a:cs typeface="Calibri" pitchFamily="34" charset="-120"/>
              </a:rPr>
              <a:t>Cần thận trọng</a:t>
            </a:r>
            <a:endParaRPr lang="en-US" sz="1600" dirty="0"/>
          </a:p>
        </p:txBody>
      </p:sp>
      <p:sp>
        <p:nvSpPr>
          <p:cNvPr id="12" name="Text 9"/>
          <p:cNvSpPr txBox="1"/>
          <p:nvPr/>
        </p:nvSpPr>
        <p:spPr>
          <a:xfrm>
            <a:off x="4791456" y="1517904"/>
            <a:ext cx="3767328" cy="3026664"/>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3F4F5A"/>
                </a:solidFill>
                <a:latin typeface="Calibri" pitchFamily="34" charset="0"/>
                <a:ea typeface="Calibri" pitchFamily="34" charset="-122"/>
                <a:cs typeface="Calibri" pitchFamily="34" charset="-120"/>
              </a:rPr>
              <a:t>mAP@0.5 17,7% chỉ cho lớp car, mạng bị cắt nhiều; không đánh giá định lượng trên video thực địa</a:t>
            </a:r>
            <a:endParaRPr lang="en-US" sz="1200" dirty="0"/>
          </a:p>
          <a:p>
            <a:pPr marL="342900" indent="-342900">
              <a:spcAft>
                <a:spcPts val="300"/>
              </a:spcAft>
              <a:buSzPct val="100000"/>
              <a:buChar char="•"/>
            </a:pPr>
            <a:r>
              <a:rPr lang="en-US" sz="1200" dirty="0">
                <a:solidFill>
                  <a:srgbClr val="3F4F5A"/>
                </a:solidFill>
                <a:latin typeface="Calibri" pitchFamily="34" charset="0"/>
                <a:ea typeface="Calibri" pitchFamily="34" charset="-122"/>
                <a:cs typeface="Calibri" pitchFamily="34" charset="-120"/>
              </a:rPr>
              <a:t>Công suất Coral lấy từ datasheet; mô hình Coral khác, không báo cáo mAP</a:t>
            </a:r>
            <a:endParaRPr lang="en-US" sz="1200" dirty="0"/>
          </a:p>
          <a:p>
            <a:pPr marL="342900" indent="-342900">
              <a:spcAft>
                <a:spcPts val="300"/>
              </a:spcAft>
              <a:buSzPct val="100000"/>
              <a:buChar char="•"/>
            </a:pPr>
            <a:r>
              <a:rPr lang="en-US" sz="1200" dirty="0">
                <a:solidFill>
                  <a:srgbClr val="3F4F5A"/>
                </a:solidFill>
                <a:latin typeface="Calibri" pitchFamily="34" charset="0"/>
                <a:ea typeface="Calibri" pitchFamily="34" charset="-122"/>
                <a:cs typeface="Calibri" pitchFamily="34" charset="-120"/>
              </a:rPr>
              <a:t>Mức cải thiện FPS/W không nhất quán (3–7×, 7–24×, 7,3×); Bảng 16 cho 6,8–24×</a:t>
            </a:r>
            <a:endParaRPr lang="en-US" sz="1200" dirty="0"/>
          </a:p>
          <a:p>
            <a:pPr marL="342900" indent="-342900">
              <a:spcAft>
                <a:spcPts val="300"/>
              </a:spcAft>
              <a:buSzPct val="100000"/>
              <a:buChar char="•"/>
            </a:pPr>
            <a:r>
              <a:rPr lang="en-US" sz="1200" dirty="0">
                <a:solidFill>
                  <a:srgbClr val="3F4F5A"/>
                </a:solidFill>
                <a:latin typeface="Calibri" pitchFamily="34" charset="0"/>
                <a:ea typeface="Calibri" pitchFamily="34" charset="-122"/>
                <a:cs typeface="Calibri" pitchFamily="34" charset="-120"/>
              </a:rPr>
              <a:t>Bảng 16 ghi độ trễ 4,79 ms; Bảng 15 ghi 6,07 ms (batch 1)</a:t>
            </a:r>
            <a:endParaRPr lang="en-US" sz="1200" dirty="0"/>
          </a:p>
          <a:p>
            <a:pPr marL="342900" indent="-342900">
              <a:spcAft>
                <a:spcPts val="300"/>
              </a:spcAft>
              <a:buSzPct val="100000"/>
              <a:buChar char="•"/>
            </a:pPr>
            <a:r>
              <a:rPr lang="en-US" sz="1200" dirty="0">
                <a:solidFill>
                  <a:srgbClr val="3F4F5A"/>
                </a:solidFill>
                <a:latin typeface="Calibri" pitchFamily="34" charset="0"/>
                <a:ea typeface="Calibri" pitchFamily="34" charset="-122"/>
                <a:cs typeface="Calibri" pitchFamily="34" charset="-120"/>
              </a:rPr>
              <a:t>LUT: 37,9K (Bảng 16) vs 41,6K (Bảng 7)</a:t>
            </a:r>
            <a:endParaRPr lang="en-US" sz="1200" dirty="0"/>
          </a:p>
          <a:p>
            <a:pPr marL="342900" indent="-342900">
              <a:spcAft>
                <a:spcPts val="300"/>
              </a:spcAft>
              <a:buSzPct val="100000"/>
              <a:buChar char="•"/>
            </a:pPr>
            <a:r>
              <a:rPr lang="en-US" sz="1200" dirty="0">
                <a:solidFill>
                  <a:srgbClr val="3F4F5A"/>
                </a:solidFill>
                <a:latin typeface="Calibri" pitchFamily="34" charset="0"/>
                <a:ea typeface="Calibri" pitchFamily="34" charset="-122"/>
                <a:cs typeface="Calibri" pitchFamily="34" charset="-120"/>
              </a:rPr>
              <a:t>FPS/W dùng cả board: PS chiếm 1,9 W</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5F1"/>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100" b="1" spc="200" kern="0" dirty="0">
                <a:solidFill>
                  <a:srgbClr val="A85F00"/>
                </a:solidFill>
                <a:latin typeface="Calibri" pitchFamily="34" charset="0"/>
                <a:ea typeface="Calibri" pitchFamily="34" charset="-122"/>
                <a:cs typeface="Calibri" pitchFamily="34" charset="-120"/>
              </a:rPr>
              <a:t>KẾT LUẬN</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500" b="1" dirty="0">
                <a:solidFill>
                  <a:srgbClr val="14232E"/>
                </a:solidFill>
                <a:latin typeface="Calibri" pitchFamily="34" charset="0"/>
                <a:ea typeface="Calibri" pitchFamily="34" charset="-122"/>
                <a:cs typeface="Calibri" pitchFamily="34" charset="-120"/>
              </a:rPr>
              <a:t>FPGA giá rẻ chạy được YOLOv3-Tiny</a:t>
            </a:r>
            <a:endParaRPr lang="en-US" sz="2500" dirty="0"/>
          </a:p>
        </p:txBody>
      </p:sp>
      <p:sp>
        <p:nvSpPr>
          <p:cNvPr id="4" name="Text 2"/>
          <p:cNvSpPr txBox="1"/>
          <p:nvPr/>
        </p:nvSpPr>
        <p:spPr>
          <a:xfrm>
            <a:off x="457200" y="4800600"/>
            <a:ext cx="6400800" cy="201168"/>
          </a:xfrm>
          <a:prstGeom prst="rect">
            <a:avLst/>
          </a:prstGeom>
          <a:noFill/>
          <a:ln/>
        </p:spPr>
        <p:txBody>
          <a:bodyPr wrap="square" lIns="0" tIns="0" rIns="0" bIns="0" rtlCol="0" anchor="ctr"/>
          <a:lstStyle/>
          <a:p>
            <a:pPr indent="0" marL="0">
              <a:buNone/>
            </a:pPr>
            <a:r>
              <a:rPr lang="en-US" sz="900" dirty="0">
                <a:solidFill>
                  <a:srgbClr val="4B5B66"/>
                </a:solidFill>
                <a:latin typeface="Calibri" pitchFamily="34" charset="0"/>
                <a:ea typeface="Calibri" pitchFamily="34" charset="-122"/>
                <a:cs typeface="Calibri" pitchFamily="34" charset="-120"/>
              </a:rPr>
              <a:t>Phân tích chuyên sâu · Calì, Falaschetti, Biagetti, Electronics 2025, 14, 3993</a:t>
            </a:r>
            <a:endParaRPr lang="en-US" sz="900" dirty="0"/>
          </a:p>
        </p:txBody>
      </p:sp>
      <p:sp>
        <p:nvSpPr>
          <p:cNvPr id="5" name="Text 3"/>
          <p:cNvSpPr txBox="1"/>
          <p:nvPr/>
        </p:nvSpPr>
        <p:spPr>
          <a:xfrm>
            <a:off x="7680960" y="4800600"/>
            <a:ext cx="1005840" cy="201168"/>
          </a:xfrm>
          <a:prstGeom prst="rect">
            <a:avLst/>
          </a:prstGeom>
          <a:noFill/>
          <a:ln/>
        </p:spPr>
        <p:txBody>
          <a:bodyPr wrap="square" lIns="0" tIns="0" rIns="0" bIns="0" rtlCol="0" anchor="ctr"/>
          <a:lstStyle/>
          <a:p>
            <a:pPr algn="r" indent="0" marL="0">
              <a:buNone/>
            </a:pPr>
            <a:r>
              <a:rPr lang="en-US" sz="900" dirty="0">
                <a:solidFill>
                  <a:srgbClr val="4B5B66"/>
                </a:solidFill>
                <a:latin typeface="Calibri" pitchFamily="34" charset="0"/>
                <a:ea typeface="Calibri" pitchFamily="34" charset="-122"/>
                <a:cs typeface="Calibri" pitchFamily="34" charset="-120"/>
              </a:rPr>
              <a:t>41 / 42</a:t>
            </a:r>
            <a:endParaRPr lang="en-US" sz="900" dirty="0"/>
          </a:p>
        </p:txBody>
      </p:sp>
      <p:sp>
        <p:nvSpPr>
          <p:cNvPr id="7" name="Shape 4"/>
          <p:cNvSpPr/>
          <p:nvPr/>
        </p:nvSpPr>
        <p:spPr>
          <a:xfrm>
            <a:off x="457200" y="1097280"/>
            <a:ext cx="4023360" cy="1828800"/>
          </a:xfrm>
          <a:prstGeom prst="roundRect">
            <a:avLst>
              <a:gd name="adj" fmla="val 4000"/>
            </a:avLst>
          </a:prstGeom>
          <a:solidFill>
            <a:srgbClr val="FBFBF8"/>
          </a:solidFill>
          <a:ln w="9525">
            <a:solidFill>
              <a:srgbClr val="D9DDD8"/>
            </a:solidFill>
            <a:prstDash val="solid"/>
          </a:ln>
        </p:spPr>
      </p:sp>
      <p:sp>
        <p:nvSpPr>
          <p:cNvPr id="8" name="Text 5"/>
          <p:cNvSpPr txBox="1"/>
          <p:nvPr/>
        </p:nvSpPr>
        <p:spPr>
          <a:xfrm>
            <a:off x="585216" y="120700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Đóng góp</a:t>
            </a:r>
            <a:endParaRPr lang="en-US" sz="1500" dirty="0"/>
          </a:p>
        </p:txBody>
      </p:sp>
      <p:sp>
        <p:nvSpPr>
          <p:cNvPr id="9" name="Text 6"/>
          <p:cNvSpPr txBox="1"/>
          <p:nvPr/>
        </p:nvSpPr>
        <p:spPr>
          <a:xfrm>
            <a:off x="585216" y="1517904"/>
            <a:ext cx="3767328" cy="133502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Quy trình đầu-cuối trên Zynq-7020</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208 FPS, 2,55 W, tương đương Coral Edge TPU</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FPS/W cao hơn các FPGA khác, ~10× FPS so với LPYOLO</a:t>
            </a:r>
            <a:endParaRPr lang="en-US" sz="1300" dirty="0"/>
          </a:p>
        </p:txBody>
      </p:sp>
      <p:sp>
        <p:nvSpPr>
          <p:cNvPr id="10" name="Shape 7"/>
          <p:cNvSpPr/>
          <p:nvPr/>
        </p:nvSpPr>
        <p:spPr>
          <a:xfrm>
            <a:off x="4663440" y="1097280"/>
            <a:ext cx="4023360" cy="1828800"/>
          </a:xfrm>
          <a:prstGeom prst="roundRect">
            <a:avLst>
              <a:gd name="adj" fmla="val 4000"/>
            </a:avLst>
          </a:prstGeom>
          <a:solidFill>
            <a:srgbClr val="FBFBF8"/>
          </a:solidFill>
          <a:ln w="9525">
            <a:solidFill>
              <a:srgbClr val="D9DDD8"/>
            </a:solidFill>
            <a:prstDash val="solid"/>
          </a:ln>
        </p:spPr>
      </p:sp>
      <p:sp>
        <p:nvSpPr>
          <p:cNvPr id="11" name="Text 8"/>
          <p:cNvSpPr txBox="1"/>
          <p:nvPr/>
        </p:nvSpPr>
        <p:spPr>
          <a:xfrm>
            <a:off x="4791456" y="1207008"/>
            <a:ext cx="376732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Bài học kỹ thuật</a:t>
            </a:r>
            <a:endParaRPr lang="en-US" sz="1500" dirty="0"/>
          </a:p>
        </p:txBody>
      </p:sp>
      <p:sp>
        <p:nvSpPr>
          <p:cNvPr id="12" name="Text 9"/>
          <p:cNvSpPr txBox="1"/>
          <p:nvPr/>
        </p:nvSpPr>
        <p:spPr>
          <a:xfrm>
            <a:off x="4791456" y="1517904"/>
            <a:ext cx="3767328" cy="133502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INT4 + DSP packing: 4 MAC/DSP</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Cân bằng chu kỳ giữa lớp quyết định thông lượng</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Một lớp HLS kém có thể kéo cả pipeline</a:t>
            </a:r>
            <a:endParaRPr lang="en-US" sz="1300" dirty="0"/>
          </a:p>
        </p:txBody>
      </p:sp>
      <p:sp>
        <p:nvSpPr>
          <p:cNvPr id="13" name="Shape 10"/>
          <p:cNvSpPr/>
          <p:nvPr/>
        </p:nvSpPr>
        <p:spPr>
          <a:xfrm>
            <a:off x="457200" y="3063240"/>
            <a:ext cx="8229600" cy="1554480"/>
          </a:xfrm>
          <a:prstGeom prst="roundRect">
            <a:avLst>
              <a:gd name="adj" fmla="val 4706"/>
            </a:avLst>
          </a:prstGeom>
          <a:solidFill>
            <a:srgbClr val="FBFBF8"/>
          </a:solidFill>
          <a:ln w="9525">
            <a:solidFill>
              <a:srgbClr val="D9DDD8"/>
            </a:solidFill>
            <a:prstDash val="solid"/>
          </a:ln>
        </p:spPr>
      </p:sp>
      <p:sp>
        <p:nvSpPr>
          <p:cNvPr id="14" name="Text 11"/>
          <p:cNvSpPr txBox="1"/>
          <p:nvPr/>
        </p:nvSpPr>
        <p:spPr>
          <a:xfrm>
            <a:off x="585216" y="3172968"/>
            <a:ext cx="7973568" cy="274320"/>
          </a:xfrm>
          <a:prstGeom prst="rect">
            <a:avLst/>
          </a:prstGeom>
          <a:noFill/>
          <a:ln/>
        </p:spPr>
        <p:txBody>
          <a:bodyPr wrap="square" lIns="0" tIns="0" rIns="0" bIns="0" rtlCol="0" anchor="t"/>
          <a:lstStyle/>
          <a:p>
            <a:pPr indent="0" marL="0">
              <a:buNone/>
            </a:pPr>
            <a:r>
              <a:rPr lang="en-US" sz="1500" b="1" dirty="0">
                <a:solidFill>
                  <a:srgbClr val="14232E"/>
                </a:solidFill>
                <a:latin typeface="Calibri" pitchFamily="34" charset="0"/>
                <a:ea typeface="Calibri" pitchFamily="34" charset="-122"/>
                <a:cs typeface="Calibri" pitchFamily="34" charset="-120"/>
              </a:rPr>
              <a:t>Hướng tiếp theo (theo tác giả)</a:t>
            </a:r>
            <a:endParaRPr lang="en-US" sz="1500" dirty="0"/>
          </a:p>
        </p:txBody>
      </p:sp>
      <p:sp>
        <p:nvSpPr>
          <p:cNvPr id="15" name="Text 12"/>
          <p:cNvSpPr txBox="1"/>
          <p:nvPr/>
        </p:nvSpPr>
        <p:spPr>
          <a:xfrm>
            <a:off x="585216" y="3483864"/>
            <a:ext cx="7973568" cy="1060704"/>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Driver C bare-metal: tiết kiệm trên 20% công suất, DMA song song với suy luận, đưa overhead về gần 0</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Mô hình lớn hơn, tối ưu bộ nhớ</a:t>
            </a:r>
            <a:endParaRPr lang="en-US" sz="1300" dirty="0"/>
          </a:p>
          <a:p>
            <a:pPr marL="342900" indent="-342900">
              <a:spcAft>
                <a:spcPts val="300"/>
              </a:spcAft>
              <a:buSzPct val="100000"/>
              <a:buChar char="•"/>
            </a:pPr>
            <a:r>
              <a:rPr lang="en-US" sz="1300" dirty="0">
                <a:solidFill>
                  <a:srgbClr val="3F4F5A"/>
                </a:solidFill>
                <a:latin typeface="Calibri" pitchFamily="34" charset="0"/>
                <a:ea typeface="Calibri" pitchFamily="34" charset="-122"/>
                <a:cs typeface="Calibri" pitchFamily="34" charset="-120"/>
              </a:rPr>
              <a:t>Mở rộng sang UAV và IoT; viết lại MaxPool bằng RTL</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F1F2B"/>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731520"/>
          </a:xfrm>
          <a:prstGeom prst="rect">
            <a:avLst/>
          </a:prstGeom>
          <a:noFill/>
          <a:ln/>
        </p:spPr>
        <p:txBody>
          <a:bodyPr wrap="square" lIns="0" tIns="0" rIns="0" bIns="0" rtlCol="0" anchor="ctr"/>
          <a:lstStyle/>
          <a:p>
            <a:pPr indent="0" marL="0">
              <a:buNone/>
            </a:pPr>
            <a:r>
              <a:rPr lang="en-US" sz="3800" b="1" dirty="0">
                <a:solidFill>
                  <a:srgbClr val="F4F5F1"/>
                </a:solidFill>
                <a:latin typeface="Calibri" pitchFamily="34" charset="0"/>
                <a:ea typeface="Calibri" pitchFamily="34" charset="-122"/>
                <a:cs typeface="Calibri" pitchFamily="34" charset="-120"/>
              </a:rPr>
              <a:t>Hỏi và đáp</a:t>
            </a:r>
            <a:endParaRPr lang="en-US" sz="3800" dirty="0"/>
          </a:p>
        </p:txBody>
      </p:sp>
      <p:sp>
        <p:nvSpPr>
          <p:cNvPr id="3" name="Shape 1"/>
          <p:cNvSpPr/>
          <p:nvPr/>
        </p:nvSpPr>
        <p:spPr>
          <a:xfrm>
            <a:off x="457200" y="1234440"/>
            <a:ext cx="8229600" cy="566928"/>
          </a:xfrm>
          <a:prstGeom prst="roundRect">
            <a:avLst>
              <a:gd name="adj" fmla="val 12903"/>
            </a:avLst>
          </a:prstGeom>
          <a:solidFill>
            <a:srgbClr val="1A3140"/>
          </a:solidFill>
          <a:ln w="9525">
            <a:solidFill>
              <a:srgbClr val="D9DDD8"/>
            </a:solidFill>
            <a:prstDash val="solid"/>
          </a:ln>
        </p:spPr>
      </p:sp>
      <p:sp>
        <p:nvSpPr>
          <p:cNvPr id="4" name="Text 2"/>
          <p:cNvSpPr txBox="1"/>
          <p:nvPr/>
        </p:nvSpPr>
        <p:spPr>
          <a:xfrm>
            <a:off x="585216" y="1344168"/>
            <a:ext cx="7973568" cy="219456"/>
          </a:xfrm>
          <a:prstGeom prst="rect">
            <a:avLst/>
          </a:prstGeom>
          <a:noFill/>
          <a:ln/>
        </p:spPr>
        <p:txBody>
          <a:bodyPr wrap="square" lIns="0" tIns="0" rIns="0" bIns="0" rtlCol="0" anchor="t"/>
          <a:lstStyle/>
          <a:p>
            <a:pPr indent="0" marL="0">
              <a:buNone/>
            </a:pPr>
            <a:r>
              <a:rPr lang="en-US" sz="1300" b="1" dirty="0">
                <a:solidFill>
                  <a:srgbClr val="F2A33A"/>
                </a:solidFill>
                <a:latin typeface="Calibri" pitchFamily="34" charset="0"/>
                <a:ea typeface="Calibri" pitchFamily="34" charset="-122"/>
                <a:cs typeface="Calibri" pitchFamily="34" charset="-120"/>
              </a:rPr>
              <a:t>Vì sao chọn 4 bit?</a:t>
            </a:r>
            <a:endParaRPr lang="en-US" sz="1300" dirty="0"/>
          </a:p>
        </p:txBody>
      </p:sp>
      <p:sp>
        <p:nvSpPr>
          <p:cNvPr id="5" name="Text 3"/>
          <p:cNvSpPr txBox="1"/>
          <p:nvPr/>
        </p:nvSpPr>
        <p:spPr>
          <a:xfrm>
            <a:off x="585216" y="1600200"/>
            <a:ext cx="7973568" cy="128016"/>
          </a:xfrm>
          <a:prstGeom prst="rect">
            <a:avLst/>
          </a:prstGeom>
          <a:noFill/>
          <a:ln/>
        </p:spPr>
        <p:txBody>
          <a:bodyPr wrap="square" lIns="0" tIns="0" rIns="0" bIns="0" rtlCol="0" anchor="t"/>
          <a:lstStyle/>
          <a:p>
            <a:pPr indent="0" marL="0">
              <a:buNone/>
            </a:pPr>
            <a:r>
              <a:rPr lang="en-US" sz="1200" dirty="0">
                <a:solidFill>
                  <a:srgbClr val="C9D5DB"/>
                </a:solidFill>
                <a:latin typeface="Calibri" pitchFamily="34" charset="0"/>
                <a:ea typeface="Calibri" pitchFamily="34" charset="-122"/>
                <a:cs typeface="Calibri" pitchFamily="34" charset="-120"/>
              </a:rPr>
              <a:t>Cho 4 MAC/DSP48E1 và vừa BRAM; lớp đầu/cuối 8 bit để giữ thông tin.</a:t>
            </a:r>
            <a:endParaRPr lang="en-US" sz="1200" dirty="0"/>
          </a:p>
        </p:txBody>
      </p:sp>
      <p:sp>
        <p:nvSpPr>
          <p:cNvPr id="6" name="Shape 4"/>
          <p:cNvSpPr/>
          <p:nvPr/>
        </p:nvSpPr>
        <p:spPr>
          <a:xfrm>
            <a:off x="457200" y="1874520"/>
            <a:ext cx="8229600" cy="566928"/>
          </a:xfrm>
          <a:prstGeom prst="roundRect">
            <a:avLst>
              <a:gd name="adj" fmla="val 12903"/>
            </a:avLst>
          </a:prstGeom>
          <a:solidFill>
            <a:srgbClr val="1A3140"/>
          </a:solidFill>
          <a:ln w="9525">
            <a:solidFill>
              <a:srgbClr val="D9DDD8"/>
            </a:solidFill>
            <a:prstDash val="solid"/>
          </a:ln>
        </p:spPr>
      </p:sp>
      <p:sp>
        <p:nvSpPr>
          <p:cNvPr id="7" name="Text 5"/>
          <p:cNvSpPr txBox="1"/>
          <p:nvPr/>
        </p:nvSpPr>
        <p:spPr>
          <a:xfrm>
            <a:off x="585216" y="1984248"/>
            <a:ext cx="7973568" cy="219456"/>
          </a:xfrm>
          <a:prstGeom prst="rect">
            <a:avLst/>
          </a:prstGeom>
          <a:noFill/>
          <a:ln/>
        </p:spPr>
        <p:txBody>
          <a:bodyPr wrap="square" lIns="0" tIns="0" rIns="0" bIns="0" rtlCol="0" anchor="t"/>
          <a:lstStyle/>
          <a:p>
            <a:pPr indent="0" marL="0">
              <a:buNone/>
            </a:pPr>
            <a:r>
              <a:rPr lang="en-US" sz="1300" b="1" dirty="0">
                <a:solidFill>
                  <a:srgbClr val="F2A33A"/>
                </a:solidFill>
                <a:latin typeface="Calibri" pitchFamily="34" charset="0"/>
                <a:ea typeface="Calibri" pitchFamily="34" charset="-122"/>
                <a:cs typeface="Calibri" pitchFamily="34" charset="-120"/>
              </a:rPr>
              <a:t>Tại sao chỉ 30 FPS đầu-cuối?</a:t>
            </a:r>
            <a:endParaRPr lang="en-US" sz="1300" dirty="0"/>
          </a:p>
        </p:txBody>
      </p:sp>
      <p:sp>
        <p:nvSpPr>
          <p:cNvPr id="8" name="Text 6"/>
          <p:cNvSpPr txBox="1"/>
          <p:nvPr/>
        </p:nvSpPr>
        <p:spPr>
          <a:xfrm>
            <a:off x="585216" y="2240280"/>
            <a:ext cx="7973568" cy="128016"/>
          </a:xfrm>
          <a:prstGeom prst="rect">
            <a:avLst/>
          </a:prstGeom>
          <a:noFill/>
          <a:ln/>
        </p:spPr>
        <p:txBody>
          <a:bodyPr wrap="square" lIns="0" tIns="0" rIns="0" bIns="0" rtlCol="0" anchor="t"/>
          <a:lstStyle/>
          <a:p>
            <a:pPr indent="0" marL="0">
              <a:buNone/>
            </a:pPr>
            <a:r>
              <a:rPr lang="en-US" sz="1200" dirty="0">
                <a:solidFill>
                  <a:srgbClr val="C9D5DB"/>
                </a:solidFill>
                <a:latin typeface="Calibri" pitchFamily="34" charset="0"/>
                <a:ea typeface="Calibri" pitchFamily="34" charset="-122"/>
                <a:cs typeface="Calibri" pitchFamily="34" charset="-120"/>
              </a:rPr>
              <a:t>Driver Python, copy buffer, mạng; phần cứng đạt 208 FPS.</a:t>
            </a:r>
            <a:endParaRPr lang="en-US" sz="1200" dirty="0"/>
          </a:p>
        </p:txBody>
      </p:sp>
      <p:sp>
        <p:nvSpPr>
          <p:cNvPr id="9" name="Shape 7"/>
          <p:cNvSpPr/>
          <p:nvPr/>
        </p:nvSpPr>
        <p:spPr>
          <a:xfrm>
            <a:off x="457200" y="2514600"/>
            <a:ext cx="8229600" cy="566928"/>
          </a:xfrm>
          <a:prstGeom prst="roundRect">
            <a:avLst>
              <a:gd name="adj" fmla="val 12903"/>
            </a:avLst>
          </a:prstGeom>
          <a:solidFill>
            <a:srgbClr val="1A3140"/>
          </a:solidFill>
          <a:ln w="9525">
            <a:solidFill>
              <a:srgbClr val="D9DDD8"/>
            </a:solidFill>
            <a:prstDash val="solid"/>
          </a:ln>
        </p:spPr>
      </p:sp>
      <p:sp>
        <p:nvSpPr>
          <p:cNvPr id="10" name="Text 8"/>
          <p:cNvSpPr txBox="1"/>
          <p:nvPr/>
        </p:nvSpPr>
        <p:spPr>
          <a:xfrm>
            <a:off x="585216" y="2624328"/>
            <a:ext cx="7973568" cy="219456"/>
          </a:xfrm>
          <a:prstGeom prst="rect">
            <a:avLst/>
          </a:prstGeom>
          <a:noFill/>
          <a:ln/>
        </p:spPr>
        <p:txBody>
          <a:bodyPr wrap="square" lIns="0" tIns="0" rIns="0" bIns="0" rtlCol="0" anchor="t"/>
          <a:lstStyle/>
          <a:p>
            <a:pPr indent="0" marL="0">
              <a:buNone/>
            </a:pPr>
            <a:r>
              <a:rPr lang="en-US" sz="1300" b="1" dirty="0">
                <a:solidFill>
                  <a:srgbClr val="F2A33A"/>
                </a:solidFill>
                <a:latin typeface="Calibri" pitchFamily="34" charset="0"/>
                <a:ea typeface="Calibri" pitchFamily="34" charset="-122"/>
                <a:cs typeface="Calibri" pitchFamily="34" charset="-120"/>
              </a:rPr>
              <a:t>Mô hình có dùng được đa lớp?</a:t>
            </a:r>
            <a:endParaRPr lang="en-US" sz="1300" dirty="0"/>
          </a:p>
        </p:txBody>
      </p:sp>
      <p:sp>
        <p:nvSpPr>
          <p:cNvPr id="11" name="Text 9"/>
          <p:cNvSpPr txBox="1"/>
          <p:nvPr/>
        </p:nvSpPr>
        <p:spPr>
          <a:xfrm>
            <a:off x="585216" y="2880360"/>
            <a:ext cx="7973568" cy="128016"/>
          </a:xfrm>
          <a:prstGeom prst="rect">
            <a:avLst/>
          </a:prstGeom>
          <a:noFill/>
          <a:ln/>
        </p:spPr>
        <p:txBody>
          <a:bodyPr wrap="square" lIns="0" tIns="0" rIns="0" bIns="0" rtlCol="0" anchor="t"/>
          <a:lstStyle/>
          <a:p>
            <a:pPr indent="0" marL="0">
              <a:buNone/>
            </a:pPr>
            <a:r>
              <a:rPr lang="en-US" sz="1200" dirty="0">
                <a:solidFill>
                  <a:srgbClr val="C9D5DB"/>
                </a:solidFill>
                <a:latin typeface="Calibri" pitchFamily="34" charset="0"/>
                <a:ea typeface="Calibri" pitchFamily="34" charset="-122"/>
                <a:cs typeface="Calibri" pitchFamily="34" charset="-120"/>
              </a:rPr>
              <a:t>Bài chỉ huấn luyện lớp car; mạng thu gọn một nhánh, recall giảm một nửa.</a:t>
            </a:r>
            <a:endParaRPr lang="en-US" sz="1200" dirty="0"/>
          </a:p>
        </p:txBody>
      </p:sp>
      <p:sp>
        <p:nvSpPr>
          <p:cNvPr id="12" name="Shape 10"/>
          <p:cNvSpPr/>
          <p:nvPr/>
        </p:nvSpPr>
        <p:spPr>
          <a:xfrm>
            <a:off x="457200" y="3154680"/>
            <a:ext cx="8229600" cy="566928"/>
          </a:xfrm>
          <a:prstGeom prst="roundRect">
            <a:avLst>
              <a:gd name="adj" fmla="val 12903"/>
            </a:avLst>
          </a:prstGeom>
          <a:solidFill>
            <a:srgbClr val="1A3140"/>
          </a:solidFill>
          <a:ln w="9525">
            <a:solidFill>
              <a:srgbClr val="D9DDD8"/>
            </a:solidFill>
            <a:prstDash val="solid"/>
          </a:ln>
        </p:spPr>
      </p:sp>
      <p:sp>
        <p:nvSpPr>
          <p:cNvPr id="13" name="Text 11"/>
          <p:cNvSpPr txBox="1"/>
          <p:nvPr/>
        </p:nvSpPr>
        <p:spPr>
          <a:xfrm>
            <a:off x="585216" y="3264408"/>
            <a:ext cx="7973568" cy="219456"/>
          </a:xfrm>
          <a:prstGeom prst="rect">
            <a:avLst/>
          </a:prstGeom>
          <a:noFill/>
          <a:ln/>
        </p:spPr>
        <p:txBody>
          <a:bodyPr wrap="square" lIns="0" tIns="0" rIns="0" bIns="0" rtlCol="0" anchor="t"/>
          <a:lstStyle/>
          <a:p>
            <a:pPr indent="0" marL="0">
              <a:buNone/>
            </a:pPr>
            <a:r>
              <a:rPr lang="en-US" sz="1300" b="1" dirty="0">
                <a:solidFill>
                  <a:srgbClr val="F2A33A"/>
                </a:solidFill>
                <a:latin typeface="Calibri" pitchFamily="34" charset="0"/>
                <a:ea typeface="Calibri" pitchFamily="34" charset="-122"/>
                <a:cs typeface="Calibri" pitchFamily="34" charset="-120"/>
              </a:rPr>
              <a:t>Công suất có thấp thật?</a:t>
            </a:r>
            <a:endParaRPr lang="en-US" sz="1300" dirty="0"/>
          </a:p>
        </p:txBody>
      </p:sp>
      <p:sp>
        <p:nvSpPr>
          <p:cNvPr id="14" name="Text 12"/>
          <p:cNvSpPr txBox="1"/>
          <p:nvPr/>
        </p:nvSpPr>
        <p:spPr>
          <a:xfrm>
            <a:off x="585216" y="3520440"/>
            <a:ext cx="7973568" cy="128016"/>
          </a:xfrm>
          <a:prstGeom prst="rect">
            <a:avLst/>
          </a:prstGeom>
          <a:noFill/>
          <a:ln/>
        </p:spPr>
        <p:txBody>
          <a:bodyPr wrap="square" lIns="0" tIns="0" rIns="0" bIns="0" rtlCol="0" anchor="t"/>
          <a:lstStyle/>
          <a:p>
            <a:pPr indent="0" marL="0">
              <a:buNone/>
            </a:pPr>
            <a:r>
              <a:rPr lang="en-US" sz="1200" dirty="0">
                <a:solidFill>
                  <a:srgbClr val="C9D5DB"/>
                </a:solidFill>
                <a:latin typeface="Calibri" pitchFamily="34" charset="0"/>
                <a:ea typeface="Calibri" pitchFamily="34" charset="-122"/>
                <a:cs typeface="Calibri" pitchFamily="34" charset="-120"/>
              </a:rPr>
              <a:t>Cả board 2,55 W, trong đó PS+DDR ~1,9 W; PL chỉ thêm 0,22–0,65 W.</a:t>
            </a:r>
            <a:endParaRPr lang="en-US" sz="1200" dirty="0"/>
          </a:p>
        </p:txBody>
      </p:sp>
      <p:sp>
        <p:nvSpPr>
          <p:cNvPr id="15" name="Shape 13"/>
          <p:cNvSpPr/>
          <p:nvPr/>
        </p:nvSpPr>
        <p:spPr>
          <a:xfrm>
            <a:off x="457200" y="3794760"/>
            <a:ext cx="8229600" cy="566928"/>
          </a:xfrm>
          <a:prstGeom prst="roundRect">
            <a:avLst>
              <a:gd name="adj" fmla="val 12903"/>
            </a:avLst>
          </a:prstGeom>
          <a:solidFill>
            <a:srgbClr val="1A3140"/>
          </a:solidFill>
          <a:ln w="9525">
            <a:solidFill>
              <a:srgbClr val="D9DDD8"/>
            </a:solidFill>
            <a:prstDash val="solid"/>
          </a:ln>
        </p:spPr>
      </p:sp>
      <p:sp>
        <p:nvSpPr>
          <p:cNvPr id="16" name="Text 14"/>
          <p:cNvSpPr txBox="1"/>
          <p:nvPr/>
        </p:nvSpPr>
        <p:spPr>
          <a:xfrm>
            <a:off x="585216" y="3904488"/>
            <a:ext cx="7973568" cy="219456"/>
          </a:xfrm>
          <a:prstGeom prst="rect">
            <a:avLst/>
          </a:prstGeom>
          <a:noFill/>
          <a:ln/>
        </p:spPr>
        <p:txBody>
          <a:bodyPr wrap="square" lIns="0" tIns="0" rIns="0" bIns="0" rtlCol="0" anchor="t"/>
          <a:lstStyle/>
          <a:p>
            <a:pPr indent="0" marL="0">
              <a:buNone/>
            </a:pPr>
            <a:r>
              <a:rPr lang="en-US" sz="1300" b="1" dirty="0">
                <a:solidFill>
                  <a:srgbClr val="F2A33A"/>
                </a:solidFill>
                <a:latin typeface="Calibri" pitchFamily="34" charset="0"/>
                <a:ea typeface="Calibri" pitchFamily="34" charset="-122"/>
                <a:cs typeface="Calibri" pitchFamily="34" charset="-120"/>
              </a:rPr>
              <a:t>Có tái lập được không?</a:t>
            </a:r>
            <a:endParaRPr lang="en-US" sz="1300" dirty="0"/>
          </a:p>
        </p:txBody>
      </p:sp>
      <p:sp>
        <p:nvSpPr>
          <p:cNvPr id="17" name="Text 15"/>
          <p:cNvSpPr txBox="1"/>
          <p:nvPr/>
        </p:nvSpPr>
        <p:spPr>
          <a:xfrm>
            <a:off x="585216" y="4160520"/>
            <a:ext cx="7973568" cy="128016"/>
          </a:xfrm>
          <a:prstGeom prst="rect">
            <a:avLst/>
          </a:prstGeom>
          <a:noFill/>
          <a:ln/>
        </p:spPr>
        <p:txBody>
          <a:bodyPr wrap="square" lIns="0" tIns="0" rIns="0" bIns="0" rtlCol="0" anchor="t"/>
          <a:lstStyle/>
          <a:p>
            <a:pPr indent="0" marL="0">
              <a:buNone/>
            </a:pPr>
            <a:r>
              <a:rPr lang="en-US" sz="1200" dirty="0">
                <a:solidFill>
                  <a:srgbClr val="C9D5DB"/>
                </a:solidFill>
                <a:latin typeface="Calibri" pitchFamily="34" charset="0"/>
                <a:ea typeface="Calibri" pitchFamily="34" charset="-122"/>
                <a:cs typeface="Calibri" pitchFamily="34" charset="-120"/>
              </a:rPr>
              <a:t>Mã và notebook công khai (repo [62]); phiên bản FINN 0.10, Brevitas 0.9.0.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YOLOv3-Tiny trên FPGA - phân tích chuyên sâu</dc:title>
  <dc:subject>PptxGenJS Presentation</dc:subject>
  <dc:creator>PptxGenJS</dc:creator>
  <cp:lastModifiedBy>PptxGenJS</cp:lastModifiedBy>
  <cp:revision>1</cp:revision>
  <dcterms:created xsi:type="dcterms:W3CDTF">2026-10-20T13:00:25Z</dcterms:created>
  <dcterms:modified xsi:type="dcterms:W3CDTF">2026-10-20T13:00:25Z</dcterms:modified>
</cp:coreProperties>
</file>